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351" r:id="rId3"/>
    <p:sldId id="258" r:id="rId4"/>
    <p:sldId id="259" r:id="rId5"/>
    <p:sldId id="291" r:id="rId6"/>
    <p:sldId id="292" r:id="rId7"/>
    <p:sldId id="293" r:id="rId8"/>
    <p:sldId id="263" r:id="rId9"/>
    <p:sldId id="294" r:id="rId10"/>
    <p:sldId id="295" r:id="rId11"/>
    <p:sldId id="267" r:id="rId12"/>
    <p:sldId id="296" r:id="rId13"/>
    <p:sldId id="297" r:id="rId14"/>
    <p:sldId id="262" r:id="rId15"/>
    <p:sldId id="271" r:id="rId16"/>
    <p:sldId id="298" r:id="rId17"/>
    <p:sldId id="349" r:id="rId18"/>
    <p:sldId id="350" r:id="rId19"/>
    <p:sldId id="284" r:id="rId20"/>
    <p:sldId id="352" r:id="rId21"/>
    <p:sldId id="353" r:id="rId22"/>
    <p:sldId id="354" r:id="rId23"/>
    <p:sldId id="275" r:id="rId24"/>
    <p:sldId id="355" r:id="rId25"/>
    <p:sldId id="356" r:id="rId26"/>
    <p:sldId id="318" r:id="rId27"/>
    <p:sldId id="319" r:id="rId28"/>
    <p:sldId id="320" r:id="rId29"/>
    <p:sldId id="321" r:id="rId30"/>
    <p:sldId id="322" r:id="rId31"/>
    <p:sldId id="323" r:id="rId32"/>
    <p:sldId id="357" r:id="rId33"/>
    <p:sldId id="358" r:id="rId34"/>
    <p:sldId id="359" r:id="rId35"/>
    <p:sldId id="360" r:id="rId36"/>
    <p:sldId id="361" r:id="rId37"/>
    <p:sldId id="362" r:id="rId38"/>
    <p:sldId id="363" r:id="rId39"/>
    <p:sldId id="364" r:id="rId40"/>
    <p:sldId id="365" r:id="rId41"/>
    <p:sldId id="367" r:id="rId42"/>
    <p:sldId id="368" r:id="rId43"/>
    <p:sldId id="366" r:id="rId44"/>
    <p:sldId id="290" r:id="rId45"/>
  </p:sldIdLst>
  <p:sldSz cx="10696575" cy="756285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8998"/>
    <a:srgbClr val="0EA5E9"/>
    <a:srgbClr val="2563EB"/>
    <a:srgbClr val="818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903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17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70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543" tIns="53771" rIns="107543" bIns="537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543" tIns="53771" rIns="107543" bIns="53771"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543" tIns="53771" rIns="107543" bIns="537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543" tIns="53771" rIns="107543" bIns="53771"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543" tIns="53771" rIns="107543" bIns="537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543" tIns="53771" rIns="107543" bIns="53771"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543" tIns="53771" rIns="107543" bIns="537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543" tIns="53771" rIns="107543" bIns="53771"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38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543" tIns="53771" rIns="107543" bIns="537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543" tIns="53771" rIns="107543" bIns="53771"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912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543" tIns="53771" rIns="107543" bIns="5377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543" tIns="53771" rIns="107543" bIns="53771"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739CE-75B5-BB91-E762-73CE48C0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A0911-F148-D570-E0E4-3295321A6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DA3DD-08E2-389B-5D8B-D57D10F89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85639-9015-B743-C0E1-03AA4BBD8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2897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77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6099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7490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5097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881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033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818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524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273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3" indent="-342853" algn="l" defTabSz="914273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847" indent="-285710" algn="l" defTabSz="914273" rtl="0" eaLnBrk="1" latinLnBrk="0" hangingPunct="1">
        <a:spcBef>
          <a:spcPct val="20000"/>
        </a:spcBef>
        <a:buFont typeface="Arial" pitchFamily="34" charset="0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2" indent="-228569" algn="l" defTabSz="91427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79" indent="-228569" algn="l" defTabSz="914273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18" indent="-228569" algn="l" defTabSz="914273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54" indent="-228569" algn="l" defTabSz="91427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90" indent="-228569" algn="l" defTabSz="91427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29" indent="-228569" algn="l" defTabSz="91427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66" indent="-228569" algn="l" defTabSz="91427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8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3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2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8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86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22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59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95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hyperlink" Target="https://growfit.onecloud.kr/" TargetMode="External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8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0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28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10" Type="http://schemas.openxmlformats.org/officeDocument/2006/relationships/image" Target="../media/image40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99.png"/><Relationship Id="rId3" Type="http://schemas.openxmlformats.org/officeDocument/2006/relationships/image" Target="../media/image102.png"/><Relationship Id="rId7" Type="http://schemas.openxmlformats.org/officeDocument/2006/relationships/image" Target="../media/image98.png"/><Relationship Id="rId12" Type="http://schemas.openxmlformats.org/officeDocument/2006/relationships/image" Target="../media/image101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0.png"/><Relationship Id="rId5" Type="http://schemas.openxmlformats.org/officeDocument/2006/relationships/image" Target="../media/image96.png"/><Relationship Id="rId10" Type="http://schemas.openxmlformats.org/officeDocument/2006/relationships/image" Target="../media/image106.png"/><Relationship Id="rId4" Type="http://schemas.openxmlformats.org/officeDocument/2006/relationships/image" Target="../media/image95.png"/><Relationship Id="rId9" Type="http://schemas.openxmlformats.org/officeDocument/2006/relationships/image" Target="../media/image10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7.png"/><Relationship Id="rId5" Type="http://schemas.openxmlformats.org/officeDocument/2006/relationships/image" Target="../media/image123.png"/><Relationship Id="rId10" Type="http://schemas.openxmlformats.org/officeDocument/2006/relationships/image" Target="../media/image113.png"/><Relationship Id="rId4" Type="http://schemas.openxmlformats.org/officeDocument/2006/relationships/image" Target="../media/image108.png"/><Relationship Id="rId9" Type="http://schemas.openxmlformats.org/officeDocument/2006/relationships/image" Target="../media/image1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19" Type="http://schemas.openxmlformats.org/officeDocument/2006/relationships/image" Target="../media/image122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3" Type="http://schemas.openxmlformats.org/officeDocument/2006/relationships/image" Target="../media/image107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07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0" Type="http://schemas.openxmlformats.org/officeDocument/2006/relationships/image" Target="../media/image172.png"/><Relationship Id="rId4" Type="http://schemas.openxmlformats.org/officeDocument/2006/relationships/image" Target="../media/image156.png"/><Relationship Id="rId9" Type="http://schemas.openxmlformats.org/officeDocument/2006/relationships/image" Target="../media/image17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07.png"/><Relationship Id="rId7" Type="http://schemas.openxmlformats.org/officeDocument/2006/relationships/image" Target="../media/image17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10" Type="http://schemas.openxmlformats.org/officeDocument/2006/relationships/image" Target="../media/image180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18" Type="http://schemas.openxmlformats.org/officeDocument/2006/relationships/image" Target="../media/image195.png"/><Relationship Id="rId3" Type="http://schemas.openxmlformats.org/officeDocument/2006/relationships/image" Target="../media/image107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17" Type="http://schemas.openxmlformats.org/officeDocument/2006/relationships/image" Target="../media/image194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93.png"/><Relationship Id="rId20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5" Type="http://schemas.openxmlformats.org/officeDocument/2006/relationships/image" Target="../media/image192.png"/><Relationship Id="rId10" Type="http://schemas.openxmlformats.org/officeDocument/2006/relationships/image" Target="../media/image187.png"/><Relationship Id="rId19" Type="http://schemas.openxmlformats.org/officeDocument/2006/relationships/image" Target="../media/image196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9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3" Type="http://schemas.openxmlformats.org/officeDocument/2006/relationships/image" Target="../media/image199.png"/><Relationship Id="rId7" Type="http://schemas.openxmlformats.org/officeDocument/2006/relationships/image" Target="../media/image20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10" Type="http://schemas.openxmlformats.org/officeDocument/2006/relationships/image" Target="../media/image205.png"/><Relationship Id="rId4" Type="http://schemas.openxmlformats.org/officeDocument/2006/relationships/image" Target="../media/image200.png"/><Relationship Id="rId9" Type="http://schemas.openxmlformats.org/officeDocument/2006/relationships/image" Target="../media/image14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image" Target="../media/image215.png"/><Relationship Id="rId18" Type="http://schemas.openxmlformats.org/officeDocument/2006/relationships/image" Target="../media/image149.png"/><Relationship Id="rId3" Type="http://schemas.openxmlformats.org/officeDocument/2006/relationships/image" Target="../media/image199.png"/><Relationship Id="rId7" Type="http://schemas.openxmlformats.org/officeDocument/2006/relationships/image" Target="../media/image209.png"/><Relationship Id="rId12" Type="http://schemas.openxmlformats.org/officeDocument/2006/relationships/image" Target="../media/image214.png"/><Relationship Id="rId17" Type="http://schemas.openxmlformats.org/officeDocument/2006/relationships/image" Target="../media/image219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8.png"/><Relationship Id="rId11" Type="http://schemas.openxmlformats.org/officeDocument/2006/relationships/image" Target="../media/image213.png"/><Relationship Id="rId5" Type="http://schemas.openxmlformats.org/officeDocument/2006/relationships/image" Target="../media/image207.png"/><Relationship Id="rId15" Type="http://schemas.openxmlformats.org/officeDocument/2006/relationships/image" Target="../media/image217.png"/><Relationship Id="rId10" Type="http://schemas.openxmlformats.org/officeDocument/2006/relationships/image" Target="../media/image212.png"/><Relationship Id="rId19" Type="http://schemas.openxmlformats.org/officeDocument/2006/relationships/image" Target="../media/image220.png"/><Relationship Id="rId4" Type="http://schemas.openxmlformats.org/officeDocument/2006/relationships/image" Target="../media/image206.png"/><Relationship Id="rId9" Type="http://schemas.openxmlformats.org/officeDocument/2006/relationships/image" Target="../media/image211.png"/><Relationship Id="rId14" Type="http://schemas.openxmlformats.org/officeDocument/2006/relationships/image" Target="../media/image21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3" Type="http://schemas.openxmlformats.org/officeDocument/2006/relationships/image" Target="../media/image230.png"/><Relationship Id="rId3" Type="http://schemas.openxmlformats.org/officeDocument/2006/relationships/image" Target="../media/image221.png"/><Relationship Id="rId7" Type="http://schemas.openxmlformats.org/officeDocument/2006/relationships/image" Target="../media/image225.png"/><Relationship Id="rId12" Type="http://schemas.openxmlformats.org/officeDocument/2006/relationships/image" Target="../media/image1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4.png"/><Relationship Id="rId11" Type="http://schemas.openxmlformats.org/officeDocument/2006/relationships/image" Target="../media/image229.png"/><Relationship Id="rId5" Type="http://schemas.openxmlformats.org/officeDocument/2006/relationships/image" Target="../media/image223.png"/><Relationship Id="rId10" Type="http://schemas.openxmlformats.org/officeDocument/2006/relationships/image" Target="../media/image228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Relationship Id="rId14" Type="http://schemas.openxmlformats.org/officeDocument/2006/relationships/image" Target="../media/image2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6.png"/><Relationship Id="rId4" Type="http://schemas.openxmlformats.org/officeDocument/2006/relationships/image" Target="../media/image23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3" Type="http://schemas.openxmlformats.org/officeDocument/2006/relationships/image" Target="../media/image237.png"/><Relationship Id="rId7" Type="http://schemas.openxmlformats.org/officeDocument/2006/relationships/image" Target="../media/image241.png"/><Relationship Id="rId12" Type="http://schemas.openxmlformats.org/officeDocument/2006/relationships/image" Target="../media/image2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png"/><Relationship Id="rId11" Type="http://schemas.openxmlformats.org/officeDocument/2006/relationships/image" Target="../media/image149.png"/><Relationship Id="rId5" Type="http://schemas.openxmlformats.org/officeDocument/2006/relationships/image" Target="../media/image239.png"/><Relationship Id="rId10" Type="http://schemas.openxmlformats.org/officeDocument/2006/relationships/image" Target="../media/image244.png"/><Relationship Id="rId4" Type="http://schemas.openxmlformats.org/officeDocument/2006/relationships/image" Target="../media/image238.png"/><Relationship Id="rId9" Type="http://schemas.openxmlformats.org/officeDocument/2006/relationships/image" Target="../media/image2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9.png"/><Relationship Id="rId5" Type="http://schemas.openxmlformats.org/officeDocument/2006/relationships/image" Target="../media/image248.png"/><Relationship Id="rId4" Type="http://schemas.openxmlformats.org/officeDocument/2006/relationships/image" Target="../media/image2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4" y="1"/>
            <a:ext cx="10696412" cy="756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09957" y="270441"/>
            <a:ext cx="616932" cy="25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120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Ver 2.0</a:t>
            </a:r>
            <a:endParaRPr lang="en-US" sz="1200" dirty="0">
              <a:latin typeface="+mn-e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4162898" y="2266272"/>
            <a:ext cx="2469328" cy="27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99" kern="0" spc="271" dirty="0">
                <a:solidFill>
                  <a:srgbClr val="818CF8"/>
                </a:solidFill>
                <a:latin typeface="+mn-ea"/>
                <a:cs typeface="Noto Sans KR" pitchFamily="34" charset="-120"/>
              </a:rPr>
              <a:t>AI Practice Platform</a:t>
            </a:r>
            <a:endParaRPr lang="en-US" sz="1299" dirty="0">
              <a:latin typeface="+mn-ea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25" b="-25"/>
          <a:stretch/>
        </p:blipFill>
        <p:spPr>
          <a:xfrm>
            <a:off x="3561206" y="2745765"/>
            <a:ext cx="601688" cy="67259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296069" y="2703404"/>
            <a:ext cx="3800000" cy="7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99" b="1" kern="0" spc="-108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GrowFit</a:t>
            </a:r>
            <a:endParaRPr lang="en-US" sz="5399" dirty="0">
              <a:latin typeface="+mn-ea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5049687" y="3827758"/>
            <a:ext cx="501407" cy="3126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168506" y="4220096"/>
            <a:ext cx="3083854" cy="66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99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강사 매뉴얼</a:t>
            </a:r>
            <a:endParaRPr lang="en-US" sz="3899" dirty="0">
              <a:latin typeface="+mn-ea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4340526" y="5086294"/>
            <a:ext cx="2108315" cy="368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kern="0" spc="91" dirty="0">
                <a:solidFill>
                  <a:srgbClr val="CBD5E1"/>
                </a:solidFill>
                <a:latin typeface="+mn-ea"/>
                <a:cs typeface="Noto Sans KR" pitchFamily="34" charset="-120"/>
              </a:rPr>
              <a:t>Instructor Manual</a:t>
            </a:r>
            <a:endParaRPr lang="en-US" dirty="0">
              <a:latin typeface="+mn-ea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284000" y="6785417"/>
            <a:ext cx="10128418" cy="25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kern="0" spc="6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BCT ONE Inc.</a:t>
            </a:r>
            <a:endParaRPr lang="en-US" sz="12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025326" y="-1050736"/>
            <a:ext cx="2507034" cy="3151200"/>
          </a:xfrm>
          <a:prstGeom prst="ellipse">
            <a:avLst/>
          </a:prstGeom>
          <a:solidFill>
            <a:srgbClr val="818CF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167287" y="630249"/>
            <a:ext cx="8023" cy="6302401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10128423" y="6922558"/>
            <a:ext cx="133976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2</a:t>
            </a:r>
            <a:endParaRPr lang="en-US" sz="1000" dirty="0">
              <a:latin typeface="+mn-ea"/>
            </a:endParaRPr>
          </a:p>
        </p:txBody>
      </p:sp>
      <p:sp>
        <p:nvSpPr>
          <p:cNvPr id="41" name="Shape 50">
            <a:extLst>
              <a:ext uri="{FF2B5EF4-FFF2-40B4-BE49-F238E27FC236}">
                <a16:creationId xmlns:a16="http://schemas.microsoft.com/office/drawing/2014/main" id="{79743259-46A0-AA47-BE6E-DE9C69B6EE10}"/>
              </a:ext>
            </a:extLst>
          </p:cNvPr>
          <p:cNvSpPr/>
          <p:nvPr/>
        </p:nvSpPr>
        <p:spPr>
          <a:xfrm>
            <a:off x="-8023" y="0"/>
            <a:ext cx="2673902" cy="758967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42247" y="627913"/>
            <a:ext cx="2251117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05" dirty="0">
                <a:solidFill>
                  <a:srgbClr val="818CF8"/>
                </a:solidFill>
                <a:latin typeface="+mn-ea"/>
                <a:cs typeface="Noto Sans KR" pitchFamily="34" charset="-120"/>
              </a:rPr>
              <a:t>GROWFIT MANUAL</a:t>
            </a:r>
            <a:endParaRPr lang="en-US" sz="10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42247" y="1058496"/>
            <a:ext cx="2251117" cy="1944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Table of</a:t>
            </a:r>
            <a:endParaRPr lang="en-US" sz="4200" dirty="0">
              <a:latin typeface="+mn-ea"/>
            </a:endParaRPr>
          </a:p>
          <a:p>
            <a:r>
              <a:rPr lang="en-US" sz="4200" b="1" dirty="0">
                <a:solidFill>
                  <a:srgbClr val="818CF8"/>
                </a:solidFill>
                <a:latin typeface="+mn-ea"/>
                <a:cs typeface="Noto Sans KR" pitchFamily="34" charset="-120"/>
              </a:rPr>
              <a:t>Contents</a:t>
            </a:r>
            <a:endParaRPr lang="en-US" sz="4200" dirty="0">
              <a:latin typeface="+mn-ea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2247" y="3354896"/>
            <a:ext cx="2251117" cy="37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GrowFit</a:t>
            </a:r>
            <a:endParaRPr lang="en-US" dirty="0">
              <a:latin typeface="+mn-ea"/>
            </a:endParaRPr>
          </a:p>
        </p:txBody>
      </p:sp>
      <p:sp>
        <p:nvSpPr>
          <p:cNvPr id="70" name="Shape 2">
            <a:extLst>
              <a:ext uri="{FF2B5EF4-FFF2-40B4-BE49-F238E27FC236}">
                <a16:creationId xmlns:a16="http://schemas.microsoft.com/office/drawing/2014/main" id="{A57593F5-6565-33ED-6640-2BB43DCBFAF2}"/>
              </a:ext>
            </a:extLst>
          </p:cNvPr>
          <p:cNvSpPr/>
          <p:nvPr/>
        </p:nvSpPr>
        <p:spPr>
          <a:xfrm>
            <a:off x="3469983" y="794161"/>
            <a:ext cx="3338463" cy="1272067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71" name="Shape 3">
            <a:extLst>
              <a:ext uri="{FF2B5EF4-FFF2-40B4-BE49-F238E27FC236}">
                <a16:creationId xmlns:a16="http://schemas.microsoft.com/office/drawing/2014/main" id="{65E196FF-4882-B68D-9A4D-B4135472643A}"/>
              </a:ext>
            </a:extLst>
          </p:cNvPr>
          <p:cNvSpPr/>
          <p:nvPr/>
        </p:nvSpPr>
        <p:spPr>
          <a:xfrm>
            <a:off x="3479769" y="787551"/>
            <a:ext cx="45719" cy="1272067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642822" y="1098391"/>
            <a:ext cx="1058971" cy="28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99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강사 시작하기</a:t>
            </a:r>
            <a:endParaRPr lang="en-US" sz="1299" dirty="0">
              <a:latin typeface="+mn-ea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666886" y="1472747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회원가입 및 강사 승인</a:t>
            </a:r>
            <a:endParaRPr lang="en-US" sz="1000" dirty="0">
              <a:latin typeface="+mn-ea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666886" y="1769210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계정 관리</a:t>
            </a:r>
            <a:endParaRPr lang="en-US" sz="1000" dirty="0">
              <a:latin typeface="+mn-ea"/>
            </a:endParaRPr>
          </a:p>
        </p:txBody>
      </p:sp>
      <p:sp>
        <p:nvSpPr>
          <p:cNvPr id="72" name="Shape 5">
            <a:extLst>
              <a:ext uri="{FF2B5EF4-FFF2-40B4-BE49-F238E27FC236}">
                <a16:creationId xmlns:a16="http://schemas.microsoft.com/office/drawing/2014/main" id="{6C0DD4CB-1C62-A90A-1CFA-EC81A4573ED2}"/>
              </a:ext>
            </a:extLst>
          </p:cNvPr>
          <p:cNvSpPr/>
          <p:nvPr/>
        </p:nvSpPr>
        <p:spPr>
          <a:xfrm>
            <a:off x="3620280" y="889515"/>
            <a:ext cx="522824" cy="173681"/>
          </a:xfrm>
          <a:prstGeom prst="roundRect">
            <a:avLst>
              <a:gd name="adj" fmla="val 26092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8179AC7A-BF1A-3637-FB59-4E2989318102}"/>
              </a:ext>
            </a:extLst>
          </p:cNvPr>
          <p:cNvSpPr txBox="1"/>
          <p:nvPr/>
        </p:nvSpPr>
        <p:spPr>
          <a:xfrm>
            <a:off x="3681945" y="905117"/>
            <a:ext cx="458078" cy="13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01</a:t>
            </a:r>
            <a:endParaRPr lang="en-US" sz="800" dirty="0">
              <a:latin typeface="+mn-ea"/>
            </a:endParaRPr>
          </a:p>
        </p:txBody>
      </p:sp>
      <p:sp>
        <p:nvSpPr>
          <p:cNvPr id="74" name="Shape 16">
            <a:extLst>
              <a:ext uri="{FF2B5EF4-FFF2-40B4-BE49-F238E27FC236}">
                <a16:creationId xmlns:a16="http://schemas.microsoft.com/office/drawing/2014/main" id="{15F09E58-53BE-9EE5-08AB-4F7220228E0C}"/>
              </a:ext>
            </a:extLst>
          </p:cNvPr>
          <p:cNvSpPr/>
          <p:nvPr/>
        </p:nvSpPr>
        <p:spPr>
          <a:xfrm>
            <a:off x="6903238" y="760849"/>
            <a:ext cx="3338463" cy="1332556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75" name="Shape 17">
            <a:extLst>
              <a:ext uri="{FF2B5EF4-FFF2-40B4-BE49-F238E27FC236}">
                <a16:creationId xmlns:a16="http://schemas.microsoft.com/office/drawing/2014/main" id="{4E136F79-BF52-6FB5-116A-A0A8CEA0A43A}"/>
              </a:ext>
            </a:extLst>
          </p:cNvPr>
          <p:cNvSpPr/>
          <p:nvPr/>
        </p:nvSpPr>
        <p:spPr>
          <a:xfrm>
            <a:off x="6903238" y="760849"/>
            <a:ext cx="42085" cy="13325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76" name="Shape 19">
            <a:extLst>
              <a:ext uri="{FF2B5EF4-FFF2-40B4-BE49-F238E27FC236}">
                <a16:creationId xmlns:a16="http://schemas.microsoft.com/office/drawing/2014/main" id="{8CCE4A85-A304-5F54-0D92-E0E413F7C2D9}"/>
              </a:ext>
            </a:extLst>
          </p:cNvPr>
          <p:cNvSpPr/>
          <p:nvPr/>
        </p:nvSpPr>
        <p:spPr>
          <a:xfrm>
            <a:off x="7129290" y="905117"/>
            <a:ext cx="522824" cy="173681"/>
          </a:xfrm>
          <a:prstGeom prst="roundRect">
            <a:avLst>
              <a:gd name="adj" fmla="val 260926"/>
            </a:avLst>
          </a:prstGeom>
          <a:solidFill>
            <a:srgbClr val="ECFE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17700293-6E0B-A9E1-BCB5-E44328D9FE21}"/>
              </a:ext>
            </a:extLst>
          </p:cNvPr>
          <p:cNvSpPr txBox="1"/>
          <p:nvPr/>
        </p:nvSpPr>
        <p:spPr>
          <a:xfrm>
            <a:off x="7180836" y="942459"/>
            <a:ext cx="458078" cy="13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>
                <a:solidFill>
                  <a:srgbClr val="06B6D4"/>
                </a:solidFill>
                <a:latin typeface="+mn-ea"/>
                <a:cs typeface="Noto Sans KR" pitchFamily="34" charset="-120"/>
              </a:rPr>
              <a:t>PART 02</a:t>
            </a:r>
            <a:endParaRPr lang="en-US" sz="800" dirty="0">
              <a:latin typeface="+mn-ea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148723" y="1107274"/>
            <a:ext cx="2092270" cy="28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99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강사 모드 개요 &amp; 대시보드</a:t>
            </a:r>
            <a:endParaRPr lang="en-US" sz="1299" dirty="0">
              <a:latin typeface="+mn-ea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180700" y="1458693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화면 레이아웃 안내</a:t>
            </a:r>
            <a:endParaRPr lang="en-US" sz="1000" dirty="0">
              <a:latin typeface="+mn-ea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180700" y="1736000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대시보드 주요 정보</a:t>
            </a:r>
            <a:endParaRPr lang="en-US" sz="1000" dirty="0">
              <a:latin typeface="+mn-ea"/>
            </a:endParaRPr>
          </a:p>
        </p:txBody>
      </p:sp>
      <p:sp>
        <p:nvSpPr>
          <p:cNvPr id="78" name="Shape 34">
            <a:extLst>
              <a:ext uri="{FF2B5EF4-FFF2-40B4-BE49-F238E27FC236}">
                <a16:creationId xmlns:a16="http://schemas.microsoft.com/office/drawing/2014/main" id="{506EF89D-799E-8773-4473-B9C69CADF910}"/>
              </a:ext>
            </a:extLst>
          </p:cNvPr>
          <p:cNvSpPr/>
          <p:nvPr/>
        </p:nvSpPr>
        <p:spPr>
          <a:xfrm>
            <a:off x="3469983" y="2333218"/>
            <a:ext cx="3331297" cy="120000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79" name="Shape 35">
            <a:extLst>
              <a:ext uri="{FF2B5EF4-FFF2-40B4-BE49-F238E27FC236}">
                <a16:creationId xmlns:a16="http://schemas.microsoft.com/office/drawing/2014/main" id="{389B5A76-1E88-6C82-9B65-BD3D5F60F849}"/>
              </a:ext>
            </a:extLst>
          </p:cNvPr>
          <p:cNvSpPr/>
          <p:nvPr/>
        </p:nvSpPr>
        <p:spPr>
          <a:xfrm>
            <a:off x="3469983" y="2333218"/>
            <a:ext cx="42085" cy="1200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80" name="Shape 37">
            <a:extLst>
              <a:ext uri="{FF2B5EF4-FFF2-40B4-BE49-F238E27FC236}">
                <a16:creationId xmlns:a16="http://schemas.microsoft.com/office/drawing/2014/main" id="{F7D90E7C-D942-E927-A672-8A09E9D3E8A4}"/>
              </a:ext>
            </a:extLst>
          </p:cNvPr>
          <p:cNvSpPr/>
          <p:nvPr/>
        </p:nvSpPr>
        <p:spPr>
          <a:xfrm>
            <a:off x="3680407" y="2460073"/>
            <a:ext cx="522824" cy="173681"/>
          </a:xfrm>
          <a:prstGeom prst="roundRect">
            <a:avLst>
              <a:gd name="adj" fmla="val 26092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5F939B9A-3C97-A3C0-6A14-FA5CDB5294D8}"/>
              </a:ext>
            </a:extLst>
          </p:cNvPr>
          <p:cNvSpPr txBox="1"/>
          <p:nvPr/>
        </p:nvSpPr>
        <p:spPr>
          <a:xfrm>
            <a:off x="3747581" y="2476727"/>
            <a:ext cx="458078" cy="13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>
                <a:solidFill>
                  <a:srgbClr val="6366F1"/>
                </a:solidFill>
                <a:latin typeface="+mn-ea"/>
                <a:cs typeface="Noto Sans KR" pitchFamily="34" charset="-120"/>
              </a:rPr>
              <a:t>PART 03</a:t>
            </a:r>
            <a:endParaRPr lang="en-US" sz="800" dirty="0">
              <a:latin typeface="+mn-ea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712979" y="2697896"/>
            <a:ext cx="1412765" cy="28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99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강의 등록 및 관리</a:t>
            </a:r>
            <a:endParaRPr lang="en-US" sz="1299" dirty="0">
              <a:latin typeface="+mn-ea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743532" y="3026469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강의 목록 확인</a:t>
            </a:r>
            <a:endParaRPr lang="en-US" sz="1000" dirty="0">
              <a:latin typeface="+mn-ea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3743532" y="3266469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새 강의 등록 · 초대코드 발급</a:t>
            </a:r>
            <a:endParaRPr lang="en-US" sz="1000" dirty="0">
              <a:latin typeface="+mn-ea"/>
            </a:endParaRPr>
          </a:p>
        </p:txBody>
      </p:sp>
      <p:sp>
        <p:nvSpPr>
          <p:cNvPr id="85" name="Shape 60">
            <a:extLst>
              <a:ext uri="{FF2B5EF4-FFF2-40B4-BE49-F238E27FC236}">
                <a16:creationId xmlns:a16="http://schemas.microsoft.com/office/drawing/2014/main" id="{3913DB02-B42F-109D-2D91-72DCED588294}"/>
              </a:ext>
            </a:extLst>
          </p:cNvPr>
          <p:cNvSpPr/>
          <p:nvPr/>
        </p:nvSpPr>
        <p:spPr>
          <a:xfrm>
            <a:off x="6926473" y="2346616"/>
            <a:ext cx="3315228" cy="120000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193071" y="2690393"/>
            <a:ext cx="738874" cy="28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99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학생 관리</a:t>
            </a:r>
            <a:endParaRPr lang="en-US" sz="1299" dirty="0">
              <a:latin typeface="+mn-ea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199668" y="3026469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학생 초대 방법</a:t>
            </a:r>
            <a:endParaRPr lang="en-US" sz="1000" dirty="0">
              <a:latin typeface="+mn-ea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199668" y="3266469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학생 상세 리포트 확인</a:t>
            </a:r>
            <a:endParaRPr lang="en-US" sz="1000" dirty="0">
              <a:latin typeface="+mn-ea"/>
            </a:endParaRPr>
          </a:p>
        </p:txBody>
      </p:sp>
      <p:sp>
        <p:nvSpPr>
          <p:cNvPr id="82" name="Shape 61">
            <a:extLst>
              <a:ext uri="{FF2B5EF4-FFF2-40B4-BE49-F238E27FC236}">
                <a16:creationId xmlns:a16="http://schemas.microsoft.com/office/drawing/2014/main" id="{09BEB158-15A3-F33A-51C6-5B4A9145C184}"/>
              </a:ext>
            </a:extLst>
          </p:cNvPr>
          <p:cNvSpPr/>
          <p:nvPr/>
        </p:nvSpPr>
        <p:spPr>
          <a:xfrm>
            <a:off x="6938577" y="2333218"/>
            <a:ext cx="38233" cy="1200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83" name="Shape 63">
            <a:extLst>
              <a:ext uri="{FF2B5EF4-FFF2-40B4-BE49-F238E27FC236}">
                <a16:creationId xmlns:a16="http://schemas.microsoft.com/office/drawing/2014/main" id="{8F56A64D-B632-2B68-7806-B06E13C92C8E}"/>
              </a:ext>
            </a:extLst>
          </p:cNvPr>
          <p:cNvSpPr/>
          <p:nvPr/>
        </p:nvSpPr>
        <p:spPr>
          <a:xfrm>
            <a:off x="7129738" y="2498176"/>
            <a:ext cx="593125" cy="165788"/>
          </a:xfrm>
          <a:prstGeom prst="roundRect">
            <a:avLst>
              <a:gd name="adj" fmla="val 260926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84" name="Text 64">
            <a:extLst>
              <a:ext uri="{FF2B5EF4-FFF2-40B4-BE49-F238E27FC236}">
                <a16:creationId xmlns:a16="http://schemas.microsoft.com/office/drawing/2014/main" id="{471F39E2-0B7E-487B-449F-121ACAA22AFF}"/>
              </a:ext>
            </a:extLst>
          </p:cNvPr>
          <p:cNvSpPr txBox="1"/>
          <p:nvPr/>
        </p:nvSpPr>
        <p:spPr>
          <a:xfrm>
            <a:off x="7222211" y="2528064"/>
            <a:ext cx="497463" cy="13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>
                <a:solidFill>
                  <a:srgbClr val="10B981"/>
                </a:solidFill>
                <a:latin typeface="+mn-ea"/>
                <a:cs typeface="Noto Sans KR" pitchFamily="34" charset="-120"/>
              </a:rPr>
              <a:t>PART 04</a:t>
            </a:r>
            <a:endParaRPr lang="en-US" sz="800" dirty="0">
              <a:latin typeface="+mn-ea"/>
            </a:endParaRPr>
          </a:p>
        </p:txBody>
      </p:sp>
      <p:sp>
        <p:nvSpPr>
          <p:cNvPr id="89" name="Shape 78">
            <a:extLst>
              <a:ext uri="{FF2B5EF4-FFF2-40B4-BE49-F238E27FC236}">
                <a16:creationId xmlns:a16="http://schemas.microsoft.com/office/drawing/2014/main" id="{81F432AC-9A58-A855-52C5-9BBD9B28E31B}"/>
              </a:ext>
            </a:extLst>
          </p:cNvPr>
          <p:cNvSpPr/>
          <p:nvPr/>
        </p:nvSpPr>
        <p:spPr>
          <a:xfrm>
            <a:off x="6934291" y="3855764"/>
            <a:ext cx="3328108" cy="1272067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90" name="Shape 79">
            <a:extLst>
              <a:ext uri="{FF2B5EF4-FFF2-40B4-BE49-F238E27FC236}">
                <a16:creationId xmlns:a16="http://schemas.microsoft.com/office/drawing/2014/main" id="{9546B106-6A2D-6A24-EC9D-B58B7C4A2FE0}"/>
              </a:ext>
            </a:extLst>
          </p:cNvPr>
          <p:cNvSpPr/>
          <p:nvPr/>
        </p:nvSpPr>
        <p:spPr>
          <a:xfrm>
            <a:off x="6931102" y="3855764"/>
            <a:ext cx="38233" cy="1272067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91" name="Shape 81">
            <a:extLst>
              <a:ext uri="{FF2B5EF4-FFF2-40B4-BE49-F238E27FC236}">
                <a16:creationId xmlns:a16="http://schemas.microsoft.com/office/drawing/2014/main" id="{9AE6CACD-B0BA-FD74-10F2-03A82F0AF594}"/>
              </a:ext>
            </a:extLst>
          </p:cNvPr>
          <p:cNvSpPr/>
          <p:nvPr/>
        </p:nvSpPr>
        <p:spPr>
          <a:xfrm>
            <a:off x="7112893" y="3957231"/>
            <a:ext cx="593124" cy="172095"/>
          </a:xfrm>
          <a:prstGeom prst="roundRect">
            <a:avLst>
              <a:gd name="adj" fmla="val 260926"/>
            </a:avLst>
          </a:prstGeom>
          <a:solidFill>
            <a:srgbClr val="FDF2F8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92" name="Text 82">
            <a:extLst>
              <a:ext uri="{FF2B5EF4-FFF2-40B4-BE49-F238E27FC236}">
                <a16:creationId xmlns:a16="http://schemas.microsoft.com/office/drawing/2014/main" id="{5CE465AA-7E88-2D4F-AD91-001BF442C0C0}"/>
              </a:ext>
            </a:extLst>
          </p:cNvPr>
          <p:cNvSpPr txBox="1"/>
          <p:nvPr/>
        </p:nvSpPr>
        <p:spPr>
          <a:xfrm>
            <a:off x="7198442" y="3979790"/>
            <a:ext cx="488619" cy="13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>
                <a:solidFill>
                  <a:srgbClr val="EC4899"/>
                </a:solidFill>
                <a:latin typeface="+mn-ea"/>
                <a:cs typeface="Noto Sans KR" pitchFamily="34" charset="-120"/>
              </a:rPr>
              <a:t>PART 06</a:t>
            </a:r>
            <a:endParaRPr lang="en-US" sz="800" dirty="0">
              <a:latin typeface="+mn-ea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174680" y="4197916"/>
            <a:ext cx="1156044" cy="28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99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학습 자료 관리</a:t>
            </a:r>
            <a:endParaRPr lang="en-US" sz="1299" dirty="0">
              <a:latin typeface="+mn-ea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186677" y="4545398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공유 에이전트 · 프롬프트 템플릿</a:t>
            </a:r>
            <a:endParaRPr lang="en-US" sz="1000" dirty="0">
              <a:latin typeface="+mn-ea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7186679" y="4822702"/>
            <a:ext cx="306700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Few-shot 예시 세트</a:t>
            </a:r>
            <a:endParaRPr lang="en-US" sz="1000" dirty="0">
              <a:latin typeface="+mn-ea"/>
            </a:endParaRPr>
          </a:p>
        </p:txBody>
      </p:sp>
      <p:sp>
        <p:nvSpPr>
          <p:cNvPr id="93" name="Shape 92">
            <a:extLst>
              <a:ext uri="{FF2B5EF4-FFF2-40B4-BE49-F238E27FC236}">
                <a16:creationId xmlns:a16="http://schemas.microsoft.com/office/drawing/2014/main" id="{4A05B454-2BDD-3E5F-64D7-9B2D4ED1292D}"/>
              </a:ext>
            </a:extLst>
          </p:cNvPr>
          <p:cNvSpPr/>
          <p:nvPr/>
        </p:nvSpPr>
        <p:spPr>
          <a:xfrm>
            <a:off x="3474667" y="5384442"/>
            <a:ext cx="3293064" cy="1222896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94" name="Shape 93">
            <a:extLst>
              <a:ext uri="{FF2B5EF4-FFF2-40B4-BE49-F238E27FC236}">
                <a16:creationId xmlns:a16="http://schemas.microsoft.com/office/drawing/2014/main" id="{31038284-0927-5669-CBDA-F9EFF1F2C705}"/>
              </a:ext>
            </a:extLst>
          </p:cNvPr>
          <p:cNvSpPr/>
          <p:nvPr/>
        </p:nvSpPr>
        <p:spPr>
          <a:xfrm>
            <a:off x="3474667" y="5384442"/>
            <a:ext cx="38152" cy="12228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95" name="Shape 95">
            <a:extLst>
              <a:ext uri="{FF2B5EF4-FFF2-40B4-BE49-F238E27FC236}">
                <a16:creationId xmlns:a16="http://schemas.microsoft.com/office/drawing/2014/main" id="{A2206315-386A-7636-E21A-8DD4CDA89C7A}"/>
              </a:ext>
            </a:extLst>
          </p:cNvPr>
          <p:cNvSpPr/>
          <p:nvPr/>
        </p:nvSpPr>
        <p:spPr>
          <a:xfrm>
            <a:off x="3665427" y="5482723"/>
            <a:ext cx="583956" cy="145129"/>
          </a:xfrm>
          <a:prstGeom prst="roundRect">
            <a:avLst>
              <a:gd name="adj" fmla="val 260926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96" name="Text 96">
            <a:extLst>
              <a:ext uri="{FF2B5EF4-FFF2-40B4-BE49-F238E27FC236}">
                <a16:creationId xmlns:a16="http://schemas.microsoft.com/office/drawing/2014/main" id="{05A5550D-A86F-823C-23F6-6697BD28E68A}"/>
              </a:ext>
            </a:extLst>
          </p:cNvPr>
          <p:cNvSpPr txBox="1"/>
          <p:nvPr/>
        </p:nvSpPr>
        <p:spPr>
          <a:xfrm>
            <a:off x="3766931" y="5499377"/>
            <a:ext cx="504104" cy="16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>
                <a:solidFill>
                  <a:srgbClr val="F59E0B"/>
                </a:solidFill>
                <a:latin typeface="+mn-ea"/>
                <a:cs typeface="Noto Sans KR" pitchFamily="34" charset="-120"/>
              </a:rPr>
              <a:t>PART 07</a:t>
            </a:r>
            <a:endParaRPr lang="en-US" sz="800" dirty="0">
              <a:latin typeface="+mn-ea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3758301" y="5699633"/>
            <a:ext cx="2008034" cy="28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99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MCP 도구 · 에이전트 빌더</a:t>
            </a:r>
            <a:endParaRPr lang="en-US" sz="1299" dirty="0">
              <a:latin typeface="+mn-ea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3766931" y="6005400"/>
            <a:ext cx="306700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MCP 3단계 구성 및 배포</a:t>
            </a:r>
            <a:endParaRPr lang="en-US" sz="1000" dirty="0">
              <a:latin typeface="+mn-ea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3763676" y="6294419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 워크플로우 설계 </a:t>
            </a:r>
            <a:r>
              <a:rPr lang="en-US" sz="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NEW</a:t>
            </a:r>
            <a:endParaRPr lang="en-US" sz="1000" dirty="0">
              <a:latin typeface="+mn-ea"/>
            </a:endParaRPr>
          </a:p>
        </p:txBody>
      </p:sp>
      <p:sp>
        <p:nvSpPr>
          <p:cNvPr id="57" name="Shape 34">
            <a:extLst>
              <a:ext uri="{FF2B5EF4-FFF2-40B4-BE49-F238E27FC236}">
                <a16:creationId xmlns:a16="http://schemas.microsoft.com/office/drawing/2014/main" id="{506EF89D-799E-8773-4473-B9C69CADF910}"/>
              </a:ext>
            </a:extLst>
          </p:cNvPr>
          <p:cNvSpPr/>
          <p:nvPr/>
        </p:nvSpPr>
        <p:spPr>
          <a:xfrm>
            <a:off x="3473172" y="3889980"/>
            <a:ext cx="3331297" cy="120000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01" name="Shape_P05_accent"/>
          <p:cNvSpPr/>
          <p:nvPr/>
        </p:nvSpPr>
        <p:spPr>
          <a:xfrm>
            <a:off x="3474667" y="3897470"/>
            <a:ext cx="42085" cy="119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ext_P05_title"/>
          <p:cNvSpPr txBox="1"/>
          <p:nvPr/>
        </p:nvSpPr>
        <p:spPr>
          <a:xfrm>
            <a:off x="3699661" y="4247027"/>
            <a:ext cx="1800000" cy="28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99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사용량 통계 &amp; 설정</a:t>
            </a:r>
            <a:endParaRPr lang="en-US" sz="1299" dirty="0">
              <a:latin typeface="+mn-ea"/>
            </a:endParaRPr>
          </a:p>
        </p:txBody>
      </p:sp>
      <p:sp>
        <p:nvSpPr>
          <p:cNvPr id="204" name="Text_P05_sub1"/>
          <p:cNvSpPr txBox="1"/>
          <p:nvPr/>
        </p:nvSpPr>
        <p:spPr>
          <a:xfrm>
            <a:off x="3730214" y="4597027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사용량 현황 확인</a:t>
            </a:r>
            <a:endParaRPr lang="en-US" sz="900" dirty="0">
              <a:latin typeface="+mn-ea"/>
            </a:endParaRPr>
          </a:p>
        </p:txBody>
      </p:sp>
      <p:sp>
        <p:nvSpPr>
          <p:cNvPr id="205" name="Text_P05_sub2"/>
          <p:cNvSpPr txBox="1"/>
          <p:nvPr/>
        </p:nvSpPr>
        <p:spPr>
          <a:xfrm>
            <a:off x="3730214" y="4827027"/>
            <a:ext cx="3134395" cy="24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AI 모델 설정 &amp; 알림</a:t>
            </a:r>
            <a:endParaRPr lang="en-US" sz="900" dirty="0">
              <a:latin typeface="+mn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683318" y="4015604"/>
            <a:ext cx="593125" cy="165788"/>
            <a:chOff x="7725467" y="4061081"/>
            <a:chExt cx="593125" cy="165788"/>
          </a:xfrm>
        </p:grpSpPr>
        <p:sp>
          <p:nvSpPr>
            <p:cNvPr id="58" name="Shape 63">
              <a:extLst>
                <a:ext uri="{FF2B5EF4-FFF2-40B4-BE49-F238E27FC236}">
                  <a16:creationId xmlns:a16="http://schemas.microsoft.com/office/drawing/2014/main" id="{8F56A64D-B632-2B68-7806-B06E13C92C8E}"/>
                </a:ext>
              </a:extLst>
            </p:cNvPr>
            <p:cNvSpPr/>
            <p:nvPr/>
          </p:nvSpPr>
          <p:spPr>
            <a:xfrm>
              <a:off x="7725467" y="4061081"/>
              <a:ext cx="593125" cy="165788"/>
            </a:xfrm>
            <a:prstGeom prst="roundRect">
              <a:avLst>
                <a:gd name="adj" fmla="val 260926"/>
              </a:avLst>
            </a:prstGeom>
            <a:solidFill>
              <a:srgbClr val="0EA5E9">
                <a:alpha val="14000"/>
              </a:srgbClr>
            </a:solidFill>
            <a:ln/>
          </p:spPr>
          <p:txBody>
            <a:bodyPr/>
            <a:lstStyle/>
            <a:p>
              <a:endParaRPr lang="ko-KR" altLang="en-US" sz="1462" dirty="0">
                <a:latin typeface="+mn-ea"/>
              </a:endParaRPr>
            </a:p>
          </p:txBody>
        </p:sp>
        <p:sp>
          <p:nvSpPr>
            <p:cNvPr id="202" name="Text_P05_label"/>
            <p:cNvSpPr txBox="1"/>
            <p:nvPr/>
          </p:nvSpPr>
          <p:spPr>
            <a:xfrm>
              <a:off x="7836027" y="4085534"/>
              <a:ext cx="458078" cy="1324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800" b="1" dirty="0">
                  <a:solidFill>
                    <a:srgbClr val="0EA5E9"/>
                  </a:solidFill>
                  <a:latin typeface="+mn-ea"/>
                  <a:cs typeface="Noto Sans KR" pitchFamily="34" charset="-120"/>
                </a:rPr>
                <a:t>PART 05</a:t>
              </a:r>
              <a:endParaRPr lang="en-US" sz="8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399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4" y="1"/>
            <a:ext cx="10696412" cy="756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18289" y="-1050736"/>
            <a:ext cx="5014069" cy="6302400"/>
          </a:xfrm>
          <a:prstGeom prst="ellipse">
            <a:avLst/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-1253918" y="3886312"/>
            <a:ext cx="4178123" cy="5251664"/>
          </a:xfrm>
          <a:prstGeom prst="ellips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225079" y="3151202"/>
            <a:ext cx="3151242" cy="315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498" b="1" kern="0" spc="-1125" dirty="0">
                <a:solidFill>
                  <a:srgbClr val="1E293B">
                    <a:alpha val="50000"/>
                  </a:srgbClr>
                </a:solidFill>
                <a:latin typeface="+mn-ea"/>
                <a:cs typeface="Noto Sans KR" pitchFamily="34" charset="-120"/>
              </a:rPr>
              <a:t>01</a:t>
            </a:r>
            <a:endParaRPr lang="en-US" sz="22498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8280" y="630251"/>
            <a:ext cx="9460144" cy="28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99" kern="0" spc="27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GrowFit </a:t>
            </a:r>
            <a:r>
              <a:rPr lang="en-US" sz="1299" kern="0" spc="27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en-US" sz="1299" kern="0" spc="27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AI 실습 </a:t>
            </a:r>
            <a:r>
              <a:rPr lang="en-US" sz="1299" kern="0" spc="27" dirty="0" err="1">
                <a:solidFill>
                  <a:srgbClr val="94A3B8"/>
                </a:solidFill>
                <a:latin typeface="+mn-ea"/>
                <a:cs typeface="Noto Sans KR" pitchFamily="34" charset="-120"/>
              </a:rPr>
              <a:t>플랫폼</a:t>
            </a:r>
            <a:r>
              <a:rPr lang="en-US" sz="1299" kern="0" spc="27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299" kern="0" spc="27" dirty="0" smtClean="0">
                <a:solidFill>
                  <a:srgbClr val="94A3B8"/>
                </a:solidFill>
                <a:latin typeface="+mn-ea"/>
                <a:cs typeface="Noto Sans KR" pitchFamily="34" charset="-120"/>
              </a:rPr>
              <a:t>강사 </a:t>
            </a:r>
            <a:r>
              <a:rPr lang="en-US" sz="1299" kern="0" spc="27" dirty="0" err="1" smtClean="0">
                <a:solidFill>
                  <a:srgbClr val="94A3B8"/>
                </a:solidFill>
                <a:latin typeface="+mn-ea"/>
                <a:cs typeface="Noto Sans KR" pitchFamily="34" charset="-120"/>
              </a:rPr>
              <a:t>매뉴얼</a:t>
            </a:r>
            <a:endParaRPr lang="en-US" sz="1299" dirty="0">
              <a:latin typeface="+mn-e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68280" y="1766689"/>
            <a:ext cx="9460144" cy="50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120" dirty="0">
                <a:solidFill>
                  <a:srgbClr val="818CF8"/>
                </a:solidFill>
                <a:latin typeface="+mn-ea"/>
                <a:cs typeface="Noto Sans KR" pitchFamily="34" charset="-120"/>
              </a:rPr>
              <a:t>PART 01</a:t>
            </a:r>
            <a:endParaRPr lang="en-US" sz="2400" dirty="0">
              <a:latin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8280" y="2439287"/>
            <a:ext cx="9627013" cy="840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99" b="1" kern="0" spc="-108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강사 시작하기</a:t>
            </a:r>
            <a:endParaRPr lang="en-US" sz="5399" dirty="0">
              <a:latin typeface="+mn-ea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668278" y="3606996"/>
            <a:ext cx="668275" cy="635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8279" y="6186436"/>
            <a:ext cx="9359863" cy="1008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68277" y="6449625"/>
            <a:ext cx="1371048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BCT ONE Inc.</a:t>
            </a:r>
            <a:endParaRPr lang="en-US" sz="1000" dirty="0">
              <a:latin typeface="+mn-ea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668277" y="6711805"/>
            <a:ext cx="1551555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Learn · Connect · Apply</a:t>
            </a:r>
            <a:endParaRPr lang="en-US" sz="1000" dirty="0">
              <a:latin typeface="+mn-ea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9428863" y="6711805"/>
            <a:ext cx="716410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Version 2.0</a:t>
            </a:r>
            <a:endParaRPr lang="en-US" sz="1000" dirty="0">
              <a:latin typeface="+mn-ea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68277" y="4090013"/>
            <a:ext cx="9448109" cy="82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i="1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"강사 계정 생성부터 보안 관리까지</a:t>
            </a:r>
            <a:endParaRPr lang="en-US" sz="2100" dirty="0">
              <a:latin typeface="+mn-ea"/>
            </a:endParaRPr>
          </a:p>
          <a:p>
            <a:r>
              <a:rPr lang="en-US" sz="2100" i="1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신속하게 설정합니다." </a:t>
            </a:r>
            <a:endParaRPr lang="en-US" sz="21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84563" y="1104180"/>
            <a:ext cx="9793880" cy="100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012803" y="431455"/>
            <a:ext cx="3365658" cy="357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2. 강사 시작하기 &gt; 회원가입 및 승인</a:t>
            </a:r>
            <a:endParaRPr lang="en-US" sz="1400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67212" y="1339432"/>
            <a:ext cx="2691552" cy="357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회원가입 및 강사 승인</a:t>
            </a:r>
            <a:endParaRPr lang="en-US" sz="2000" dirty="0">
              <a:latin typeface="+mn-ea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526768" y="1950010"/>
            <a:ext cx="166868" cy="168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024" y="1907656"/>
            <a:ext cx="657043" cy="25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역할 구분</a:t>
            </a:r>
            <a:endParaRPr lang="en-US" sz="1200" dirty="0">
              <a:latin typeface="+mn-ea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26765" y="2264624"/>
            <a:ext cx="4830354" cy="1437557"/>
          </a:xfrm>
          <a:prstGeom prst="roundRect">
            <a:avLst>
              <a:gd name="adj" fmla="val 69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611830" y="2443110"/>
            <a:ext cx="609711" cy="220838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4611833" y="2443110"/>
            <a:ext cx="660252" cy="22083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1" rIns="76200" bIns="25401" rtlCol="0" anchor="ctr"/>
          <a:lstStyle/>
          <a:p>
            <a:r>
              <a:rPr 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Immediate</a:t>
            </a:r>
            <a:endParaRPr lang="en-US" sz="800" dirty="0">
              <a:latin typeface="+mn-e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68765" y="2443108"/>
            <a:ext cx="397342" cy="378143"/>
          </a:xfrm>
          <a:prstGeom prst="roundRect">
            <a:avLst>
              <a:gd name="adj" fmla="val 11851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08648" y="2547983"/>
            <a:ext cx="117129" cy="1684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8765" y="2926125"/>
            <a:ext cx="4646638" cy="25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훈련생 (Trainee)</a:t>
            </a:r>
            <a:endParaRPr lang="en-US" sz="1200" dirty="0">
              <a:latin typeface="+mn-ea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668765" y="3338513"/>
            <a:ext cx="5042950" cy="210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가입 즉시 플랫폼 사용이 가능하며, 강사로부터 받은 </a:t>
            </a:r>
            <a:r>
              <a:rPr lang="en-US" sz="9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초대 코드</a:t>
            </a:r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를 </a:t>
            </a:r>
            <a:r>
              <a:rPr lang="en-US" sz="9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입력하여</a:t>
            </a:r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</a:p>
          <a:p>
            <a:r>
              <a:rPr lang="en-US" sz="9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강의에</a:t>
            </a:r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참여합니다.</a:t>
            </a:r>
            <a:endParaRPr lang="en-US" sz="900" dirty="0">
              <a:latin typeface="+mn-ea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5491100" y="2264626"/>
            <a:ext cx="4830354" cy="1437557"/>
          </a:xfrm>
          <a:prstGeom prst="roundRect">
            <a:avLst>
              <a:gd name="adj" fmla="val 691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9167014" y="2443114"/>
            <a:ext cx="1019662" cy="199660"/>
          </a:xfrm>
          <a:prstGeom prst="roundRect">
            <a:avLst>
              <a:gd name="adj" fmla="val 212653"/>
            </a:avLst>
          </a:prstGeom>
          <a:solidFill>
            <a:srgbClr val="818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9167010" y="2443114"/>
            <a:ext cx="1087050" cy="1996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1" rIns="76200" bIns="25401" rtlCol="0" anchor="ctr"/>
          <a:lstStyle/>
          <a:p>
            <a:r>
              <a:rPr lang="en-US" sz="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Approval Required</a:t>
            </a:r>
            <a:endParaRPr lang="en-US" sz="800" dirty="0">
              <a:latin typeface="+mn-ea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5633093" y="2443108"/>
            <a:ext cx="405063" cy="378144"/>
          </a:xfrm>
          <a:prstGeom prst="roundRect">
            <a:avLst>
              <a:gd name="adj" fmla="val 118519"/>
            </a:avLst>
          </a:prstGeom>
          <a:solidFill>
            <a:srgbClr val="818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5747313" y="2547989"/>
            <a:ext cx="166868" cy="1684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633101" y="2926125"/>
            <a:ext cx="4646638" cy="25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강사 (Instructor)</a:t>
            </a:r>
            <a:endParaRPr lang="en-US" sz="1200" dirty="0">
              <a:latin typeface="+mn-ea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5633094" y="3241758"/>
            <a:ext cx="4612943" cy="410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강의 개설 및 학생 관리 권한이 부여됩니다. </a:t>
            </a:r>
            <a:r>
              <a:rPr lang="en-US" sz="9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관리자 승인</a:t>
            </a:r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이 완료되어야 모든 기능을 사용할 수 있습니다.</a:t>
            </a:r>
            <a:endParaRPr lang="en-US" sz="900" dirty="0">
              <a:latin typeface="+mn-ea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18" r="-18"/>
          <a:stretch/>
        </p:blipFill>
        <p:spPr>
          <a:xfrm>
            <a:off x="526769" y="4040394"/>
            <a:ext cx="9793880" cy="661501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5557" y="4155343"/>
            <a:ext cx="133976" cy="1684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67212" y="4110871"/>
            <a:ext cx="4970920" cy="410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92400E"/>
                </a:solidFill>
                <a:latin typeface="+mn-ea"/>
                <a:cs typeface="Noto Sans KR" pitchFamily="34" charset="-120"/>
              </a:rPr>
              <a:t>승인 안내:</a:t>
            </a:r>
            <a:r>
              <a:rPr lang="en-US" sz="900" dirty="0">
                <a:solidFill>
                  <a:srgbClr val="92400E"/>
                </a:solidFill>
                <a:latin typeface="+mn-ea"/>
                <a:cs typeface="Noto Sans KR" pitchFamily="34" charset="-120"/>
              </a:rPr>
              <a:t> 강사 승인은 신청 후 영업일 기준 1~2일 소요될 수 있습니다.</a:t>
            </a:r>
            <a:endParaRPr lang="en-US" sz="900" dirty="0">
              <a:latin typeface="+mn-ea"/>
            </a:endParaRPr>
          </a:p>
          <a:p>
            <a:r>
              <a:rPr lang="en-US" sz="900" dirty="0">
                <a:solidFill>
                  <a:srgbClr val="92400E"/>
                </a:solidFill>
                <a:latin typeface="+mn-ea"/>
                <a:cs typeface="Noto Sans KR" pitchFamily="34" charset="-120"/>
              </a:rPr>
              <a:t> 승인 완료 시 </a:t>
            </a:r>
            <a:r>
              <a:rPr lang="en-US" sz="900" b="1" dirty="0">
                <a:solidFill>
                  <a:srgbClr val="92400E"/>
                </a:solidFill>
                <a:latin typeface="+mn-ea"/>
                <a:cs typeface="Noto Sans KR" pitchFamily="34" charset="-120"/>
              </a:rPr>
              <a:t>이메일로 안내</a:t>
            </a:r>
            <a:r>
              <a:rPr lang="en-US" sz="900" dirty="0">
                <a:solidFill>
                  <a:srgbClr val="92400E"/>
                </a:solidFill>
                <a:latin typeface="+mn-ea"/>
                <a:cs typeface="Noto Sans KR" pitchFamily="34" charset="-120"/>
              </a:rPr>
              <a:t>가 발송되며, 이후 로그인하면 강사 대시보드에 접근할 수 있습니다. </a:t>
            </a:r>
            <a:endParaRPr lang="en-US" sz="900" dirty="0">
              <a:latin typeface="+mn-ea"/>
            </a:endParaRPr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526767" y="4953988"/>
            <a:ext cx="150824" cy="1684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44178" y="4911630"/>
            <a:ext cx="1398323" cy="25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강사 신청 필수 정보</a:t>
            </a:r>
            <a:endParaRPr lang="en-US" sz="1200" dirty="0">
              <a:latin typeface="+mn-ea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526769" y="5268600"/>
            <a:ext cx="8168863" cy="1800282"/>
          </a:xfrm>
          <a:prstGeom prst="roundRect">
            <a:avLst>
              <a:gd name="adj" fmla="val 2768"/>
            </a:avLst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513677"/>
              </p:ext>
            </p:extLst>
          </p:nvPr>
        </p:nvGraphicFramePr>
        <p:xfrm>
          <a:off x="535597" y="5279692"/>
          <a:ext cx="8160035" cy="1789190"/>
        </p:xfrm>
        <a:graphic>
          <a:graphicData uri="http://schemas.openxmlformats.org/drawingml/2006/table">
            <a:tbl>
              <a:tblPr/>
              <a:tblGrid>
                <a:gridCol w="163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1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9" marB="95099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9" marB="95099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1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9" marB="95099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실명 입력 (본인 확인용)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9" marB="95099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1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이메일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9" marB="95099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 완료된 유효한 이메일 주소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9" marB="95099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1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전화번호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9" marB="95099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관리자 연락 가능한 휴대전화 번호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9" marB="95099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1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소속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9" marB="95099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기관명, 학교명 또는 회사명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95099" marB="95099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 22"/>
          <p:cNvSpPr txBox="1"/>
          <p:nvPr/>
        </p:nvSpPr>
        <p:spPr>
          <a:xfrm>
            <a:off x="10219879" y="7058690"/>
            <a:ext cx="133976" cy="189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4</a:t>
            </a:r>
            <a:endParaRPr lang="en-US" sz="900" dirty="0"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428AB4-85B1-9175-91A6-4151F7AA562F}"/>
              </a:ext>
            </a:extLst>
          </p:cNvPr>
          <p:cNvSpPr txBox="1"/>
          <p:nvPr/>
        </p:nvSpPr>
        <p:spPr>
          <a:xfrm>
            <a:off x="549170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F8A4FBB7-4155-1C88-F0C3-BE570157011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528621" y="1432307"/>
            <a:ext cx="247071" cy="185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839806" y="1670372"/>
            <a:ext cx="247175" cy="1858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9744" y="1623547"/>
            <a:ext cx="3405027" cy="27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1" b="1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회원가입 및 강사 승인 절차 (1/2)</a:t>
            </a:r>
            <a:endParaRPr lang="en-US" sz="1601" dirty="0">
              <a:latin typeface="+mn-e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70279" y="2023236"/>
            <a:ext cx="3405027" cy="1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latin typeface="+mn-ea"/>
                <a:cs typeface="Noto Sans KR" pitchFamily="34" charset="-120"/>
              </a:rPr>
              <a:t>강사 권한을 획득하기 위한 단계별 가이드입니다. (Step 1~2)</a:t>
            </a:r>
            <a:endParaRPr lang="en-US" sz="1000" dirty="0">
              <a:latin typeface="+mn-ea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44902" y="2381379"/>
            <a:ext cx="4397882" cy="3274813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52337" y="2388813"/>
            <a:ext cx="4382273" cy="98333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52337" y="3364715"/>
            <a:ext cx="4382273" cy="743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038151" y="2544155"/>
            <a:ext cx="247506" cy="247506"/>
          </a:xfrm>
          <a:prstGeom prst="roundRect">
            <a:avLst>
              <a:gd name="adj" fmla="val 75075"/>
            </a:avLst>
          </a:prstGeom>
          <a:solidFill>
            <a:srgbClr val="06B6D4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1124370" y="2574627"/>
            <a:ext cx="170951" cy="18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</a:t>
            </a:r>
            <a:endParaRPr lang="en-US" sz="975" dirty="0">
              <a:latin typeface="+mn-ea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9308" y="2598413"/>
            <a:ext cx="139733" cy="13973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80734" y="2563480"/>
            <a:ext cx="1172121" cy="2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웹사이트 접속</a:t>
            </a:r>
            <a:endParaRPr lang="en-US" sz="1200" dirty="0">
              <a:latin typeface="+mn-ea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581059" y="2849942"/>
            <a:ext cx="4092401" cy="32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GrowFit 홈페이지(</a:t>
            </a:r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  <a:hlinkClick r:id="rId5"/>
              </a:rPr>
              <a:t>https://growfit.kr</a:t>
            </a:r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)에 접속한 후,</a:t>
            </a:r>
            <a:endParaRPr lang="en-US" sz="1000" dirty="0">
              <a:latin typeface="+mn-ea"/>
            </a:endParaRPr>
          </a:p>
          <a:p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상단 </a:t>
            </a:r>
            <a:r>
              <a:rPr lang="en-US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우측의</a:t>
            </a:r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en-US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회원가입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 </a:t>
            </a:r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버튼을 클릭합니다.</a:t>
            </a:r>
            <a:endParaRPr lang="en-US" sz="1000" dirty="0">
              <a:latin typeface="+mn-ea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52337" y="3372151"/>
            <a:ext cx="4382273" cy="227661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76460" y="3496275"/>
            <a:ext cx="4134766" cy="2028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5389205" y="2373945"/>
            <a:ext cx="4397882" cy="3274813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396639" y="2381379"/>
            <a:ext cx="4382273" cy="98333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5396639" y="3357281"/>
            <a:ext cx="4382273" cy="743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5582453" y="2536720"/>
            <a:ext cx="247506" cy="247506"/>
          </a:xfrm>
          <a:prstGeom prst="roundRect">
            <a:avLst>
              <a:gd name="adj" fmla="val 75075"/>
            </a:avLst>
          </a:prstGeom>
          <a:solidFill>
            <a:srgbClr val="06B6D4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5668672" y="2567193"/>
            <a:ext cx="170951" cy="18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2</a:t>
            </a:r>
            <a:endParaRPr lang="en-US" sz="975" dirty="0">
              <a:latin typeface="+mn-ea"/>
            </a:endParaRPr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5922867" y="2590979"/>
            <a:ext cx="178383" cy="13973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162942" y="2556046"/>
            <a:ext cx="948508" cy="2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이메일 인증</a:t>
            </a:r>
            <a:endParaRPr lang="en-US" sz="1200" dirty="0">
              <a:latin typeface="+mn-ea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6176547" y="2827531"/>
            <a:ext cx="4092401" cy="32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필수 정보 입력 후 </a:t>
            </a:r>
            <a:r>
              <a:rPr lang="en-US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수신된</a:t>
            </a:r>
            <a:r>
              <a:rPr lang="en-US" sz="1000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[</a:t>
            </a:r>
            <a:r>
              <a:rPr lang="en-US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인증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메일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</a:t>
            </a:r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을 확인하고,</a:t>
            </a:r>
            <a:endParaRPr lang="en-US" sz="1000" dirty="0">
              <a:latin typeface="+mn-ea"/>
            </a:endParaRPr>
          </a:p>
          <a:p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링크를 클릭하여 가입을 완료합니다.</a:t>
            </a:r>
            <a:endParaRPr lang="en-US" sz="1000" dirty="0">
              <a:latin typeface="+mn-ea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5396639" y="3364717"/>
            <a:ext cx="4382273" cy="227661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5520763" y="3488841"/>
            <a:ext cx="4134766" cy="2028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49" name="Shape 38"/>
          <p:cNvSpPr/>
          <p:nvPr/>
        </p:nvSpPr>
        <p:spPr>
          <a:xfrm>
            <a:off x="393209" y="994194"/>
            <a:ext cx="9909912" cy="457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53" name="Text 41"/>
          <p:cNvSpPr txBox="1"/>
          <p:nvPr/>
        </p:nvSpPr>
        <p:spPr>
          <a:xfrm>
            <a:off x="6401265" y="542331"/>
            <a:ext cx="3816319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2. 강사 시작하기 &gt; 회원가입 및 승인 (1/2)</a:t>
            </a:r>
            <a:endParaRPr lang="en-US" sz="1401" dirty="0">
              <a:latin typeface="+mn-ea"/>
            </a:endParaRPr>
          </a:p>
        </p:txBody>
      </p:sp>
      <p:pic>
        <p:nvPicPr>
          <p:cNvPr id="55" name="그림 54" descr="텍스트, 스크린샷, 소프트웨어, 웹 페이지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4E7A31B-53DA-A8B5-9B8C-474450C602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2066" y="3546047"/>
            <a:ext cx="4033206" cy="1971157"/>
          </a:xfrm>
          <a:prstGeom prst="rect">
            <a:avLst/>
          </a:prstGeom>
        </p:spPr>
      </p:pic>
      <p:sp>
        <p:nvSpPr>
          <p:cNvPr id="51" name="Shape 0">
            <a:extLst>
              <a:ext uri="{FF2B5EF4-FFF2-40B4-BE49-F238E27FC236}">
                <a16:creationId xmlns:a16="http://schemas.microsoft.com/office/drawing/2014/main" id="{140CADA4-23B4-E17C-9F16-682EC7CE5C3E}"/>
              </a:ext>
            </a:extLst>
          </p:cNvPr>
          <p:cNvSpPr/>
          <p:nvPr/>
        </p:nvSpPr>
        <p:spPr>
          <a:xfrm>
            <a:off x="365900" y="1050069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7A426D-1A57-5635-F44D-42C6AFD5979D}"/>
              </a:ext>
            </a:extLst>
          </p:cNvPr>
          <p:cNvSpPr txBox="1"/>
          <p:nvPr/>
        </p:nvSpPr>
        <p:spPr>
          <a:xfrm>
            <a:off x="549536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55756FA5-01B8-CEA4-A356-792D243C05B6}"/>
              </a:ext>
            </a:extLst>
          </p:cNvPr>
          <p:cNvSpPr/>
          <p:nvPr/>
        </p:nvSpPr>
        <p:spPr>
          <a:xfrm>
            <a:off x="7311681" y="1676639"/>
            <a:ext cx="2475406" cy="323834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B28AC7F2-620C-5169-99A1-744747DAD79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7473598" y="1761714"/>
            <a:ext cx="95138" cy="152769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1A6E6181-AD60-95FB-B4E6-CD45CEFAB4EF}"/>
              </a:ext>
            </a:extLst>
          </p:cNvPr>
          <p:cNvSpPr txBox="1"/>
          <p:nvPr/>
        </p:nvSpPr>
        <p:spPr>
          <a:xfrm>
            <a:off x="7644661" y="1752566"/>
            <a:ext cx="2011611" cy="15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붉은색 커서는 클릭 위치를 나타냅니다.</a:t>
            </a:r>
            <a:endParaRPr lang="en-US" sz="900" dirty="0">
              <a:latin typeface="+mn-ea"/>
            </a:endParaRPr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99960A54-C4FE-3343-7F62-100B807DBEE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8638140" y="3866017"/>
            <a:ext cx="95138" cy="152769"/>
          </a:xfrm>
          <a:prstGeom prst="rect">
            <a:avLst/>
          </a:prstGeom>
        </p:spPr>
      </p:pic>
      <p:sp>
        <p:nvSpPr>
          <p:cNvPr id="34" name="Shape 58">
            <a:extLst>
              <a:ext uri="{FF2B5EF4-FFF2-40B4-BE49-F238E27FC236}">
                <a16:creationId xmlns:a16="http://schemas.microsoft.com/office/drawing/2014/main" id="{B3DC2937-2579-7221-A3ED-0DEA54E3D114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35" name="Text 59">
            <a:extLst>
              <a:ext uri="{FF2B5EF4-FFF2-40B4-BE49-F238E27FC236}">
                <a16:creationId xmlns:a16="http://schemas.microsoft.com/office/drawing/2014/main" id="{9E110C75-7892-6692-4A9E-290A687D2D78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5</a:t>
            </a:r>
            <a:endParaRPr lang="en-US" sz="1000" dirty="0">
              <a:latin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26A0AE9-2A42-6C1E-C62B-3471B112A15C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1026208" y="3528736"/>
            <a:ext cx="4053600" cy="19836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19F3BF3-4001-219D-2226-79ACA2F76356}"/>
              </a:ext>
            </a:extLst>
          </p:cNvPr>
          <p:cNvSpPr/>
          <p:nvPr/>
        </p:nvSpPr>
        <p:spPr>
          <a:xfrm>
            <a:off x="4554771" y="3528736"/>
            <a:ext cx="101896" cy="107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1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6997E89-1233-76C6-7DE5-BAEF25D8AEF2}"/>
              </a:ext>
            </a:extLst>
          </p:cNvPr>
          <p:cNvSpPr/>
          <p:nvPr/>
        </p:nvSpPr>
        <p:spPr>
          <a:xfrm>
            <a:off x="4671194" y="3528737"/>
            <a:ext cx="408614" cy="2322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Image 0" descr="preencoded.png">
            <a:extLst>
              <a:ext uri="{FF2B5EF4-FFF2-40B4-BE49-F238E27FC236}">
                <a16:creationId xmlns:a16="http://schemas.microsoft.com/office/drawing/2014/main" id="{ED4B137A-EEE9-262D-18FB-0F9B2D6E07E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4941188" y="3636620"/>
            <a:ext cx="95138" cy="1527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">
            <a:extLst>
              <a:ext uri="{FF2B5EF4-FFF2-40B4-BE49-F238E27FC236}">
                <a16:creationId xmlns:a16="http://schemas.microsoft.com/office/drawing/2014/main" id="{2C4398AD-ED23-A27D-7346-37F01AAD36B3}"/>
              </a:ext>
            </a:extLst>
          </p:cNvPr>
          <p:cNvSpPr/>
          <p:nvPr/>
        </p:nvSpPr>
        <p:spPr>
          <a:xfrm>
            <a:off x="137" y="1060895"/>
            <a:ext cx="10696303" cy="64702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801" dirty="0"/>
          </a:p>
        </p:txBody>
      </p:sp>
      <p:sp>
        <p:nvSpPr>
          <p:cNvPr id="11" name="Shape 7"/>
          <p:cNvSpPr/>
          <p:nvPr/>
        </p:nvSpPr>
        <p:spPr>
          <a:xfrm>
            <a:off x="857746" y="2349159"/>
            <a:ext cx="4397882" cy="3274813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65180" y="2356594"/>
            <a:ext cx="4382273" cy="96772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65180" y="3316886"/>
            <a:ext cx="4382273" cy="743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050995" y="2511934"/>
            <a:ext cx="247506" cy="247506"/>
          </a:xfrm>
          <a:prstGeom prst="roundRect">
            <a:avLst>
              <a:gd name="adj" fmla="val 75075"/>
            </a:avLst>
          </a:prstGeom>
          <a:solidFill>
            <a:srgbClr val="06B6D4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1137214" y="2542407"/>
            <a:ext cx="170951" cy="18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3</a:t>
            </a:r>
            <a:endParaRPr lang="en-US" sz="975" dirty="0">
              <a:latin typeface="+mn-ea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 l="-1064" r="-1064"/>
          <a:stretch/>
        </p:blipFill>
        <p:spPr>
          <a:xfrm>
            <a:off x="1392152" y="2566193"/>
            <a:ext cx="178383" cy="13973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32226" y="2531259"/>
            <a:ext cx="662247" cy="2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역할 선택</a:t>
            </a:r>
            <a:endParaRPr lang="en-US" sz="1200" dirty="0">
              <a:latin typeface="+mn-ea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597331" y="2829789"/>
            <a:ext cx="4092401" cy="32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latin typeface="+mn-ea"/>
                <a:cs typeface="Noto Sans KR" pitchFamily="34" charset="-120"/>
              </a:rPr>
              <a:t>최초 로그인 시 역할 선택 </a:t>
            </a:r>
            <a:r>
              <a:rPr lang="en-US" sz="1000" dirty="0" err="1">
                <a:latin typeface="+mn-ea"/>
                <a:cs typeface="Noto Sans KR" pitchFamily="34" charset="-120"/>
              </a:rPr>
              <a:t>화면에서</a:t>
            </a:r>
            <a:r>
              <a:rPr lang="en-US" sz="1000" dirty="0">
                <a:latin typeface="+mn-ea"/>
                <a:cs typeface="Noto Sans KR" pitchFamily="34" charset="-120"/>
              </a:rPr>
              <a:t> 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en-US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강사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(Instructor)]</a:t>
            </a:r>
            <a:r>
              <a:rPr lang="ko-KR" altLang="en-US" sz="1000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로 </a:t>
            </a:r>
            <a:endParaRPr lang="en-US" altLang="ko-KR" sz="1000" dirty="0">
              <a:solidFill>
                <a:srgbClr val="0F172A"/>
              </a:solidFill>
              <a:latin typeface="+mn-ea"/>
              <a:cs typeface="Noto Sans KR" pitchFamily="34" charset="-120"/>
            </a:endParaRPr>
          </a:p>
          <a:p>
            <a:r>
              <a:rPr lang="ko-KR" altLang="en-US" sz="1000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선택합니다</a:t>
            </a:r>
            <a:r>
              <a:rPr lang="en-US" altLang="ko-KR" sz="1000" b="1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65180" y="3324321"/>
            <a:ext cx="4382273" cy="229147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89304" y="3448446"/>
            <a:ext cx="4134766" cy="2043971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5441443" y="2349159"/>
            <a:ext cx="4397882" cy="3274813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448878" y="2356594"/>
            <a:ext cx="4382273" cy="96772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5448878" y="3316886"/>
            <a:ext cx="4382273" cy="743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5634691" y="2511934"/>
            <a:ext cx="247506" cy="247506"/>
          </a:xfrm>
          <a:prstGeom prst="roundRect">
            <a:avLst>
              <a:gd name="adj" fmla="val 75075"/>
            </a:avLst>
          </a:prstGeom>
          <a:solidFill>
            <a:srgbClr val="06B6D4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5720910" y="2542407"/>
            <a:ext cx="170951" cy="18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4</a:t>
            </a:r>
            <a:endParaRPr lang="en-US" sz="975" dirty="0">
              <a:latin typeface="+mn-ea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6228773" y="2531259"/>
            <a:ext cx="1126785" cy="2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E293B"/>
                </a:solidFill>
                <a:latin typeface="+mn-ea"/>
              </a:rPr>
              <a:t>강사 신청</a:t>
            </a:r>
            <a:endParaRPr lang="en-US" sz="1200" dirty="0">
              <a:latin typeface="+mn-ea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5634693" y="2836739"/>
            <a:ext cx="4092401" cy="32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+mn-ea"/>
              </a:rPr>
              <a:t>강사 신청을 위해 </a:t>
            </a:r>
            <a:r>
              <a:rPr lang="en-US" altLang="ko-KR" sz="1000" dirty="0">
                <a:solidFill>
                  <a:srgbClr val="2563EB"/>
                </a:solidFill>
                <a:latin typeface="+mn-ea"/>
              </a:rPr>
              <a:t>[</a:t>
            </a:r>
            <a:r>
              <a:rPr lang="ko-KR" altLang="en-US" sz="1000" b="1" dirty="0">
                <a:solidFill>
                  <a:srgbClr val="2563EB"/>
                </a:solidFill>
                <a:latin typeface="+mn-ea"/>
              </a:rPr>
              <a:t>정보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</a:rPr>
              <a:t>(</a:t>
            </a:r>
            <a:r>
              <a:rPr lang="ko-KR" altLang="en-US" sz="1000" b="1" dirty="0">
                <a:solidFill>
                  <a:srgbClr val="2563EB"/>
                </a:solidFill>
                <a:latin typeface="+mn-ea"/>
              </a:rPr>
              <a:t>이름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rgbClr val="2563EB"/>
                </a:solidFill>
                <a:latin typeface="+mn-ea"/>
              </a:rPr>
              <a:t>이메일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</a:rPr>
              <a:t>(</a:t>
            </a:r>
            <a:r>
              <a:rPr lang="ko-KR" altLang="en-US" sz="1000" b="1" dirty="0">
                <a:solidFill>
                  <a:srgbClr val="2563EB"/>
                </a:solidFill>
                <a:latin typeface="+mn-ea"/>
              </a:rPr>
              <a:t>인증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</a:rPr>
              <a:t>), </a:t>
            </a:r>
            <a:r>
              <a:rPr lang="ko-KR" altLang="en-US" sz="1000" b="1" dirty="0">
                <a:solidFill>
                  <a:srgbClr val="2563EB"/>
                </a:solidFill>
                <a:latin typeface="+mn-ea"/>
              </a:rPr>
              <a:t>전화번호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rgbClr val="2563EB"/>
                </a:solidFill>
                <a:latin typeface="+mn-ea"/>
              </a:rPr>
              <a:t>소속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</a:rPr>
              <a:t>)]</a:t>
            </a:r>
            <a:r>
              <a:rPr lang="ko-KR" altLang="en-US" sz="1000" dirty="0">
                <a:latin typeface="+mn-ea"/>
              </a:rPr>
              <a:t>를 입력합니다</a:t>
            </a:r>
            <a:r>
              <a:rPr lang="en-US" altLang="ko-KR" sz="1000" dirty="0">
                <a:latin typeface="+mn-ea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5448878" y="3324321"/>
            <a:ext cx="4382273" cy="229147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5573001" y="3448446"/>
            <a:ext cx="4134766" cy="2043971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857748" y="5779314"/>
            <a:ext cx="8980834" cy="557447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1050994" y="5918304"/>
            <a:ext cx="278723" cy="278723"/>
          </a:xfrm>
          <a:prstGeom prst="roundRect">
            <a:avLst>
              <a:gd name="adj" fmla="val 59259"/>
            </a:avLst>
          </a:prstGeom>
          <a:solidFill>
            <a:srgbClr val="F59E0B"/>
          </a:solidFill>
          <a:ln/>
          <a:effectLst>
            <a:outerShdw blurRad="38100" dist="25400" dir="5400000" algn="bl" rotWithShape="0">
              <a:srgbClr val="F59E0B">
                <a:alpha val="2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29038" y="5995606"/>
            <a:ext cx="124125" cy="12412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478824" y="5988159"/>
            <a:ext cx="1067613" cy="161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92400E"/>
                </a:solidFill>
                <a:latin typeface="+mn-ea"/>
                <a:cs typeface="Noto Sans KR" pitchFamily="34" charset="-120"/>
              </a:rPr>
              <a:t>승인 </a:t>
            </a:r>
            <a:r>
              <a:rPr lang="ko-KR" altLang="en-US" sz="1000" b="1" dirty="0">
                <a:solidFill>
                  <a:srgbClr val="92400E"/>
                </a:solidFill>
                <a:latin typeface="+mn-ea"/>
                <a:cs typeface="Noto Sans KR" pitchFamily="34" charset="-120"/>
              </a:rPr>
              <a:t>대기 및 시간</a:t>
            </a:r>
            <a:endParaRPr lang="en-US" sz="1000" dirty="0">
              <a:latin typeface="+mn-ea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2638229" y="5988158"/>
            <a:ext cx="7433" cy="14716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42" name="Text 33"/>
          <p:cNvSpPr txBox="1"/>
          <p:nvPr/>
        </p:nvSpPr>
        <p:spPr>
          <a:xfrm>
            <a:off x="2818433" y="5880577"/>
            <a:ext cx="2860484" cy="1612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r>
              <a:rPr lang="ko-KR" altLang="en-US" sz="800" dirty="0">
                <a:solidFill>
                  <a:srgbClr val="B45309"/>
                </a:solidFill>
                <a:latin typeface="+mn-ea"/>
                <a:cs typeface="Noto Sans KR" pitchFamily="34" charset="-120"/>
              </a:rPr>
              <a:t>강사 </a:t>
            </a:r>
            <a:r>
              <a:rPr lang="en-US" sz="800" dirty="0">
                <a:solidFill>
                  <a:srgbClr val="B45309"/>
                </a:solidFill>
                <a:latin typeface="+mn-ea"/>
                <a:cs typeface="Noto Sans KR" pitchFamily="34" charset="-120"/>
              </a:rPr>
              <a:t>승인은 영업일 기준</a:t>
            </a:r>
            <a:r>
              <a:rPr lang="en-US" sz="800" b="1" dirty="0">
                <a:solidFill>
                  <a:srgbClr val="B45309"/>
                </a:solidFill>
                <a:latin typeface="+mn-ea"/>
                <a:cs typeface="Noto Sans KR" pitchFamily="34" charset="-120"/>
              </a:rPr>
              <a:t>1~2일 소요</a:t>
            </a:r>
            <a:r>
              <a:rPr lang="en-US" sz="800" dirty="0">
                <a:solidFill>
                  <a:srgbClr val="B45309"/>
                </a:solidFill>
                <a:latin typeface="+mn-ea"/>
                <a:cs typeface="Noto Sans KR" pitchFamily="34" charset="-120"/>
              </a:rPr>
              <a:t>될 수 있습니다. </a:t>
            </a:r>
          </a:p>
          <a:p>
            <a:r>
              <a:rPr lang="ko-KR" altLang="en-US" sz="800" dirty="0">
                <a:solidFill>
                  <a:srgbClr val="B45309"/>
                </a:solidFill>
                <a:latin typeface="+mn-ea"/>
                <a:cs typeface="Noto Sans KR" pitchFamily="34" charset="-120"/>
              </a:rPr>
              <a:t>승인 완료 시 이메일 발송됩니다</a:t>
            </a:r>
            <a:r>
              <a:rPr lang="en-US" altLang="ko-KR" sz="800" dirty="0">
                <a:solidFill>
                  <a:srgbClr val="B45309"/>
                </a:solidFill>
                <a:latin typeface="+mn-ea"/>
                <a:cs typeface="Noto Sans KR" pitchFamily="34" charset="-120"/>
              </a:rPr>
              <a:t>.</a:t>
            </a:r>
          </a:p>
          <a:p>
            <a:r>
              <a:rPr lang="ko-KR" altLang="en-US" sz="800" dirty="0">
                <a:solidFill>
                  <a:srgbClr val="B45309"/>
                </a:solidFill>
                <a:latin typeface="+mn-ea"/>
              </a:rPr>
              <a:t>승인 후 로그인하면 강사 대시보드에 접근할 수 있습니다</a:t>
            </a:r>
            <a:r>
              <a:rPr lang="en-US" altLang="ko-KR" sz="800" dirty="0">
                <a:solidFill>
                  <a:srgbClr val="B45309"/>
                </a:solidFill>
                <a:latin typeface="+mn-ea"/>
              </a:rPr>
              <a:t>.</a:t>
            </a:r>
            <a:endParaRPr lang="en-US" sz="800" dirty="0">
              <a:latin typeface="+mn-ea"/>
            </a:endParaRPr>
          </a:p>
        </p:txBody>
      </p:sp>
      <p:sp>
        <p:nvSpPr>
          <p:cNvPr id="43" name="Shape 34"/>
          <p:cNvSpPr/>
          <p:nvPr/>
        </p:nvSpPr>
        <p:spPr>
          <a:xfrm>
            <a:off x="8074377" y="5927967"/>
            <a:ext cx="1573188" cy="263115"/>
          </a:xfrm>
          <a:prstGeom prst="roundRect">
            <a:avLst>
              <a:gd name="adj" fmla="val 166168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18338" y="6003601"/>
            <a:ext cx="100340" cy="10034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8362299" y="5990250"/>
            <a:ext cx="1238606" cy="14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b="1" dirty="0">
                <a:solidFill>
                  <a:srgbClr val="78350F"/>
                </a:solidFill>
                <a:latin typeface="+mn-ea"/>
                <a:cs typeface="Noto Sans KR" pitchFamily="34" charset="-120"/>
              </a:rPr>
              <a:t>ehdgml53@bctone.kr</a:t>
            </a:r>
            <a:endParaRPr lang="en-US" sz="900" dirty="0">
              <a:latin typeface="+mn-ea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393209" y="994194"/>
            <a:ext cx="9909912" cy="784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50" name="Text 39"/>
          <p:cNvSpPr txBox="1"/>
          <p:nvPr/>
        </p:nvSpPr>
        <p:spPr>
          <a:xfrm>
            <a:off x="6645027" y="455329"/>
            <a:ext cx="4051412" cy="26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2. 강사 시작하기 &gt; 회원가입 및 승인 (2/2)</a:t>
            </a:r>
            <a:endParaRPr lang="en-US" sz="1401" dirty="0">
              <a:latin typeface="+mn-ea"/>
            </a:endParaRPr>
          </a:p>
        </p:txBody>
      </p:sp>
      <p:pic>
        <p:nvPicPr>
          <p:cNvPr id="53" name="그림 52" descr="텍스트, 스크린샷, 폰트, 웹 페이지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E89E862-BF5A-11CD-B554-6F84394872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51" y="3519053"/>
            <a:ext cx="3995678" cy="1912547"/>
          </a:xfrm>
          <a:prstGeom prst="rect">
            <a:avLst/>
          </a:prstGeom>
        </p:spPr>
      </p:pic>
      <p:pic>
        <p:nvPicPr>
          <p:cNvPr id="54" name="Image 0" descr="preencoded.png">
            <a:extLst>
              <a:ext uri="{FF2B5EF4-FFF2-40B4-BE49-F238E27FC236}">
                <a16:creationId xmlns:a16="http://schemas.microsoft.com/office/drawing/2014/main" id="{00E797FA-557C-FB44-82D8-934C1E9CA29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5983544" y="2566193"/>
            <a:ext cx="183322" cy="146423"/>
          </a:xfrm>
          <a:prstGeom prst="rect">
            <a:avLst/>
          </a:prstGeom>
        </p:spPr>
      </p:pic>
      <p:pic>
        <p:nvPicPr>
          <p:cNvPr id="57" name="그림 56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9B3CDB3-EED8-8D43-4AA6-7778746B5E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4691" y="3532112"/>
            <a:ext cx="4010888" cy="1960304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393209" y="994194"/>
            <a:ext cx="9909912" cy="457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140CADA4-23B4-E17C-9F16-682EC7CE5C3E}"/>
              </a:ext>
            </a:extLst>
          </p:cNvPr>
          <p:cNvSpPr/>
          <p:nvPr/>
        </p:nvSpPr>
        <p:spPr>
          <a:xfrm>
            <a:off x="365900" y="1050069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7A426D-1A57-5635-F44D-42C6AFD5979D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27275" y="1425206"/>
            <a:ext cx="247175" cy="185816"/>
          </a:xfrm>
          <a:prstGeom prst="rect">
            <a:avLst/>
          </a:prstGeom>
        </p:spPr>
      </p:pic>
      <p:sp>
        <p:nvSpPr>
          <p:cNvPr id="56" name="Text 3"/>
          <p:cNvSpPr txBox="1"/>
          <p:nvPr/>
        </p:nvSpPr>
        <p:spPr>
          <a:xfrm>
            <a:off x="1137213" y="1378381"/>
            <a:ext cx="3293908" cy="27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1" b="1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회원가입 및 강사 승인 절차 (2/2)</a:t>
            </a:r>
            <a:endParaRPr lang="en-US" sz="1601" dirty="0">
              <a:latin typeface="+mn-ea"/>
            </a:endParaRPr>
          </a:p>
        </p:txBody>
      </p:sp>
      <p:sp>
        <p:nvSpPr>
          <p:cNvPr id="58" name="Text 4"/>
          <p:cNvSpPr txBox="1"/>
          <p:nvPr/>
        </p:nvSpPr>
        <p:spPr>
          <a:xfrm>
            <a:off x="857748" y="1778070"/>
            <a:ext cx="3405027" cy="1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latin typeface="+mn-ea"/>
                <a:cs typeface="Noto Sans KR" pitchFamily="34" charset="-120"/>
              </a:rPr>
              <a:t>강사 권한을 획득하기 위한 단계별 가이드입니다. (Step 3~4)</a:t>
            </a:r>
            <a:endParaRPr lang="en-US" sz="1000" dirty="0">
              <a:latin typeface="+mn-ea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35AADB9-C828-EF63-41DD-FCAACE4B9A7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4736714" y="4915919"/>
            <a:ext cx="95138" cy="152769"/>
          </a:xfrm>
          <a:prstGeom prst="rect">
            <a:avLst/>
          </a:prstGeom>
        </p:spPr>
      </p:pic>
      <p:sp>
        <p:nvSpPr>
          <p:cNvPr id="5" name="Shape 12">
            <a:extLst>
              <a:ext uri="{FF2B5EF4-FFF2-40B4-BE49-F238E27FC236}">
                <a16:creationId xmlns:a16="http://schemas.microsoft.com/office/drawing/2014/main" id="{BAD09B68-B0DB-6949-D6D6-D3DDDE2EDADB}"/>
              </a:ext>
            </a:extLst>
          </p:cNvPr>
          <p:cNvSpPr/>
          <p:nvPr/>
        </p:nvSpPr>
        <p:spPr>
          <a:xfrm>
            <a:off x="7363176" y="1746602"/>
            <a:ext cx="2475406" cy="323834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2ABEA93-D9D6-1C9B-FB1F-C9DD0611695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7525093" y="1831677"/>
            <a:ext cx="95138" cy="152769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5269D083-E26F-BCA2-30BC-C98177DB3A5C}"/>
              </a:ext>
            </a:extLst>
          </p:cNvPr>
          <p:cNvSpPr txBox="1"/>
          <p:nvPr/>
        </p:nvSpPr>
        <p:spPr>
          <a:xfrm>
            <a:off x="7696156" y="1822529"/>
            <a:ext cx="2011611" cy="15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붉은색 커서는 클릭 위치를 나타냅니다.</a:t>
            </a:r>
            <a:endParaRPr lang="en-US" sz="900" dirty="0">
              <a:latin typeface="+mn-ea"/>
            </a:endParaRPr>
          </a:p>
        </p:txBody>
      </p:sp>
      <p:sp>
        <p:nvSpPr>
          <p:cNvPr id="8" name="Shape 58">
            <a:extLst>
              <a:ext uri="{FF2B5EF4-FFF2-40B4-BE49-F238E27FC236}">
                <a16:creationId xmlns:a16="http://schemas.microsoft.com/office/drawing/2014/main" id="{0AAB27C9-FDD2-835A-4199-892CDE4611A2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9" name="Text 59">
            <a:extLst>
              <a:ext uri="{FF2B5EF4-FFF2-40B4-BE49-F238E27FC236}">
                <a16:creationId xmlns:a16="http://schemas.microsoft.com/office/drawing/2014/main" id="{E54C8CAB-316A-A170-A92E-C6897C764D33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6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1851" y="1332268"/>
            <a:ext cx="217033" cy="21703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7308" y="1341775"/>
            <a:ext cx="2145055" cy="32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1" b="1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계정 보안 및 로그아웃</a:t>
            </a:r>
            <a:endParaRPr lang="en-US" sz="1601" dirty="0">
              <a:latin typeface="+mn-e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28728" y="1791827"/>
            <a:ext cx="9074487" cy="18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비밀번호 관리 방법과 안전한 로그아웃 절차를 안내합니다.</a:t>
            </a:r>
            <a:endParaRPr lang="en-US" sz="1000" dirty="0">
              <a:latin typeface="+mn-ea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B484B24E-9AAA-0598-7C1C-FB5859F8D32D}"/>
              </a:ext>
            </a:extLst>
          </p:cNvPr>
          <p:cNvGrpSpPr/>
          <p:nvPr/>
        </p:nvGrpSpPr>
        <p:grpSpPr>
          <a:xfrm>
            <a:off x="876331" y="2415499"/>
            <a:ext cx="2841490" cy="3391504"/>
            <a:chOff x="428626" y="1157631"/>
            <a:chExt cx="2621813" cy="3129305"/>
          </a:xfrm>
        </p:grpSpPr>
        <p:sp>
          <p:nvSpPr>
            <p:cNvPr id="8" name="Shape 5"/>
            <p:cNvSpPr/>
            <p:nvPr/>
          </p:nvSpPr>
          <p:spPr>
            <a:xfrm>
              <a:off x="428626" y="1157631"/>
              <a:ext cx="2621813" cy="3129305"/>
            </a:xfrm>
            <a:prstGeom prst="roundRect">
              <a:avLst>
                <a:gd name="adj" fmla="val 142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9" name="Shape 6"/>
            <p:cNvSpPr/>
            <p:nvPr/>
          </p:nvSpPr>
          <p:spPr>
            <a:xfrm>
              <a:off x="435483" y="1164489"/>
              <a:ext cx="2607412" cy="43205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1452525" y="1392860"/>
              <a:ext cx="571271" cy="571271"/>
            </a:xfrm>
            <a:prstGeom prst="ellipse">
              <a:avLst/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623975" y="1564310"/>
              <a:ext cx="228371" cy="228371"/>
            </a:xfrm>
            <a:prstGeom prst="rect">
              <a:avLst/>
            </a:prstGeom>
          </p:spPr>
        </p:pic>
        <p:sp>
          <p:nvSpPr>
            <p:cNvPr id="12" name="Text 8"/>
            <p:cNvSpPr txBox="1"/>
            <p:nvPr/>
          </p:nvSpPr>
          <p:spPr>
            <a:xfrm>
              <a:off x="1194534" y="2136269"/>
              <a:ext cx="1066892" cy="1959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251" b="1" dirty="0">
                  <a:solidFill>
                    <a:srgbClr val="1E293B"/>
                  </a:solidFill>
                  <a:latin typeface="+mn-ea"/>
                  <a:cs typeface="Noto Sans KR" pitchFamily="34" charset="-120"/>
                </a:rPr>
                <a:t>비밀번호 변경</a:t>
              </a:r>
              <a:endParaRPr lang="en-US" sz="1251" dirty="0">
                <a:latin typeface="+mn-ea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664541" y="2492883"/>
              <a:ext cx="2149983" cy="1557452"/>
            </a:xfrm>
            <a:prstGeom prst="roundRect">
              <a:avLst>
                <a:gd name="adj" fmla="val 2424"/>
              </a:avLst>
            </a:prstGeom>
            <a:solidFill>
              <a:srgbClr val="F8FAFC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14" name="Shape 10"/>
            <p:cNvSpPr/>
            <p:nvPr/>
          </p:nvSpPr>
          <p:spPr>
            <a:xfrm>
              <a:off x="814730" y="2657475"/>
              <a:ext cx="171450" cy="17145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875081" y="2678735"/>
              <a:ext cx="122072" cy="128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00" b="1" dirty="0">
                  <a:solidFill>
                    <a:srgbClr val="64748B"/>
                  </a:solidFill>
                  <a:latin typeface="+mn-ea"/>
                  <a:cs typeface="Noto Sans KR" pitchFamily="34" charset="-120"/>
                </a:rPr>
                <a:t>1</a:t>
              </a:r>
              <a:endParaRPr lang="en-US" sz="900" dirty="0">
                <a:latin typeface="+mn-ea"/>
              </a:endParaRPr>
            </a:p>
          </p:txBody>
        </p:sp>
        <p:sp>
          <p:nvSpPr>
            <p:cNvPr id="16" name="Text 12"/>
            <p:cNvSpPr txBox="1"/>
            <p:nvPr/>
          </p:nvSpPr>
          <p:spPr>
            <a:xfrm>
              <a:off x="1071905" y="2643074"/>
              <a:ext cx="16740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1000" b="1" dirty="0" smtClean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화면 좌</a:t>
              </a:r>
              <a:r>
                <a:rPr lang="en-US" sz="1000" b="1" dirty="0" smtClean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측 </a:t>
              </a:r>
              <a:r>
                <a:rPr lang="ko-KR" altLang="en-US" sz="1000" b="1" dirty="0" err="1" smtClean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사이드바</a:t>
              </a:r>
              <a:r>
                <a:rPr lang="ko-KR" altLang="en-US" sz="1000" b="1" dirty="0" smtClean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 하</a:t>
              </a:r>
              <a:r>
                <a:rPr lang="en-US" sz="1000" b="1" dirty="0" smtClean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단</a:t>
              </a:r>
              <a:r>
                <a:rPr lang="ko-KR" altLang="en-US" sz="1000" b="1" dirty="0" smtClean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의</a:t>
              </a:r>
              <a:r>
                <a:rPr lang="en-US" sz="1000" b="1" dirty="0" smtClean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sz="1000" b="1" dirty="0" err="1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프로필</a:t>
              </a:r>
              <a:r>
                <a:rPr lang="en-US" sz="1000" b="1" dirty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ko-KR" altLang="en-US" sz="1000" b="1" dirty="0" smtClean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영역</a:t>
              </a:r>
              <a:r>
                <a:rPr lang="en-US" sz="1000" b="1" dirty="0" err="1" smtClean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에서</a:t>
              </a:r>
              <a:r>
                <a:rPr lang="en-US" sz="1000" b="1" dirty="0" smtClean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sz="1000" b="1" dirty="0" err="1" smtClean="0">
                  <a:solidFill>
                    <a:srgbClr val="2563EB"/>
                  </a:solidFill>
                  <a:latin typeface="+mn-ea"/>
                  <a:cs typeface="Noto Sans KR" pitchFamily="34" charset="-120"/>
                </a:rPr>
                <a:t>강사</a:t>
              </a:r>
              <a:r>
                <a:rPr lang="en-US" sz="1000" b="1" dirty="0" smtClean="0">
                  <a:solidFill>
                    <a:srgbClr val="2563EB"/>
                  </a:solidFill>
                  <a:latin typeface="+mn-ea"/>
                  <a:cs typeface="Noto Sans KR" pitchFamily="34" charset="-120"/>
                </a:rPr>
                <a:t> </a:t>
              </a:r>
              <a:r>
                <a:rPr lang="en-US" sz="1000" b="1" dirty="0">
                  <a:solidFill>
                    <a:srgbClr val="2563EB"/>
                  </a:solidFill>
                  <a:latin typeface="+mn-ea"/>
                  <a:cs typeface="Noto Sans KR" pitchFamily="34" charset="-120"/>
                </a:rPr>
                <a:t>설정</a:t>
              </a:r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으로 이동합니다.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17" name="Shape 13"/>
            <p:cNvSpPr/>
            <p:nvPr/>
          </p:nvSpPr>
          <p:spPr>
            <a:xfrm>
              <a:off x="814730" y="3114904"/>
              <a:ext cx="171450" cy="17145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18" name="Text 14"/>
            <p:cNvSpPr txBox="1"/>
            <p:nvPr/>
          </p:nvSpPr>
          <p:spPr>
            <a:xfrm>
              <a:off x="875081" y="3136164"/>
              <a:ext cx="122072" cy="128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00" b="1" dirty="0">
                  <a:solidFill>
                    <a:srgbClr val="64748B"/>
                  </a:solidFill>
                  <a:latin typeface="+mn-ea"/>
                </a:rPr>
                <a:t>2</a:t>
              </a:r>
              <a:endParaRPr lang="en-US" sz="900" dirty="0">
                <a:latin typeface="+mn-ea"/>
              </a:endParaRPr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1071905" y="3100502"/>
              <a:ext cx="16740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'보안 설정' 탭에서</a:t>
              </a:r>
              <a:r>
                <a:rPr lang="en-US" sz="1000" b="1" dirty="0">
                  <a:solidFill>
                    <a:srgbClr val="2563EB"/>
                  </a:solidFill>
                  <a:latin typeface="+mn-ea"/>
                  <a:cs typeface="Noto Sans KR" pitchFamily="34" charset="-120"/>
                </a:rPr>
                <a:t>현재 비밀번호</a:t>
              </a:r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를 </a:t>
              </a:r>
              <a:r>
                <a:rPr lang="en-US" sz="1000" dirty="0">
                  <a:solidFill>
                    <a:srgbClr val="7F8998"/>
                  </a:solidFill>
                  <a:latin typeface="+mn-ea"/>
                  <a:cs typeface="Noto Sans KR" pitchFamily="34" charset="-120"/>
                </a:rPr>
                <a:t>입력하여</a:t>
              </a:r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 본인 확인을 진행</a:t>
              </a:r>
            </a:p>
            <a:p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합니다.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20" name="Shape 16"/>
            <p:cNvSpPr/>
            <p:nvPr/>
          </p:nvSpPr>
          <p:spPr>
            <a:xfrm>
              <a:off x="814730" y="3571646"/>
              <a:ext cx="171450" cy="17145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875081" y="3593593"/>
              <a:ext cx="122072" cy="128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00" b="1" dirty="0">
                  <a:solidFill>
                    <a:srgbClr val="64748B"/>
                  </a:solidFill>
                  <a:latin typeface="+mn-ea"/>
                  <a:cs typeface="Noto Sans KR" pitchFamily="34" charset="-120"/>
                </a:rPr>
                <a:t>3</a:t>
              </a:r>
              <a:endParaRPr lang="en-US" sz="900" dirty="0">
                <a:latin typeface="+mn-ea"/>
              </a:endParaRPr>
            </a:p>
          </p:txBody>
        </p:sp>
        <p:sp>
          <p:nvSpPr>
            <p:cNvPr id="22" name="Text 18"/>
            <p:cNvSpPr txBox="1"/>
            <p:nvPr/>
          </p:nvSpPr>
          <p:spPr>
            <a:xfrm>
              <a:off x="1071905" y="3557930"/>
              <a:ext cx="16740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b="1" dirty="0">
                  <a:solidFill>
                    <a:srgbClr val="2563EB"/>
                  </a:solidFill>
                  <a:latin typeface="+mn-ea"/>
                  <a:cs typeface="Noto Sans KR" pitchFamily="34" charset="-120"/>
                </a:rPr>
                <a:t>새 비밀번호</a:t>
              </a:r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를 입력하고 변경 버튼을 클릭하여 완료합니다.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7F00E5C-0457-023A-3147-C11E1FF4AD59}"/>
              </a:ext>
            </a:extLst>
          </p:cNvPr>
          <p:cNvGrpSpPr/>
          <p:nvPr/>
        </p:nvGrpSpPr>
        <p:grpSpPr>
          <a:xfrm>
            <a:off x="3938198" y="2402673"/>
            <a:ext cx="2841490" cy="3391504"/>
            <a:chOff x="3262351" y="1157631"/>
            <a:chExt cx="2621813" cy="3129305"/>
          </a:xfrm>
        </p:grpSpPr>
        <p:sp>
          <p:nvSpPr>
            <p:cNvPr id="23" name="Shape 19"/>
            <p:cNvSpPr/>
            <p:nvPr/>
          </p:nvSpPr>
          <p:spPr>
            <a:xfrm>
              <a:off x="3262351" y="1157631"/>
              <a:ext cx="2621813" cy="3129305"/>
            </a:xfrm>
            <a:prstGeom prst="roundRect">
              <a:avLst>
                <a:gd name="adj" fmla="val 142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24" name="Shape 20"/>
            <p:cNvSpPr/>
            <p:nvPr/>
          </p:nvSpPr>
          <p:spPr>
            <a:xfrm>
              <a:off x="3269209" y="1164489"/>
              <a:ext cx="2607412" cy="43205"/>
            </a:xfrm>
            <a:prstGeom prst="rect">
              <a:avLst/>
            </a:prstGeom>
            <a:solidFill>
              <a:srgbClr val="6366F1"/>
            </a:solidFill>
            <a:ln/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25" name="Shape 21"/>
            <p:cNvSpPr/>
            <p:nvPr/>
          </p:nvSpPr>
          <p:spPr>
            <a:xfrm>
              <a:off x="4286251" y="1392860"/>
              <a:ext cx="571271" cy="571271"/>
            </a:xfrm>
            <a:prstGeom prst="ellipse">
              <a:avLst/>
            </a:prstGeom>
            <a:solidFill>
              <a:srgbClr val="EEF2FF"/>
            </a:solidFill>
            <a:ln/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pic>
          <p:nvPicPr>
            <p:cNvPr id="26" name="Image 2" descr="preencoded.png"/>
            <p:cNvPicPr>
              <a:picLocks noChangeAspect="1"/>
            </p:cNvPicPr>
            <p:nvPr/>
          </p:nvPicPr>
          <p:blipFill>
            <a:blip r:embed="rId5"/>
            <a:srcRect l="-107" r="-107"/>
            <a:stretch/>
          </p:blipFill>
          <p:spPr>
            <a:xfrm>
              <a:off x="4472102" y="1564310"/>
              <a:ext cx="200254" cy="228371"/>
            </a:xfrm>
            <a:prstGeom prst="rect">
              <a:avLst/>
            </a:prstGeom>
          </p:spPr>
        </p:pic>
        <p:sp>
          <p:nvSpPr>
            <p:cNvPr id="27" name="Text 22"/>
            <p:cNvSpPr txBox="1"/>
            <p:nvPr/>
          </p:nvSpPr>
          <p:spPr>
            <a:xfrm>
              <a:off x="4103828" y="2136268"/>
              <a:ext cx="936117" cy="2077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251" b="1" dirty="0">
                  <a:solidFill>
                    <a:srgbClr val="1E293B"/>
                  </a:solidFill>
                  <a:latin typeface="+mn-ea"/>
                  <a:cs typeface="Noto Sans KR" pitchFamily="34" charset="-120"/>
                </a:rPr>
                <a:t>비밀번호 찾기</a:t>
              </a:r>
              <a:endParaRPr lang="en-US" sz="1251" dirty="0">
                <a:latin typeface="+mn-ea"/>
              </a:endParaRPr>
            </a:p>
          </p:txBody>
        </p:sp>
        <p:sp>
          <p:nvSpPr>
            <p:cNvPr id="28" name="Shape 23"/>
            <p:cNvSpPr/>
            <p:nvPr/>
          </p:nvSpPr>
          <p:spPr>
            <a:xfrm>
              <a:off x="3498266" y="2492883"/>
              <a:ext cx="2149983" cy="1557452"/>
            </a:xfrm>
            <a:prstGeom prst="roundRect">
              <a:avLst>
                <a:gd name="adj" fmla="val 2424"/>
              </a:avLst>
            </a:prstGeom>
            <a:solidFill>
              <a:srgbClr val="F8FAFC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29" name="Shape 24"/>
            <p:cNvSpPr/>
            <p:nvPr/>
          </p:nvSpPr>
          <p:spPr>
            <a:xfrm>
              <a:off x="3647771" y="2657475"/>
              <a:ext cx="171450" cy="17145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30" name="Text 25"/>
            <p:cNvSpPr txBox="1"/>
            <p:nvPr/>
          </p:nvSpPr>
          <p:spPr>
            <a:xfrm>
              <a:off x="3708807" y="2678735"/>
              <a:ext cx="122072" cy="128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00" b="1" dirty="0">
                  <a:solidFill>
                    <a:srgbClr val="64748B"/>
                  </a:solidFill>
                  <a:latin typeface="+mn-ea"/>
                  <a:cs typeface="Noto Sans KR" pitchFamily="34" charset="-120"/>
                </a:rPr>
                <a:t>1</a:t>
              </a:r>
              <a:endParaRPr lang="en-US" sz="900" dirty="0">
                <a:latin typeface="+mn-ea"/>
              </a:endParaRPr>
            </a:p>
          </p:txBody>
        </p:sp>
        <p:sp>
          <p:nvSpPr>
            <p:cNvPr id="31" name="Text 26"/>
            <p:cNvSpPr txBox="1"/>
            <p:nvPr/>
          </p:nvSpPr>
          <p:spPr>
            <a:xfrm>
              <a:off x="3904945" y="2643074"/>
              <a:ext cx="1541077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로그인 화면 하단의 </a:t>
              </a:r>
              <a:r>
                <a:rPr lang="en-US" sz="1000" b="1" dirty="0">
                  <a:solidFill>
                    <a:srgbClr val="4F46E5"/>
                  </a:solidFill>
                  <a:latin typeface="+mn-ea"/>
                  <a:cs typeface="Noto Sans KR" pitchFamily="34" charset="-120"/>
                </a:rPr>
                <a:t>비밀번호 찾기</a:t>
              </a:r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링크를 클릭합니다.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32" name="Shape 27"/>
            <p:cNvSpPr/>
            <p:nvPr/>
          </p:nvSpPr>
          <p:spPr>
            <a:xfrm>
              <a:off x="3647771" y="3114904"/>
              <a:ext cx="171450" cy="17145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33" name="Text 28"/>
            <p:cNvSpPr txBox="1"/>
            <p:nvPr/>
          </p:nvSpPr>
          <p:spPr>
            <a:xfrm>
              <a:off x="3708807" y="3136164"/>
              <a:ext cx="122072" cy="128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00" b="1" dirty="0">
                  <a:solidFill>
                    <a:srgbClr val="64748B"/>
                  </a:solidFill>
                  <a:latin typeface="+mn-ea"/>
                  <a:cs typeface="Noto Sans KR" pitchFamily="34" charset="-120"/>
                </a:rPr>
                <a:t>2</a:t>
              </a:r>
              <a:endParaRPr lang="en-US" sz="900" dirty="0">
                <a:latin typeface="+mn-ea"/>
              </a:endParaRPr>
            </a:p>
          </p:txBody>
        </p:sp>
        <p:sp>
          <p:nvSpPr>
            <p:cNvPr id="34" name="Text 29"/>
            <p:cNvSpPr txBox="1"/>
            <p:nvPr/>
          </p:nvSpPr>
          <p:spPr>
            <a:xfrm>
              <a:off x="3904945" y="3100502"/>
              <a:ext cx="16740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가입 시 등록한</a:t>
              </a:r>
              <a:r>
                <a:rPr lang="en-US" sz="1000" b="1" dirty="0">
                  <a:solidFill>
                    <a:srgbClr val="4F46E5"/>
                  </a:solidFill>
                  <a:latin typeface="+mn-ea"/>
                  <a:cs typeface="Noto Sans KR" pitchFamily="34" charset="-120"/>
                </a:rPr>
                <a:t>이메일 주소</a:t>
              </a:r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를 </a:t>
              </a:r>
            </a:p>
            <a:p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입력하고 전송 버튼을 누릅니다.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35" name="Shape 30"/>
            <p:cNvSpPr/>
            <p:nvPr/>
          </p:nvSpPr>
          <p:spPr>
            <a:xfrm>
              <a:off x="3647771" y="3571646"/>
              <a:ext cx="171450" cy="17145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36" name="Text 31"/>
            <p:cNvSpPr txBox="1"/>
            <p:nvPr/>
          </p:nvSpPr>
          <p:spPr>
            <a:xfrm>
              <a:off x="3708807" y="3593593"/>
              <a:ext cx="122072" cy="128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00" b="1" dirty="0">
                  <a:solidFill>
                    <a:srgbClr val="64748B"/>
                  </a:solidFill>
                  <a:latin typeface="+mn-ea"/>
                  <a:cs typeface="Noto Sans KR" pitchFamily="34" charset="-120"/>
                </a:rPr>
                <a:t>3</a:t>
              </a:r>
              <a:endParaRPr lang="en-US" sz="900" dirty="0">
                <a:latin typeface="+mn-ea"/>
              </a:endParaRPr>
            </a:p>
          </p:txBody>
        </p:sp>
        <p:sp>
          <p:nvSpPr>
            <p:cNvPr id="37" name="Text 32"/>
            <p:cNvSpPr txBox="1"/>
            <p:nvPr/>
          </p:nvSpPr>
          <p:spPr>
            <a:xfrm>
              <a:off x="3904945" y="3557930"/>
              <a:ext cx="16740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이메일로 발송된 </a:t>
              </a:r>
              <a:r>
                <a:rPr lang="en-US" sz="1000" b="1" dirty="0">
                  <a:solidFill>
                    <a:srgbClr val="4F46E5"/>
                  </a:solidFill>
                  <a:latin typeface="+mn-ea"/>
                  <a:cs typeface="Noto Sans KR" pitchFamily="34" charset="-120"/>
                </a:rPr>
                <a:t>재설정 </a:t>
              </a:r>
              <a:r>
                <a:rPr lang="ko-KR" altLang="en-US" sz="1000" b="1" dirty="0">
                  <a:solidFill>
                    <a:srgbClr val="4F46E5"/>
                  </a:solidFill>
                  <a:latin typeface="+mn-ea"/>
                  <a:cs typeface="Noto Sans KR" pitchFamily="34" charset="-120"/>
                </a:rPr>
                <a:t>코드</a:t>
              </a:r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를 통해 새 비밀번호를 설정합니다.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7E7DF31-0067-8E75-A13F-030312F48931}"/>
              </a:ext>
            </a:extLst>
          </p:cNvPr>
          <p:cNvGrpSpPr/>
          <p:nvPr/>
        </p:nvGrpSpPr>
        <p:grpSpPr>
          <a:xfrm>
            <a:off x="7000066" y="2395241"/>
            <a:ext cx="2841490" cy="3391504"/>
            <a:chOff x="6096077" y="1157631"/>
            <a:chExt cx="2621813" cy="3129305"/>
          </a:xfrm>
        </p:grpSpPr>
        <p:sp>
          <p:nvSpPr>
            <p:cNvPr id="38" name="Shape 33"/>
            <p:cNvSpPr/>
            <p:nvPr/>
          </p:nvSpPr>
          <p:spPr>
            <a:xfrm>
              <a:off x="6096077" y="1157631"/>
              <a:ext cx="2621813" cy="3129305"/>
            </a:xfrm>
            <a:prstGeom prst="roundRect">
              <a:avLst>
                <a:gd name="adj" fmla="val 142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381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39" name="Shape 34"/>
            <p:cNvSpPr/>
            <p:nvPr/>
          </p:nvSpPr>
          <p:spPr>
            <a:xfrm>
              <a:off x="6102935" y="1164489"/>
              <a:ext cx="2607412" cy="43205"/>
            </a:xfrm>
            <a:prstGeom prst="rect">
              <a:avLst/>
            </a:prstGeom>
            <a:solidFill>
              <a:srgbClr val="64748B"/>
            </a:solidFill>
            <a:ln/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40" name="Shape 35"/>
            <p:cNvSpPr/>
            <p:nvPr/>
          </p:nvSpPr>
          <p:spPr>
            <a:xfrm>
              <a:off x="7119976" y="1392860"/>
              <a:ext cx="571271" cy="571271"/>
            </a:xfrm>
            <a:prstGeom prst="ellipse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pic>
          <p:nvPicPr>
            <p:cNvPr id="41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291426" y="1564310"/>
              <a:ext cx="228371" cy="228371"/>
            </a:xfrm>
            <a:prstGeom prst="rect">
              <a:avLst/>
            </a:prstGeom>
          </p:spPr>
        </p:pic>
        <p:sp>
          <p:nvSpPr>
            <p:cNvPr id="42" name="Text 36"/>
            <p:cNvSpPr txBox="1"/>
            <p:nvPr/>
          </p:nvSpPr>
          <p:spPr>
            <a:xfrm>
              <a:off x="7089115" y="2136268"/>
              <a:ext cx="636422" cy="2077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251" b="1" dirty="0">
                  <a:solidFill>
                    <a:srgbClr val="1E293B"/>
                  </a:solidFill>
                  <a:latin typeface="+mn-ea"/>
                  <a:cs typeface="Noto Sans KR" pitchFamily="34" charset="-120"/>
                </a:rPr>
                <a:t>로그아웃</a:t>
              </a:r>
              <a:endParaRPr lang="en-US" sz="1251" dirty="0">
                <a:latin typeface="+mn-ea"/>
              </a:endParaRPr>
            </a:p>
          </p:txBody>
        </p:sp>
        <p:sp>
          <p:nvSpPr>
            <p:cNvPr id="43" name="Shape 37"/>
            <p:cNvSpPr/>
            <p:nvPr/>
          </p:nvSpPr>
          <p:spPr>
            <a:xfrm>
              <a:off x="6331991" y="2492883"/>
              <a:ext cx="2149983" cy="1557452"/>
            </a:xfrm>
            <a:prstGeom prst="roundRect">
              <a:avLst>
                <a:gd name="adj" fmla="val 2424"/>
              </a:avLst>
            </a:prstGeom>
            <a:solidFill>
              <a:srgbClr val="F8FAFC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44" name="Shape 38"/>
            <p:cNvSpPr/>
            <p:nvPr/>
          </p:nvSpPr>
          <p:spPr>
            <a:xfrm>
              <a:off x="6481496" y="2657475"/>
              <a:ext cx="171450" cy="17145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45" name="Text 39"/>
            <p:cNvSpPr txBox="1"/>
            <p:nvPr/>
          </p:nvSpPr>
          <p:spPr>
            <a:xfrm>
              <a:off x="6542533" y="2678735"/>
              <a:ext cx="122072" cy="128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00" b="1" dirty="0">
                  <a:solidFill>
                    <a:srgbClr val="64748B"/>
                  </a:solidFill>
                  <a:latin typeface="+mn-ea"/>
                  <a:cs typeface="Noto Sans KR" pitchFamily="34" charset="-120"/>
                </a:rPr>
                <a:t>1</a:t>
              </a:r>
              <a:endParaRPr lang="en-US" sz="900" dirty="0">
                <a:latin typeface="+mn-ea"/>
              </a:endParaRPr>
            </a:p>
          </p:txBody>
        </p:sp>
        <p:sp>
          <p:nvSpPr>
            <p:cNvPr id="46" name="Text 40"/>
            <p:cNvSpPr txBox="1"/>
            <p:nvPr/>
          </p:nvSpPr>
          <p:spPr>
            <a:xfrm>
              <a:off x="6738670" y="2643074"/>
              <a:ext cx="1743304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화면 좌측 사이드바 하단의</a:t>
              </a:r>
            </a:p>
            <a:p>
              <a:r>
                <a:rPr lang="en-US" sz="1000" b="1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사용자 프로필</a:t>
              </a:r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영역을 확인합니다.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47" name="Shape 41"/>
            <p:cNvSpPr/>
            <p:nvPr/>
          </p:nvSpPr>
          <p:spPr>
            <a:xfrm>
              <a:off x="6481496" y="3114904"/>
              <a:ext cx="171450" cy="17145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48" name="Text 42"/>
            <p:cNvSpPr txBox="1"/>
            <p:nvPr/>
          </p:nvSpPr>
          <p:spPr>
            <a:xfrm>
              <a:off x="6542533" y="3136164"/>
              <a:ext cx="122072" cy="128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00" b="1" dirty="0">
                  <a:solidFill>
                    <a:srgbClr val="64748B"/>
                  </a:solidFill>
                  <a:latin typeface="+mn-ea"/>
                  <a:cs typeface="Noto Sans KR" pitchFamily="34" charset="-120"/>
                </a:rPr>
                <a:t>2</a:t>
              </a:r>
              <a:endParaRPr lang="en-US" sz="900" dirty="0">
                <a:latin typeface="+mn-ea"/>
              </a:endParaRPr>
            </a:p>
          </p:txBody>
        </p:sp>
        <p:sp>
          <p:nvSpPr>
            <p:cNvPr id="49" name="Text 43"/>
            <p:cNvSpPr txBox="1"/>
            <p:nvPr/>
          </p:nvSpPr>
          <p:spPr>
            <a:xfrm>
              <a:off x="6738670" y="3100502"/>
              <a:ext cx="16740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이름/아바타 옆에 있는</a:t>
              </a:r>
              <a:r>
                <a:rPr lang="en-US" sz="1000" b="1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아이콘</a:t>
              </a:r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을 클릭합니다.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50" name="Shape 44"/>
            <p:cNvSpPr/>
            <p:nvPr/>
          </p:nvSpPr>
          <p:spPr>
            <a:xfrm>
              <a:off x="6481496" y="3571646"/>
              <a:ext cx="171450" cy="17145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sp>
          <p:nvSpPr>
            <p:cNvPr id="51" name="Text 45"/>
            <p:cNvSpPr txBox="1"/>
            <p:nvPr/>
          </p:nvSpPr>
          <p:spPr>
            <a:xfrm>
              <a:off x="6542533" y="3593593"/>
              <a:ext cx="122072" cy="128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00" b="1" dirty="0">
                  <a:solidFill>
                    <a:srgbClr val="64748B"/>
                  </a:solidFill>
                  <a:latin typeface="+mn-ea"/>
                  <a:cs typeface="Noto Sans KR" pitchFamily="34" charset="-120"/>
                </a:rPr>
                <a:t>3</a:t>
              </a:r>
              <a:endParaRPr lang="en-US" sz="900" dirty="0">
                <a:latin typeface="+mn-ea"/>
              </a:endParaRPr>
            </a:p>
          </p:txBody>
        </p:sp>
        <p:sp>
          <p:nvSpPr>
            <p:cNvPr id="52" name="Text 46"/>
            <p:cNvSpPr txBox="1"/>
            <p:nvPr/>
          </p:nvSpPr>
          <p:spPr>
            <a:xfrm>
              <a:off x="6738670" y="3557930"/>
              <a:ext cx="1674038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안전하게 로그아웃되며 로그인 화면으로 이동합니다.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0BCB1AA-9BC9-4880-C03D-31A1C6C19645}"/>
              </a:ext>
            </a:extLst>
          </p:cNvPr>
          <p:cNvGrpSpPr/>
          <p:nvPr/>
        </p:nvGrpSpPr>
        <p:grpSpPr>
          <a:xfrm>
            <a:off x="3623426" y="6215978"/>
            <a:ext cx="3449478" cy="356023"/>
            <a:chOff x="3149194" y="4500905"/>
            <a:chExt cx="2850185" cy="328499"/>
          </a:xfrm>
        </p:grpSpPr>
        <p:sp>
          <p:nvSpPr>
            <p:cNvPr id="53" name="Shape 47"/>
            <p:cNvSpPr/>
            <p:nvPr/>
          </p:nvSpPr>
          <p:spPr>
            <a:xfrm>
              <a:off x="3149194" y="4500905"/>
              <a:ext cx="2850185" cy="328499"/>
            </a:xfrm>
            <a:prstGeom prst="roundRect">
              <a:avLst>
                <a:gd name="adj" fmla="val 208768"/>
              </a:avLst>
            </a:prstGeom>
            <a:solidFill>
              <a:srgbClr val="FFFBEB"/>
            </a:solidFill>
            <a:ln w="12700">
              <a:solidFill>
                <a:srgbClr val="FCD34D"/>
              </a:solidFill>
              <a:prstDash val="solid"/>
            </a:ln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pic>
          <p:nvPicPr>
            <p:cNvPr id="54" name="Image 4" descr="preencoded.png"/>
            <p:cNvPicPr>
              <a:picLocks noChangeAspect="1"/>
            </p:cNvPicPr>
            <p:nvPr/>
          </p:nvPicPr>
          <p:blipFill>
            <a:blip r:embed="rId7"/>
            <a:srcRect l="-1358" r="-1358"/>
            <a:stretch/>
          </p:blipFill>
          <p:spPr>
            <a:xfrm>
              <a:off x="3299383" y="4616806"/>
              <a:ext cx="71324" cy="92583"/>
            </a:xfrm>
            <a:prstGeom prst="rect">
              <a:avLst/>
            </a:prstGeom>
          </p:spPr>
        </p:pic>
        <p:sp>
          <p:nvSpPr>
            <p:cNvPr id="55" name="Text 48"/>
            <p:cNvSpPr txBox="1"/>
            <p:nvPr/>
          </p:nvSpPr>
          <p:spPr>
            <a:xfrm>
              <a:off x="3442031" y="4593489"/>
              <a:ext cx="2477110" cy="1357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800" dirty="0">
                  <a:solidFill>
                    <a:srgbClr val="92400E"/>
                  </a:solidFill>
                  <a:latin typeface="+mn-ea"/>
                  <a:cs typeface="Noto Sans KR" pitchFamily="34" charset="-120"/>
                </a:rPr>
                <a:t>보안을 위해 공용 PC 사용 시 반드시 로그아웃을 진행해주세요.</a:t>
              </a:r>
              <a:endParaRPr lang="en-US" sz="800" dirty="0">
                <a:latin typeface="+mn-ea"/>
              </a:endParaRPr>
            </a:p>
          </p:txBody>
        </p:sp>
      </p:grpSp>
      <p:sp>
        <p:nvSpPr>
          <p:cNvPr id="56" name="Shape 49"/>
          <p:cNvSpPr/>
          <p:nvPr/>
        </p:nvSpPr>
        <p:spPr>
          <a:xfrm>
            <a:off x="393209" y="994193"/>
            <a:ext cx="9909912" cy="101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67" name="Text 39"/>
          <p:cNvSpPr txBox="1"/>
          <p:nvPr/>
        </p:nvSpPr>
        <p:spPr>
          <a:xfrm>
            <a:off x="6645027" y="455329"/>
            <a:ext cx="3562267" cy="26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2. 강사 시작하기 &gt;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계정 관리</a:t>
            </a:r>
            <a:endParaRPr lang="en-US" sz="1401" dirty="0">
              <a:latin typeface="+mn-ea"/>
            </a:endParaRPr>
          </a:p>
        </p:txBody>
      </p:sp>
      <p:sp>
        <p:nvSpPr>
          <p:cNvPr id="68" name="Shape 0">
            <a:extLst>
              <a:ext uri="{FF2B5EF4-FFF2-40B4-BE49-F238E27FC236}">
                <a16:creationId xmlns:a16="http://schemas.microsoft.com/office/drawing/2014/main" id="{140CADA4-23B4-E17C-9F16-682EC7CE5C3E}"/>
              </a:ext>
            </a:extLst>
          </p:cNvPr>
          <p:cNvSpPr/>
          <p:nvPr/>
        </p:nvSpPr>
        <p:spPr>
          <a:xfrm>
            <a:off x="365900" y="1050069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7A426D-1A57-5635-F44D-42C6AFD5979D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sp>
        <p:nvSpPr>
          <p:cNvPr id="2" name="Text 35">
            <a:extLst>
              <a:ext uri="{FF2B5EF4-FFF2-40B4-BE49-F238E27FC236}">
                <a16:creationId xmlns:a16="http://schemas.microsoft.com/office/drawing/2014/main" id="{C3ED2C00-9024-28E9-7B2D-79A290AB81D3}"/>
              </a:ext>
            </a:extLst>
          </p:cNvPr>
          <p:cNvSpPr txBox="1"/>
          <p:nvPr/>
        </p:nvSpPr>
        <p:spPr>
          <a:xfrm>
            <a:off x="10086526" y="6943725"/>
            <a:ext cx="186616" cy="19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000" dirty="0"/>
          </a:p>
        </p:txBody>
      </p:sp>
      <p:sp>
        <p:nvSpPr>
          <p:cNvPr id="57" name="Shape 58">
            <a:extLst>
              <a:ext uri="{FF2B5EF4-FFF2-40B4-BE49-F238E27FC236}">
                <a16:creationId xmlns:a16="http://schemas.microsoft.com/office/drawing/2014/main" id="{1CCD3CA3-EC22-75FA-FBC2-793F1F3C241E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58" name="Text 59">
            <a:extLst>
              <a:ext uri="{FF2B5EF4-FFF2-40B4-BE49-F238E27FC236}">
                <a16:creationId xmlns:a16="http://schemas.microsoft.com/office/drawing/2014/main" id="{4101489B-2A4E-C510-5555-30AE17BC6DF4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7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3000"/>
          </a:blip>
          <a:srcRect l="-38887" r="-38887"/>
          <a:stretch/>
        </p:blipFill>
        <p:spPr>
          <a:xfrm>
            <a:off x="4" y="1"/>
            <a:ext cx="10696412" cy="756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9381" y="-1050733"/>
            <a:ext cx="3342980" cy="4201936"/>
          </a:xfrm>
          <a:prstGeom prst="ellipse">
            <a:avLst/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-417972" y="4937048"/>
            <a:ext cx="2507034" cy="3151200"/>
          </a:xfrm>
          <a:prstGeom prst="ellips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120394" y="4442136"/>
            <a:ext cx="2554367" cy="252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998" b="1" kern="0" spc="-900" dirty="0">
                <a:solidFill>
                  <a:srgbClr val="1E293B">
                    <a:alpha val="50000"/>
                  </a:srgbClr>
                </a:solidFill>
                <a:latin typeface="+mn-ea"/>
                <a:cs typeface="Noto Sans KR" pitchFamily="34" charset="-120"/>
              </a:rPr>
              <a:t>02</a:t>
            </a:r>
            <a:endParaRPr lang="en-US" sz="17998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8275" y="465847"/>
            <a:ext cx="9794684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2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GrowFit </a:t>
            </a:r>
            <a:r>
              <a:rPr lang="en-US" sz="1100" kern="0" spc="2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en-US" sz="1100" kern="0" spc="2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AI 실습 </a:t>
            </a:r>
            <a:r>
              <a:rPr lang="en-US" sz="1100" kern="0" spc="21" dirty="0" err="1">
                <a:solidFill>
                  <a:srgbClr val="94A3B8"/>
                </a:solidFill>
                <a:latin typeface="+mn-ea"/>
                <a:cs typeface="Noto Sans KR" pitchFamily="34" charset="-120"/>
              </a:rPr>
              <a:t>플랫폼</a:t>
            </a:r>
            <a:r>
              <a:rPr lang="en-US" sz="1100" kern="0" spc="2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100" kern="0" spc="21" dirty="0" smtClean="0">
                <a:solidFill>
                  <a:srgbClr val="94A3B8"/>
                </a:solidFill>
                <a:latin typeface="+mn-ea"/>
                <a:cs typeface="Noto Sans KR" pitchFamily="34" charset="-120"/>
              </a:rPr>
              <a:t>강사 </a:t>
            </a:r>
            <a:r>
              <a:rPr lang="en-US" sz="1100" kern="0" spc="21" dirty="0" err="1" smtClean="0">
                <a:solidFill>
                  <a:srgbClr val="94A3B8"/>
                </a:solidFill>
                <a:latin typeface="+mn-ea"/>
                <a:cs typeface="Noto Sans KR" pitchFamily="34" charset="-120"/>
              </a:rPr>
              <a:t>매뉴얼</a:t>
            </a:r>
            <a:endParaRPr lang="en-US" sz="1100" dirty="0">
              <a:latin typeface="+mn-e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68280" y="2096432"/>
            <a:ext cx="9627013" cy="37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kern="0" spc="91" dirty="0">
                <a:solidFill>
                  <a:srgbClr val="818CF8"/>
                </a:solidFill>
                <a:latin typeface="+mn-ea"/>
                <a:cs typeface="Noto Sans KR" pitchFamily="34" charset="-120"/>
              </a:rPr>
              <a:t>PART 02</a:t>
            </a:r>
            <a:endParaRPr lang="en-US" dirty="0">
              <a:latin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8282" y="2600634"/>
            <a:ext cx="9677554" cy="1313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99" b="1" kern="0" spc="-79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 강사 모드 개요</a:t>
            </a:r>
            <a:endParaRPr lang="en-US" sz="3899" dirty="0">
              <a:latin typeface="+mn-ea"/>
            </a:endParaRPr>
          </a:p>
          <a:p>
            <a:r>
              <a:rPr lang="en-US" sz="3899" b="1" kern="0" spc="-79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  </a:t>
            </a:r>
            <a:endParaRPr lang="en-US" sz="3899" dirty="0">
              <a:latin typeface="+mn-ea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668275" y="4163620"/>
            <a:ext cx="501407" cy="423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8276" y="4458066"/>
            <a:ext cx="5081459" cy="63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"강사 전용 화면 구성과 핵심 기능을</a:t>
            </a:r>
            <a:endParaRPr lang="en-US" sz="1500" dirty="0">
              <a:latin typeface="+mn-ea"/>
            </a:endParaRPr>
          </a:p>
          <a:p>
            <a:r>
              <a:rPr lang="en-US" sz="1500" i="1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빠르게 이해합니다." </a:t>
            </a:r>
            <a:endParaRPr lang="en-US" sz="1500" dirty="0">
              <a:latin typeface="+mn-ea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01407" y="6544412"/>
            <a:ext cx="9693600" cy="1008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501410" y="6722899"/>
            <a:ext cx="1161659" cy="189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BCT ONE Inc.</a:t>
            </a:r>
            <a:endParaRPr lang="en-US" sz="900" dirty="0">
              <a:latin typeface="+mn-ea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9681568" y="6953817"/>
            <a:ext cx="616932" cy="189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Version 2.0</a:t>
            </a:r>
            <a:endParaRPr lang="en-US" sz="900" dirty="0">
              <a:latin typeface="+mn-ea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501408" y="6953819"/>
            <a:ext cx="1302857" cy="179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Learn · Connect · Apply</a:t>
            </a:r>
            <a:endParaRPr lang="en-US" sz="9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18">
            <a:extLst>
              <a:ext uri="{FF2B5EF4-FFF2-40B4-BE49-F238E27FC236}">
                <a16:creationId xmlns:a16="http://schemas.microsoft.com/office/drawing/2014/main" id="{18F41C9A-22A5-EC28-B195-9B1794B70CEE}"/>
              </a:ext>
            </a:extLst>
          </p:cNvPr>
          <p:cNvSpPr>
            <a:spLocks/>
          </p:cNvSpPr>
          <p:nvPr/>
        </p:nvSpPr>
        <p:spPr>
          <a:xfrm>
            <a:off x="6979330" y="3990289"/>
            <a:ext cx="3060000" cy="14580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40BD2ACB-4004-CCD8-9752-7187B0C8DC50}"/>
              </a:ext>
            </a:extLst>
          </p:cNvPr>
          <p:cNvSpPr/>
          <p:nvPr/>
        </p:nvSpPr>
        <p:spPr>
          <a:xfrm>
            <a:off x="3766930" y="3990289"/>
            <a:ext cx="3060000" cy="14580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" name="Text 39">
            <a:extLst>
              <a:ext uri="{FF2B5EF4-FFF2-40B4-BE49-F238E27FC236}">
                <a16:creationId xmlns:a16="http://schemas.microsoft.com/office/drawing/2014/main" id="{27F85068-F976-22F0-C645-8BCC29272DDC}"/>
              </a:ext>
            </a:extLst>
          </p:cNvPr>
          <p:cNvSpPr txBox="1"/>
          <p:nvPr/>
        </p:nvSpPr>
        <p:spPr>
          <a:xfrm>
            <a:off x="6502151" y="543247"/>
            <a:ext cx="3759121" cy="26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2. </a:t>
            </a:r>
            <a:r>
              <a:rPr lang="en-US" sz="1401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강사</a:t>
            </a:r>
            <a:r>
              <a:rPr 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모드 개요  </a:t>
            </a:r>
            <a:r>
              <a:rPr 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&gt;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영역</a:t>
            </a:r>
            <a:endParaRPr lang="en-US" sz="1401" dirty="0">
              <a:latin typeface="+mn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0E58DC3-FB37-9D3D-E80D-24569243CA63}"/>
              </a:ext>
            </a:extLst>
          </p:cNvPr>
          <p:cNvSpPr/>
          <p:nvPr/>
        </p:nvSpPr>
        <p:spPr>
          <a:xfrm>
            <a:off x="365900" y="1050069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6641D4-C8FC-1736-FBB5-B52F493D9879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sp>
        <p:nvSpPr>
          <p:cNvPr id="5" name="Shape 58">
            <a:extLst>
              <a:ext uri="{FF2B5EF4-FFF2-40B4-BE49-F238E27FC236}">
                <a16:creationId xmlns:a16="http://schemas.microsoft.com/office/drawing/2014/main" id="{2119139B-4CBE-02A1-B2D4-81D72A9D465A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6" name="Text 59">
            <a:extLst>
              <a:ext uri="{FF2B5EF4-FFF2-40B4-BE49-F238E27FC236}">
                <a16:creationId xmlns:a16="http://schemas.microsoft.com/office/drawing/2014/main" id="{F3037551-4605-185C-299D-797DDBE9CDEF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9</a:t>
            </a:r>
            <a:endParaRPr lang="en-US" sz="1000" dirty="0">
              <a:latin typeface="+mn-ea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1C897A80-F213-D474-D16F-C7C0D3874E75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rcRect t="-400" b="-400"/>
          <a:stretch/>
        </p:blipFill>
        <p:spPr>
          <a:xfrm>
            <a:off x="552592" y="1764288"/>
            <a:ext cx="576000" cy="360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D4E462F8-642B-6230-C89E-2A6D2CA254DC}"/>
              </a:ext>
            </a:extLst>
          </p:cNvPr>
          <p:cNvSpPr txBox="1"/>
          <p:nvPr/>
        </p:nvSpPr>
        <p:spPr>
          <a:xfrm>
            <a:off x="552592" y="1256411"/>
            <a:ext cx="2734071" cy="410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kern="0" spc="-48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강사 모드 주요 역할</a:t>
            </a:r>
            <a:endParaRPr lang="en-US" sz="2000" dirty="0">
              <a:latin typeface="+mn-ea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6A0BDCF-99B7-D895-E5E8-229410ADB7DC}"/>
              </a:ext>
            </a:extLst>
          </p:cNvPr>
          <p:cNvSpPr/>
          <p:nvPr/>
        </p:nvSpPr>
        <p:spPr>
          <a:xfrm>
            <a:off x="575786" y="2324117"/>
            <a:ext cx="3058983" cy="1457308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9B993D8-64D0-9491-F908-6FF5BF878843}"/>
              </a:ext>
            </a:extLst>
          </p:cNvPr>
          <p:cNvSpPr/>
          <p:nvPr/>
        </p:nvSpPr>
        <p:spPr>
          <a:xfrm>
            <a:off x="697871" y="2485470"/>
            <a:ext cx="370800" cy="370800"/>
          </a:xfrm>
          <a:prstGeom prst="roundRect">
            <a:avLst>
              <a:gd name="adj" fmla="val 118519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AA01B2FB-366E-06E8-BB72-83B766F6E7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784370" y="2607482"/>
            <a:ext cx="166868" cy="16840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18E1313C-E7ED-57C3-9106-CD458024AF3E}"/>
              </a:ext>
            </a:extLst>
          </p:cNvPr>
          <p:cNvSpPr txBox="1"/>
          <p:nvPr/>
        </p:nvSpPr>
        <p:spPr>
          <a:xfrm>
            <a:off x="1102062" y="2595379"/>
            <a:ext cx="1507788" cy="180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강의 개설 및 운영</a:t>
            </a:r>
            <a:endParaRPr lang="en-US" sz="1400" dirty="0">
              <a:latin typeface="+mn-ea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4E7D8A6-87C8-AA42-F06A-83FBB21DE7FA}"/>
              </a:ext>
            </a:extLst>
          </p:cNvPr>
          <p:cNvSpPr txBox="1"/>
          <p:nvPr/>
        </p:nvSpPr>
        <p:spPr>
          <a:xfrm>
            <a:off x="717782" y="2985618"/>
            <a:ext cx="2841573" cy="37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강의 기간 설정, 참여 학생 수 제한, 수업에 사용할 AI 모델(GPT-4o, Claude 3.5 등)을 직접 선택하고 관리합니다.</a:t>
            </a:r>
            <a:endParaRPr lang="en-US" sz="900" dirty="0">
              <a:latin typeface="+mn-ea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4BA0CBC-33E5-1F0D-91C2-D0DD2D39F3BE}"/>
              </a:ext>
            </a:extLst>
          </p:cNvPr>
          <p:cNvSpPr/>
          <p:nvPr/>
        </p:nvSpPr>
        <p:spPr>
          <a:xfrm>
            <a:off x="3767947" y="2324117"/>
            <a:ext cx="3058983" cy="1475594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3AF73775-9B6B-ECD4-1758-C7C780E097D2}"/>
              </a:ext>
            </a:extLst>
          </p:cNvPr>
          <p:cNvSpPr/>
          <p:nvPr/>
        </p:nvSpPr>
        <p:spPr>
          <a:xfrm>
            <a:off x="3867823" y="2502604"/>
            <a:ext cx="370800" cy="369573"/>
          </a:xfrm>
          <a:prstGeom prst="roundRect">
            <a:avLst>
              <a:gd name="adj" fmla="val 118519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B2E3F6AB-E6D1-2F40-9122-60620720C5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3971336" y="2602289"/>
            <a:ext cx="166868" cy="168400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E479368E-7FE0-CF16-EE0B-B64167D5A5DF}"/>
              </a:ext>
            </a:extLst>
          </p:cNvPr>
          <p:cNvSpPr txBox="1"/>
          <p:nvPr/>
        </p:nvSpPr>
        <p:spPr>
          <a:xfrm>
            <a:off x="4294220" y="2595379"/>
            <a:ext cx="1507788" cy="180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학생 초대 및 관리</a:t>
            </a:r>
            <a:endParaRPr lang="en-US" sz="1400" dirty="0">
              <a:latin typeface="+mn-ea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97CF6288-54A9-EFDF-B85B-D2D475B448A2}"/>
              </a:ext>
            </a:extLst>
          </p:cNvPr>
          <p:cNvSpPr txBox="1"/>
          <p:nvPr/>
        </p:nvSpPr>
        <p:spPr>
          <a:xfrm>
            <a:off x="3909945" y="2985618"/>
            <a:ext cx="2841573" cy="37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초대 코드 및 링크를 발급하여 학생을 등록하고, 개별 학생의 학습 진도와 이력을 실시간으로 조회합니다.</a:t>
            </a:r>
            <a:endParaRPr lang="en-US" sz="900" dirty="0">
              <a:latin typeface="+mn-ea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07D58FFA-39E1-7EF7-FA81-529C4E71BDEB}"/>
              </a:ext>
            </a:extLst>
          </p:cNvPr>
          <p:cNvSpPr/>
          <p:nvPr/>
        </p:nvSpPr>
        <p:spPr>
          <a:xfrm>
            <a:off x="6964113" y="2325192"/>
            <a:ext cx="3058983" cy="1474518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108B9CA4-94D8-4839-78F4-B89514AB1E52}"/>
              </a:ext>
            </a:extLst>
          </p:cNvPr>
          <p:cNvSpPr/>
          <p:nvPr/>
        </p:nvSpPr>
        <p:spPr>
          <a:xfrm>
            <a:off x="7082485" y="2502604"/>
            <a:ext cx="370800" cy="370800"/>
          </a:xfrm>
          <a:prstGeom prst="roundRect">
            <a:avLst>
              <a:gd name="adj" fmla="val 118519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0C411299-F0B7-1CF6-94C5-2D5E488C51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7212767" y="2602289"/>
            <a:ext cx="100281" cy="168400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98B57428-BD4F-6F98-6B8F-23F9D1766C58}"/>
              </a:ext>
            </a:extLst>
          </p:cNvPr>
          <p:cNvSpPr txBox="1"/>
          <p:nvPr/>
        </p:nvSpPr>
        <p:spPr>
          <a:xfrm>
            <a:off x="7486371" y="2595379"/>
            <a:ext cx="1234645" cy="180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학습 자료 제공</a:t>
            </a:r>
            <a:endParaRPr lang="en-US" sz="1400" dirty="0">
              <a:latin typeface="+mn-ea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D90DBC5-4ED3-0472-11C7-371C714AFE13}"/>
              </a:ext>
            </a:extLst>
          </p:cNvPr>
          <p:cNvSpPr txBox="1"/>
          <p:nvPr/>
        </p:nvSpPr>
        <p:spPr>
          <a:xfrm>
            <a:off x="7102101" y="2985618"/>
            <a:ext cx="2841573" cy="37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수업에 필요한 맞춤형 에이전트, 프롬프트 템플릿, </a:t>
            </a:r>
          </a:p>
          <a:p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Few-shot 예시 세트를 구성하여 학생들에게 공유합니다.</a:t>
            </a:r>
            <a:endParaRPr lang="en-US" sz="900" dirty="0">
              <a:latin typeface="+mn-ea"/>
            </a:endParaRP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FC18926-7F3D-290C-36E1-ED032D5B2F61}"/>
              </a:ext>
            </a:extLst>
          </p:cNvPr>
          <p:cNvSpPr/>
          <p:nvPr/>
        </p:nvSpPr>
        <p:spPr>
          <a:xfrm>
            <a:off x="584521" y="3990289"/>
            <a:ext cx="3060000" cy="14580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5AEBC841-F9EA-4C3F-51E2-0BDFD31D717F}"/>
              </a:ext>
            </a:extLst>
          </p:cNvPr>
          <p:cNvSpPr/>
          <p:nvPr/>
        </p:nvSpPr>
        <p:spPr>
          <a:xfrm>
            <a:off x="682599" y="4163740"/>
            <a:ext cx="370800" cy="370800"/>
          </a:xfrm>
          <a:prstGeom prst="roundRect">
            <a:avLst>
              <a:gd name="adj" fmla="val 118519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D7B06830-1943-B8C7-A4DA-606D2F4F6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956" y="4273654"/>
            <a:ext cx="133976" cy="168400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A39719A7-962B-0942-5DF6-25130B96BF41}"/>
              </a:ext>
            </a:extLst>
          </p:cNvPr>
          <p:cNvSpPr txBox="1"/>
          <p:nvPr/>
        </p:nvSpPr>
        <p:spPr>
          <a:xfrm>
            <a:off x="1110796" y="4262561"/>
            <a:ext cx="1443907" cy="180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MCP 구성 및 배포</a:t>
            </a:r>
            <a:endParaRPr lang="en-US" sz="1400" dirty="0">
              <a:latin typeface="+mn-ea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00FEDA91-65A8-CFD3-2831-90064813140E}"/>
              </a:ext>
            </a:extLst>
          </p:cNvPr>
          <p:cNvSpPr txBox="1"/>
          <p:nvPr/>
        </p:nvSpPr>
        <p:spPr>
          <a:xfrm>
            <a:off x="726517" y="4651794"/>
            <a:ext cx="2048148" cy="37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외부 도구(검색, 계산기 등) 조합을 생성하고 학생 실습 환경에 배포합니다.</a:t>
            </a:r>
            <a:endParaRPr lang="en-US" sz="900" dirty="0">
              <a:latin typeface="+mn-ea"/>
            </a:endParaRPr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1E1828F3-E9BB-F19B-C9D1-96F8083FD435}"/>
              </a:ext>
            </a:extLst>
          </p:cNvPr>
          <p:cNvSpPr/>
          <p:nvPr/>
        </p:nvSpPr>
        <p:spPr>
          <a:xfrm>
            <a:off x="3886592" y="4261183"/>
            <a:ext cx="370800" cy="370800"/>
          </a:xfrm>
          <a:prstGeom prst="roundRect">
            <a:avLst>
              <a:gd name="adj" fmla="val 118519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D3C915E7-3A9B-C6C0-CFC3-9BBBDE718F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3976534" y="4353264"/>
            <a:ext cx="166868" cy="168400"/>
          </a:xfrm>
          <a:prstGeom prst="rect">
            <a:avLst/>
          </a:prstGeom>
        </p:spPr>
      </p:pic>
      <p:sp>
        <p:nvSpPr>
          <p:cNvPr id="32" name="Text 24">
            <a:extLst>
              <a:ext uri="{FF2B5EF4-FFF2-40B4-BE49-F238E27FC236}">
                <a16:creationId xmlns:a16="http://schemas.microsoft.com/office/drawing/2014/main" id="{5281D74E-465F-A81A-AE9D-DDDCA2AEDCD3}"/>
              </a:ext>
            </a:extLst>
          </p:cNvPr>
          <p:cNvSpPr txBox="1"/>
          <p:nvPr/>
        </p:nvSpPr>
        <p:spPr>
          <a:xfrm>
            <a:off x="4294223" y="4342169"/>
            <a:ext cx="1131115" cy="180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에이전트 설계</a:t>
            </a:r>
            <a:endParaRPr lang="en-US" sz="1400" dirty="0">
              <a:latin typeface="+mn-ea"/>
            </a:endParaRPr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C98AA0EC-6C98-3191-DF5F-A8F8E7938C1A}"/>
              </a:ext>
            </a:extLst>
          </p:cNvPr>
          <p:cNvSpPr txBox="1"/>
          <p:nvPr/>
        </p:nvSpPr>
        <p:spPr>
          <a:xfrm>
            <a:off x="3909941" y="4731403"/>
            <a:ext cx="2048148" cy="37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노드 기반 워크플로우를 직접 설계하고 커스텀 에이전트를 클래스에 배포합니다.</a:t>
            </a:r>
            <a:endParaRPr lang="en-US" sz="900" dirty="0">
              <a:latin typeface="+mn-ea"/>
            </a:endParaRPr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E0042F15-05F2-B99A-D4C8-7D955747E4F2}"/>
              </a:ext>
            </a:extLst>
          </p:cNvPr>
          <p:cNvSpPr/>
          <p:nvPr/>
        </p:nvSpPr>
        <p:spPr>
          <a:xfrm>
            <a:off x="7073166" y="4248384"/>
            <a:ext cx="370800" cy="370800"/>
          </a:xfrm>
          <a:prstGeom prst="roundRect">
            <a:avLst>
              <a:gd name="adj" fmla="val 118519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36" name="Image 6" descr="preencoded.png">
            <a:extLst>
              <a:ext uri="{FF2B5EF4-FFF2-40B4-BE49-F238E27FC236}">
                <a16:creationId xmlns:a16="http://schemas.microsoft.com/office/drawing/2014/main" id="{94154A33-F106-D227-C461-2E850E6C415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7181516" y="4353264"/>
            <a:ext cx="150824" cy="168400"/>
          </a:xfrm>
          <a:prstGeom prst="rect">
            <a:avLst/>
          </a:prstGeom>
        </p:spPr>
      </p:pic>
      <p:sp>
        <p:nvSpPr>
          <p:cNvPr id="37" name="Text 28">
            <a:extLst>
              <a:ext uri="{FF2B5EF4-FFF2-40B4-BE49-F238E27FC236}">
                <a16:creationId xmlns:a16="http://schemas.microsoft.com/office/drawing/2014/main" id="{12DDA553-6B3E-8ABA-EF18-B3A90EFAB322}"/>
              </a:ext>
            </a:extLst>
          </p:cNvPr>
          <p:cNvSpPr txBox="1"/>
          <p:nvPr/>
        </p:nvSpPr>
        <p:spPr>
          <a:xfrm>
            <a:off x="7491188" y="4342169"/>
            <a:ext cx="1302930" cy="180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사용량 모니터링</a:t>
            </a:r>
            <a:endParaRPr lang="en-US" sz="1400" dirty="0">
              <a:latin typeface="+mn-ea"/>
            </a:endParaRPr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27C5A303-A9E5-D0F2-7F20-D4D94CA6CE32}"/>
              </a:ext>
            </a:extLst>
          </p:cNvPr>
          <p:cNvSpPr txBox="1"/>
          <p:nvPr/>
        </p:nvSpPr>
        <p:spPr>
          <a:xfrm>
            <a:off x="7106907" y="4731403"/>
            <a:ext cx="2048148" cy="37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AI 모델별 토큰 사용량과 학생별 활동 리포트를 시각화된 차트로 확인합니다.</a:t>
            </a:r>
            <a:endParaRPr lang="en-US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934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50872" y="1156594"/>
            <a:ext cx="9626918" cy="64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F172A"/>
                </a:solidFill>
                <a:latin typeface="+mn-ea"/>
                <a:cs typeface="Calibri" pitchFamily="34" charset="-120"/>
              </a:rPr>
              <a:t>화면 구성 한눈에 보기</a:t>
            </a:r>
            <a:endParaRPr lang="en-US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17" y="2017668"/>
            <a:ext cx="9626918" cy="37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475569"/>
                </a:solidFill>
                <a:latin typeface="+mn-ea"/>
                <a:cs typeface="Calibri" pitchFamily="34" charset="-120"/>
              </a:rPr>
              <a:t>GrowFit 플랫폼은 세 가지 영역으로 구성되어 있습니다.</a:t>
            </a:r>
            <a:endParaRPr lang="en-US" sz="1100" dirty="0">
              <a:latin typeface="+mn-ea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534827" y="2676590"/>
            <a:ext cx="4064699" cy="94129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sz="2106">
              <a:latin typeface="+mn-ea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534827" y="2676590"/>
            <a:ext cx="64179" cy="941299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 sz="2106">
              <a:latin typeface="+mn-ea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748759" y="2869129"/>
            <a:ext cx="534829" cy="534829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 sz="2106">
              <a:latin typeface="+mn-ea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748759" y="2869129"/>
            <a:ext cx="534829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38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①</a:t>
            </a:r>
            <a:endParaRPr lang="en-US" sz="1638" dirty="0">
              <a:latin typeface="+mn-ea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1433341" y="2730073"/>
            <a:ext cx="2995041" cy="32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4" b="1" dirty="0">
                <a:solidFill>
                  <a:srgbClr val="0F172A"/>
                </a:solidFill>
                <a:latin typeface="+mn-ea"/>
                <a:cs typeface="Calibri" pitchFamily="34" charset="-120"/>
              </a:rPr>
              <a:t>사이드바 (좌측)</a:t>
            </a:r>
            <a:endParaRPr lang="en-US" sz="1404" dirty="0">
              <a:latin typeface="+mn-ea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534827" y="3746248"/>
            <a:ext cx="4064699" cy="94129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sz="2106">
              <a:latin typeface="+mn-ea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534827" y="3746248"/>
            <a:ext cx="64179" cy="94129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 sz="2106">
              <a:latin typeface="+mn-ea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748759" y="3938786"/>
            <a:ext cx="534829" cy="534829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 sz="2106">
              <a:latin typeface="+mn-ea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748759" y="3938786"/>
            <a:ext cx="534829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38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②</a:t>
            </a:r>
            <a:endParaRPr lang="en-US" sz="1638" dirty="0">
              <a:latin typeface="+mn-ea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1444036" y="3799730"/>
            <a:ext cx="2995041" cy="32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4" b="1" dirty="0">
                <a:solidFill>
                  <a:srgbClr val="0F172A"/>
                </a:solidFill>
                <a:latin typeface="+mn-ea"/>
                <a:cs typeface="Calibri" pitchFamily="34" charset="-120"/>
              </a:rPr>
              <a:t>메인 영역 (중앙)</a:t>
            </a:r>
            <a:endParaRPr lang="en-US" sz="1404" dirty="0">
              <a:latin typeface="+mn-ea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534827" y="4815905"/>
            <a:ext cx="4064699" cy="94129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sz="2106">
              <a:latin typeface="+mn-ea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534827" y="4815905"/>
            <a:ext cx="64179" cy="941299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 sz="2106">
              <a:latin typeface="+mn-ea"/>
            </a:endParaRPr>
          </a:p>
        </p:txBody>
      </p:sp>
      <p:sp>
        <p:nvSpPr>
          <p:cNvPr id="52" name="Shape 48"/>
          <p:cNvSpPr/>
          <p:nvPr/>
        </p:nvSpPr>
        <p:spPr>
          <a:xfrm>
            <a:off x="748759" y="5008444"/>
            <a:ext cx="534829" cy="534829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 sz="2106">
              <a:latin typeface="+mn-ea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748759" y="5008444"/>
            <a:ext cx="534829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38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③</a:t>
            </a:r>
            <a:endParaRPr lang="en-US" sz="1638" dirty="0">
              <a:latin typeface="+mn-ea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1444036" y="4874736"/>
            <a:ext cx="2995041" cy="32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4" b="1" dirty="0">
                <a:solidFill>
                  <a:srgbClr val="0F172A"/>
                </a:solidFill>
                <a:latin typeface="+mn-ea"/>
                <a:cs typeface="Calibri" pitchFamily="34" charset="-120"/>
              </a:rPr>
              <a:t>상단 메뉴</a:t>
            </a:r>
            <a:endParaRPr lang="en-US" sz="1404" dirty="0">
              <a:latin typeface="+mn-ea"/>
            </a:endParaRPr>
          </a:p>
        </p:txBody>
      </p:sp>
      <p:sp>
        <p:nvSpPr>
          <p:cNvPr id="58" name="Shape 0">
            <a:extLst>
              <a:ext uri="{FF2B5EF4-FFF2-40B4-BE49-F238E27FC236}">
                <a16:creationId xmlns:a16="http://schemas.microsoft.com/office/drawing/2014/main" id="{5C895FE5-7340-72C7-B9EA-0DD1879EE851}"/>
              </a:ext>
            </a:extLst>
          </p:cNvPr>
          <p:cNvSpPr/>
          <p:nvPr/>
        </p:nvSpPr>
        <p:spPr>
          <a:xfrm>
            <a:off x="365610" y="1049628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12D35B-E372-B414-899C-8671625FADA6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C4DF65-B464-56D5-7922-E1E1B4A0752A}"/>
              </a:ext>
            </a:extLst>
          </p:cNvPr>
          <p:cNvSpPr txBox="1"/>
          <p:nvPr/>
        </p:nvSpPr>
        <p:spPr>
          <a:xfrm>
            <a:off x="5348793" y="483835"/>
            <a:ext cx="4956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solidFill>
                  <a:srgbClr val="64748B"/>
                </a:solidFill>
                <a:latin typeface="+mn-ea"/>
              </a:rPr>
              <a:t>Part 2. </a:t>
            </a:r>
            <a:r>
              <a:rPr lang="ko-KR" altLang="en-US" sz="1400" dirty="0">
                <a:solidFill>
                  <a:srgbClr val="64748B"/>
                </a:solidFill>
                <a:latin typeface="+mn-ea"/>
              </a:rPr>
              <a:t>강사 모드 개요 </a:t>
            </a:r>
            <a:r>
              <a:rPr lang="en-US" altLang="ko-KR" sz="1400" dirty="0">
                <a:solidFill>
                  <a:srgbClr val="64748B"/>
                </a:solidFill>
                <a:latin typeface="+mn-ea"/>
              </a:rPr>
              <a:t>&gt; </a:t>
            </a:r>
            <a:r>
              <a:rPr lang="ko-KR" altLang="en-US" sz="1400" dirty="0">
                <a:solidFill>
                  <a:srgbClr val="64748B"/>
                </a:solidFill>
                <a:latin typeface="+mn-ea"/>
              </a:rPr>
              <a:t>화면 구성 </a:t>
            </a:r>
            <a:r>
              <a:rPr lang="en-US" altLang="ko-KR" sz="1400" dirty="0">
                <a:solidFill>
                  <a:srgbClr val="64748B"/>
                </a:solidFill>
                <a:latin typeface="+mn-ea"/>
              </a:rPr>
              <a:t>&amp; </a:t>
            </a:r>
            <a:r>
              <a:rPr lang="ko-KR" altLang="en-US" sz="1400" dirty="0">
                <a:solidFill>
                  <a:srgbClr val="64748B"/>
                </a:solidFill>
                <a:latin typeface="+mn-ea"/>
              </a:rPr>
              <a:t>메뉴 안내</a:t>
            </a:r>
            <a:endParaRPr lang="ko-KR" altLang="en-US" sz="1400" dirty="0">
              <a:latin typeface="+mn-ea"/>
            </a:endParaRPr>
          </a:p>
        </p:txBody>
      </p:sp>
      <p:sp>
        <p:nvSpPr>
          <p:cNvPr id="61" name="Text 61">
            <a:extLst>
              <a:ext uri="{FF2B5EF4-FFF2-40B4-BE49-F238E27FC236}">
                <a16:creationId xmlns:a16="http://schemas.microsoft.com/office/drawing/2014/main" id="{722B6957-DE95-97A2-4E3D-5B276DC2C07B}"/>
              </a:ext>
            </a:extLst>
          </p:cNvPr>
          <p:cNvSpPr/>
          <p:nvPr/>
        </p:nvSpPr>
        <p:spPr>
          <a:xfrm>
            <a:off x="1454731" y="3223816"/>
            <a:ext cx="3080615" cy="21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94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Calibri" pitchFamily="34" charset="-120"/>
              </a:rPr>
              <a:t>• 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강의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운영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,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교육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콘텐츠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관리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,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시스템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설정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등    </a:t>
            </a: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 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주요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메뉴로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이동하는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네비게이션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영역입니다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.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sz="994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7A3FDB08-9257-6537-5BC5-0AA3A6D4D8CB}"/>
              </a:ext>
            </a:extLst>
          </p:cNvPr>
          <p:cNvSpPr/>
          <p:nvPr/>
        </p:nvSpPr>
        <p:spPr>
          <a:xfrm>
            <a:off x="1454732" y="3218567"/>
            <a:ext cx="2781110" cy="192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94" dirty="0">
              <a:latin typeface="+mn-ea"/>
            </a:endParaRPr>
          </a:p>
        </p:txBody>
      </p:sp>
      <p:sp>
        <p:nvSpPr>
          <p:cNvPr id="64" name="Text 69">
            <a:extLst>
              <a:ext uri="{FF2B5EF4-FFF2-40B4-BE49-F238E27FC236}">
                <a16:creationId xmlns:a16="http://schemas.microsoft.com/office/drawing/2014/main" id="{468E67D3-7B36-B409-9ED5-ACD6009E3618}"/>
              </a:ext>
            </a:extLst>
          </p:cNvPr>
          <p:cNvSpPr/>
          <p:nvPr/>
        </p:nvSpPr>
        <p:spPr>
          <a:xfrm>
            <a:off x="1454732" y="4210550"/>
            <a:ext cx="2781110" cy="192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94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Calibri" pitchFamily="34" charset="-120"/>
              </a:rPr>
              <a:t>•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선택한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메뉴의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상세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기능이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실행되는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주요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작업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공간입니다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.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sz="994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5" name="Text 70">
            <a:extLst>
              <a:ext uri="{FF2B5EF4-FFF2-40B4-BE49-F238E27FC236}">
                <a16:creationId xmlns:a16="http://schemas.microsoft.com/office/drawing/2014/main" id="{A0868B46-4586-BBC1-3E72-A17AD4C92191}"/>
              </a:ext>
            </a:extLst>
          </p:cNvPr>
          <p:cNvSpPr/>
          <p:nvPr/>
        </p:nvSpPr>
        <p:spPr>
          <a:xfrm>
            <a:off x="1454732" y="4424815"/>
            <a:ext cx="2781110" cy="192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Calibri" pitchFamily="34" charset="-120"/>
              </a:rPr>
              <a:t>•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각종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통계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및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설정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화면이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Noto Sans KR" pitchFamily="34" charset="-120"/>
              </a:rPr>
              <a:t>표시됩니다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7" name="Text 77">
            <a:extLst>
              <a:ext uri="{FF2B5EF4-FFF2-40B4-BE49-F238E27FC236}">
                <a16:creationId xmlns:a16="http://schemas.microsoft.com/office/drawing/2014/main" id="{B0E76A0D-B7F8-FAF7-B3D6-7733125E2DC4}"/>
              </a:ext>
            </a:extLst>
          </p:cNvPr>
          <p:cNvSpPr/>
          <p:nvPr/>
        </p:nvSpPr>
        <p:spPr>
          <a:xfrm>
            <a:off x="1444036" y="5195633"/>
            <a:ext cx="2781110" cy="192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94" dirty="0">
                <a:solidFill>
                  <a:srgbClr val="475569"/>
                </a:solidFill>
                <a:latin typeface="+mn-ea"/>
                <a:cs typeface="Calibri" pitchFamily="34" charset="-120"/>
              </a:rPr>
              <a:t>•  </a:t>
            </a:r>
            <a:r>
              <a:rPr lang="ko-KR" altLang="en-US" sz="994" dirty="0">
                <a:solidFill>
                  <a:srgbClr val="475569"/>
                </a:solidFill>
                <a:latin typeface="+mn-ea"/>
                <a:cs typeface="Calibri" pitchFamily="34" charset="-120"/>
              </a:rPr>
              <a:t>각 메뉴 해당 버튼</a:t>
            </a:r>
            <a:r>
              <a:rPr lang="en-US" sz="994" dirty="0">
                <a:solidFill>
                  <a:srgbClr val="475569"/>
                </a:solidFill>
                <a:latin typeface="+mn-ea"/>
                <a:cs typeface="Calibri" pitchFamily="34" charset="-120"/>
              </a:rPr>
              <a:t>  </a:t>
            </a:r>
            <a:endParaRPr lang="en-US" sz="994" dirty="0">
              <a:latin typeface="+mn-ea"/>
            </a:endParaRPr>
          </a:p>
        </p:txBody>
      </p:sp>
      <p:sp>
        <p:nvSpPr>
          <p:cNvPr id="68" name="Text 78">
            <a:extLst>
              <a:ext uri="{FF2B5EF4-FFF2-40B4-BE49-F238E27FC236}">
                <a16:creationId xmlns:a16="http://schemas.microsoft.com/office/drawing/2014/main" id="{0F4FF6C3-50A8-F970-CE62-4AFA072B4627}"/>
              </a:ext>
            </a:extLst>
          </p:cNvPr>
          <p:cNvSpPr/>
          <p:nvPr/>
        </p:nvSpPr>
        <p:spPr>
          <a:xfrm>
            <a:off x="1444036" y="5398867"/>
            <a:ext cx="2781110" cy="192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94" dirty="0">
              <a:latin typeface="+mn-ea"/>
            </a:endParaRPr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5AF28D90-A00B-DD31-8D2C-32C61FB04F2E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t="-400" b="-400"/>
          <a:stretch/>
        </p:blipFill>
        <p:spPr>
          <a:xfrm>
            <a:off x="552592" y="1764288"/>
            <a:ext cx="576000" cy="36000"/>
          </a:xfrm>
          <a:prstGeom prst="rect">
            <a:avLst/>
          </a:prstGeom>
        </p:spPr>
      </p:pic>
      <p:sp>
        <p:nvSpPr>
          <p:cNvPr id="3" name="Text 77">
            <a:extLst>
              <a:ext uri="{FF2B5EF4-FFF2-40B4-BE49-F238E27FC236}">
                <a16:creationId xmlns:a16="http://schemas.microsoft.com/office/drawing/2014/main" id="{B4CF1B13-B01B-7D74-E525-5507704CFE04}"/>
              </a:ext>
            </a:extLst>
          </p:cNvPr>
          <p:cNvSpPr/>
          <p:nvPr/>
        </p:nvSpPr>
        <p:spPr>
          <a:xfrm>
            <a:off x="1454731" y="5423596"/>
            <a:ext cx="2781110" cy="192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94" dirty="0">
                <a:solidFill>
                  <a:srgbClr val="475569"/>
                </a:solidFill>
                <a:latin typeface="+mn-ea"/>
                <a:cs typeface="Calibri" pitchFamily="34" charset="-120"/>
              </a:rPr>
              <a:t>•  </a:t>
            </a:r>
            <a:r>
              <a:rPr lang="ko-KR" altLang="en-US" sz="994" dirty="0">
                <a:solidFill>
                  <a:srgbClr val="475569"/>
                </a:solidFill>
                <a:latin typeface="+mn-ea"/>
                <a:cs typeface="Calibri" pitchFamily="34" charset="-120"/>
              </a:rPr>
              <a:t>해당 메뉴의 카테고리 표시됩니다</a:t>
            </a:r>
            <a:r>
              <a:rPr lang="en-US" altLang="ko-KR" sz="994" dirty="0">
                <a:solidFill>
                  <a:srgbClr val="475569"/>
                </a:solidFill>
                <a:latin typeface="+mn-ea"/>
                <a:cs typeface="Calibri" pitchFamily="34" charset="-120"/>
              </a:rPr>
              <a:t>.</a:t>
            </a:r>
            <a:r>
              <a:rPr lang="ko-KR" altLang="en-US" sz="994" dirty="0">
                <a:solidFill>
                  <a:srgbClr val="475569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994" dirty="0">
                <a:solidFill>
                  <a:srgbClr val="475569"/>
                </a:solidFill>
                <a:latin typeface="+mn-ea"/>
                <a:cs typeface="Calibri" pitchFamily="34" charset="-120"/>
              </a:rPr>
              <a:t>  </a:t>
            </a:r>
            <a:endParaRPr lang="en-US" sz="994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2C7AB67-B276-5412-950D-7AACAFA0E47D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981575" y="2516365"/>
            <a:ext cx="5212260" cy="3463328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25378E20-6D9D-2FC9-ABAB-A9E8A620391B}"/>
              </a:ext>
            </a:extLst>
          </p:cNvPr>
          <p:cNvGrpSpPr/>
          <p:nvPr/>
        </p:nvGrpSpPr>
        <p:grpSpPr>
          <a:xfrm>
            <a:off x="5808794" y="3464245"/>
            <a:ext cx="219456" cy="219456"/>
            <a:chOff x="5099154" y="6564111"/>
            <a:chExt cx="219456" cy="219456"/>
          </a:xfrm>
        </p:grpSpPr>
        <p:sp>
          <p:nvSpPr>
            <p:cNvPr id="75" name="Shape 43">
              <a:extLst>
                <a:ext uri="{FF2B5EF4-FFF2-40B4-BE49-F238E27FC236}">
                  <a16:creationId xmlns:a16="http://schemas.microsoft.com/office/drawing/2014/main" id="{32C0E18C-691A-BE95-2C03-D6A8E071B590}"/>
                </a:ext>
              </a:extLst>
            </p:cNvPr>
            <p:cNvSpPr/>
            <p:nvPr/>
          </p:nvSpPr>
          <p:spPr>
            <a:xfrm>
              <a:off x="5099154" y="6564111"/>
              <a:ext cx="219456" cy="219456"/>
            </a:xfrm>
            <a:prstGeom prst="ellipse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76" name="Text 44">
              <a:extLst>
                <a:ext uri="{FF2B5EF4-FFF2-40B4-BE49-F238E27FC236}">
                  <a16:creationId xmlns:a16="http://schemas.microsoft.com/office/drawing/2014/main" id="{12C42756-F093-4535-0447-0AFBE57343EF}"/>
                </a:ext>
              </a:extLst>
            </p:cNvPr>
            <p:cNvSpPr/>
            <p:nvPr/>
          </p:nvSpPr>
          <p:spPr>
            <a:xfrm>
              <a:off x="5099154" y="6564111"/>
              <a:ext cx="21945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+mn-ea"/>
                  <a:cs typeface="Calibri" pitchFamily="34" charset="-120"/>
                </a:rPr>
                <a:t>①</a:t>
              </a:r>
              <a:endParaRPr lang="en-US" sz="800" dirty="0">
                <a:latin typeface="+mn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23F68EE-4A07-13F5-DEBD-F5B779B514A7}"/>
              </a:ext>
            </a:extLst>
          </p:cNvPr>
          <p:cNvGrpSpPr/>
          <p:nvPr/>
        </p:nvGrpSpPr>
        <p:grpSpPr>
          <a:xfrm>
            <a:off x="6490058" y="2952706"/>
            <a:ext cx="219456" cy="219456"/>
            <a:chOff x="7822692" y="2905604"/>
            <a:chExt cx="219456" cy="219456"/>
          </a:xfrm>
        </p:grpSpPr>
        <p:sp>
          <p:nvSpPr>
            <p:cNvPr id="79" name="Shape 54">
              <a:extLst>
                <a:ext uri="{FF2B5EF4-FFF2-40B4-BE49-F238E27FC236}">
                  <a16:creationId xmlns:a16="http://schemas.microsoft.com/office/drawing/2014/main" id="{1E8B69E8-ED22-3F5A-6B12-9ED13B006A81}"/>
                </a:ext>
              </a:extLst>
            </p:cNvPr>
            <p:cNvSpPr/>
            <p:nvPr/>
          </p:nvSpPr>
          <p:spPr>
            <a:xfrm>
              <a:off x="7822692" y="2905604"/>
              <a:ext cx="219456" cy="219456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80" name="Text 55">
              <a:extLst>
                <a:ext uri="{FF2B5EF4-FFF2-40B4-BE49-F238E27FC236}">
                  <a16:creationId xmlns:a16="http://schemas.microsoft.com/office/drawing/2014/main" id="{E5B2F6EC-EF97-71A5-45D7-25BDA1DED436}"/>
                </a:ext>
              </a:extLst>
            </p:cNvPr>
            <p:cNvSpPr/>
            <p:nvPr/>
          </p:nvSpPr>
          <p:spPr>
            <a:xfrm>
              <a:off x="7822692" y="2905604"/>
              <a:ext cx="21945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+mn-ea"/>
                  <a:cs typeface="Calibri" pitchFamily="34" charset="-120"/>
                </a:rPr>
                <a:t>②</a:t>
              </a:r>
              <a:endParaRPr lang="en-US" sz="800" dirty="0">
                <a:latin typeface="+mn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8910821-4A2D-C735-32EE-E5E967E878E9}"/>
              </a:ext>
            </a:extLst>
          </p:cNvPr>
          <p:cNvGrpSpPr/>
          <p:nvPr/>
        </p:nvGrpSpPr>
        <p:grpSpPr>
          <a:xfrm>
            <a:off x="7587705" y="2553981"/>
            <a:ext cx="219456" cy="238760"/>
            <a:chOff x="6856857" y="2095130"/>
            <a:chExt cx="219456" cy="238760"/>
          </a:xfrm>
        </p:grpSpPr>
        <p:sp>
          <p:nvSpPr>
            <p:cNvPr id="82" name="Shape 12">
              <a:extLst>
                <a:ext uri="{FF2B5EF4-FFF2-40B4-BE49-F238E27FC236}">
                  <a16:creationId xmlns:a16="http://schemas.microsoft.com/office/drawing/2014/main" id="{12F822ED-DA01-CAED-2090-A179B32117BF}"/>
                </a:ext>
              </a:extLst>
            </p:cNvPr>
            <p:cNvSpPr/>
            <p:nvPr/>
          </p:nvSpPr>
          <p:spPr>
            <a:xfrm>
              <a:off x="6856857" y="2095130"/>
              <a:ext cx="219456" cy="219456"/>
            </a:xfrm>
            <a:prstGeom prst="ellipse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83" name="Text 13">
              <a:extLst>
                <a:ext uri="{FF2B5EF4-FFF2-40B4-BE49-F238E27FC236}">
                  <a16:creationId xmlns:a16="http://schemas.microsoft.com/office/drawing/2014/main" id="{6010447D-AA9C-10AA-4D93-597B3BDC7F14}"/>
                </a:ext>
              </a:extLst>
            </p:cNvPr>
            <p:cNvSpPr/>
            <p:nvPr/>
          </p:nvSpPr>
          <p:spPr>
            <a:xfrm>
              <a:off x="6856857" y="2114434"/>
              <a:ext cx="21945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+mn-ea"/>
                  <a:cs typeface="Calibri" pitchFamily="34" charset="-120"/>
                </a:rPr>
                <a:t>③</a:t>
              </a:r>
              <a:endParaRPr lang="en-US" sz="800" dirty="0">
                <a:latin typeface="+mn-ea"/>
              </a:endParaRPr>
            </a:p>
          </p:txBody>
        </p:sp>
      </p:grpSp>
      <p:pic>
        <p:nvPicPr>
          <p:cNvPr id="13" name="Image 5" descr="preencoded.png">
            <a:extLst>
              <a:ext uri="{FF2B5EF4-FFF2-40B4-BE49-F238E27FC236}">
                <a16:creationId xmlns:a16="http://schemas.microsoft.com/office/drawing/2014/main" id="{B2EA7A65-DAA7-6167-692B-5AD1833395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534827" y="5949743"/>
            <a:ext cx="4064699" cy="630240"/>
          </a:xfrm>
          <a:prstGeom prst="rect">
            <a:avLst/>
          </a:prstGeom>
        </p:spPr>
      </p:pic>
      <p:pic>
        <p:nvPicPr>
          <p:cNvPr id="14" name="Image 6" descr="preencoded.png">
            <a:extLst>
              <a:ext uri="{FF2B5EF4-FFF2-40B4-BE49-F238E27FC236}">
                <a16:creationId xmlns:a16="http://schemas.microsoft.com/office/drawing/2014/main" id="{49868BC6-5F1C-6200-0EA5-C29EFD1D2DC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693666" y="6107055"/>
            <a:ext cx="92259" cy="147225"/>
          </a:xfrm>
          <a:prstGeom prst="rect">
            <a:avLst/>
          </a:prstGeom>
        </p:spPr>
      </p:pic>
      <p:sp>
        <p:nvSpPr>
          <p:cNvPr id="15" name="Text 33">
            <a:extLst>
              <a:ext uri="{FF2B5EF4-FFF2-40B4-BE49-F238E27FC236}">
                <a16:creationId xmlns:a16="http://schemas.microsoft.com/office/drawing/2014/main" id="{0B169FAA-9F6C-57B4-87AE-EF3EB05F249E}"/>
              </a:ext>
            </a:extLst>
          </p:cNvPr>
          <p:cNvSpPr txBox="1"/>
          <p:nvPr/>
        </p:nvSpPr>
        <p:spPr>
          <a:xfrm>
            <a:off x="886210" y="6075794"/>
            <a:ext cx="3727259" cy="37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</a:t>
            </a: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</a:t>
            </a: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버튼 안 </a:t>
            </a:r>
            <a:r>
              <a:rPr lang="en-US" sz="900" dirty="0" err="1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</a:t>
            </a: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화면 보기 버튼을 클릭하면 학생 </a:t>
            </a:r>
            <a:r>
              <a:rPr lang="en-US" sz="900" dirty="0" err="1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관점에서</a:t>
            </a: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r>
              <a:rPr lang="en-US" sz="900" dirty="0" err="1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플랫폼이</a:t>
            </a: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</a:t>
            </a: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보이는지 미리 확인할 수 있습니다. </a:t>
            </a:r>
            <a:endParaRPr lang="en-US" sz="900" dirty="0"/>
          </a:p>
        </p:txBody>
      </p:sp>
      <p:sp>
        <p:nvSpPr>
          <p:cNvPr id="16" name="Shape 58">
            <a:extLst>
              <a:ext uri="{FF2B5EF4-FFF2-40B4-BE49-F238E27FC236}">
                <a16:creationId xmlns:a16="http://schemas.microsoft.com/office/drawing/2014/main" id="{6657272D-D6EC-63FA-72F5-CDC8DE61E2AD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17" name="Text 59">
            <a:extLst>
              <a:ext uri="{FF2B5EF4-FFF2-40B4-BE49-F238E27FC236}">
                <a16:creationId xmlns:a16="http://schemas.microsoft.com/office/drawing/2014/main" id="{69DA01FE-F0A7-80E1-77C7-2C63AA4C201A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10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35863" y="-9072"/>
            <a:ext cx="10696412" cy="756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18289" y="-1050736"/>
            <a:ext cx="5014069" cy="6302400"/>
          </a:xfrm>
          <a:prstGeom prst="ellipse">
            <a:avLst/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-1253918" y="3886312"/>
            <a:ext cx="4178123" cy="5251664"/>
          </a:xfrm>
          <a:prstGeom prst="ellips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225079" y="3151202"/>
            <a:ext cx="3151242" cy="315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498" b="1" kern="0" spc="-1125" dirty="0">
                <a:solidFill>
                  <a:srgbClr val="1E293B">
                    <a:alpha val="50000"/>
                  </a:srgbClr>
                </a:solidFill>
                <a:latin typeface="+mn-ea"/>
                <a:cs typeface="Noto Sans KR" pitchFamily="34" charset="-120"/>
              </a:rPr>
              <a:t>03</a:t>
            </a:r>
            <a:endParaRPr lang="en-US" sz="22498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43409" y="390243"/>
            <a:ext cx="9460144" cy="28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27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GrowFit </a:t>
            </a:r>
            <a:r>
              <a:rPr lang="en-US" sz="1100" kern="0" spc="27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en-US" sz="1100" kern="0" spc="27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AI 실습 </a:t>
            </a:r>
            <a:r>
              <a:rPr lang="en-US" sz="1100" kern="0" spc="27" dirty="0" err="1">
                <a:solidFill>
                  <a:srgbClr val="94A3B8"/>
                </a:solidFill>
                <a:latin typeface="+mn-ea"/>
                <a:cs typeface="Noto Sans KR" pitchFamily="34" charset="-120"/>
              </a:rPr>
              <a:t>플랫폼</a:t>
            </a:r>
            <a:r>
              <a:rPr lang="en-US" sz="1100" kern="0" spc="27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100" kern="0" spc="27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강사</a:t>
            </a:r>
            <a:r>
              <a:rPr lang="en-US" sz="1100" kern="0" spc="27" dirty="0" err="1">
                <a:solidFill>
                  <a:srgbClr val="94A3B8"/>
                </a:solidFill>
                <a:latin typeface="+mn-ea"/>
                <a:cs typeface="Noto Sans KR" pitchFamily="34" charset="-120"/>
              </a:rPr>
              <a:t>매뉴얼</a:t>
            </a:r>
            <a:endParaRPr lang="en-US" sz="1100" dirty="0">
              <a:latin typeface="+mn-e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68280" y="1846352"/>
            <a:ext cx="9460144" cy="50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120" dirty="0">
                <a:solidFill>
                  <a:srgbClr val="818CF8"/>
                </a:solidFill>
                <a:latin typeface="+mn-ea"/>
                <a:cs typeface="Noto Sans KR" pitchFamily="34" charset="-120"/>
              </a:rPr>
              <a:t>PART 03</a:t>
            </a:r>
            <a:endParaRPr lang="en-US" sz="2400" dirty="0">
              <a:latin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8280" y="2518943"/>
            <a:ext cx="9627013" cy="746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kern="0" spc="-96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강의 등록 및 관리</a:t>
            </a:r>
            <a:endParaRPr lang="en-US" sz="4800" dirty="0">
              <a:latin typeface="+mn-ea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668278" y="3594896"/>
            <a:ext cx="668275" cy="635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8279" y="6186436"/>
            <a:ext cx="9359863" cy="1008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68277" y="6449625"/>
            <a:ext cx="1371048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BCT ONE Inc.</a:t>
            </a:r>
            <a:endParaRPr lang="en-US" sz="1000" dirty="0">
              <a:latin typeface="+mn-ea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668277" y="6711805"/>
            <a:ext cx="1551555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Learn · Connect · Apply</a:t>
            </a:r>
            <a:endParaRPr lang="en-US" sz="1000" dirty="0">
              <a:latin typeface="+mn-ea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9428863" y="6711805"/>
            <a:ext cx="716410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Version 2.0</a:t>
            </a:r>
            <a:endParaRPr lang="en-US" sz="1000" dirty="0">
              <a:latin typeface="+mn-ea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68278" y="4077906"/>
            <a:ext cx="9435275" cy="7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"강의를 등록·관리하고</a:t>
            </a:r>
            <a:endParaRPr lang="en-US" dirty="0">
              <a:latin typeface="+mn-ea"/>
            </a:endParaRPr>
          </a:p>
          <a:p>
            <a:r>
              <a:rPr lang="en-US" i="1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초대 코드를 발급합니다." </a:t>
            </a:r>
            <a:endParaRPr lang="en-US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9">
            <a:extLst>
              <a:ext uri="{FF2B5EF4-FFF2-40B4-BE49-F238E27FC236}">
                <a16:creationId xmlns:a16="http://schemas.microsoft.com/office/drawing/2014/main" id="{E1435282-99B2-A291-FCE7-66AF0C93A466}"/>
              </a:ext>
            </a:extLst>
          </p:cNvPr>
          <p:cNvSpPr/>
          <p:nvPr/>
        </p:nvSpPr>
        <p:spPr>
          <a:xfrm>
            <a:off x="857748" y="6275997"/>
            <a:ext cx="8908633" cy="557447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1137213" y="1378381"/>
            <a:ext cx="2904509" cy="27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601" b="1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강의 개설 프로세스 (1/2)</a:t>
            </a:r>
            <a:endParaRPr lang="en-US" altLang="ko-KR" sz="1601" dirty="0">
              <a:latin typeface="+mn-ea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32371" y="2136213"/>
            <a:ext cx="4397882" cy="3842040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39806" y="2143647"/>
            <a:ext cx="4382273" cy="98333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39806" y="3119549"/>
            <a:ext cx="4382273" cy="743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025620" y="2298989"/>
            <a:ext cx="247506" cy="247506"/>
          </a:xfrm>
          <a:prstGeom prst="roundRect">
            <a:avLst>
              <a:gd name="adj" fmla="val 75075"/>
            </a:avLst>
          </a:prstGeom>
          <a:solidFill>
            <a:srgbClr val="06B6D4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1111839" y="2329461"/>
            <a:ext cx="170951" cy="18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</a:t>
            </a:r>
            <a:endParaRPr lang="en-US" sz="975" dirty="0">
              <a:latin typeface="+mn-ea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568202" y="2318314"/>
            <a:ext cx="1640031" cy="236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메뉴</a:t>
            </a:r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진입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39806" y="3126985"/>
            <a:ext cx="4382273" cy="285126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63929" y="3251108"/>
            <a:ext cx="4134766" cy="2541545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5376674" y="2128779"/>
            <a:ext cx="4397882" cy="3849473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416069" y="2147993"/>
            <a:ext cx="4226929" cy="98333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5384108" y="3112115"/>
            <a:ext cx="4382273" cy="743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5569922" y="2291554"/>
            <a:ext cx="247506" cy="247506"/>
          </a:xfrm>
          <a:prstGeom prst="roundRect">
            <a:avLst>
              <a:gd name="adj" fmla="val 75075"/>
            </a:avLst>
          </a:prstGeom>
          <a:solidFill>
            <a:srgbClr val="06B6D4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5656141" y="2322027"/>
            <a:ext cx="170951" cy="18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6150411" y="2310880"/>
            <a:ext cx="1815969" cy="191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새 </a:t>
            </a:r>
            <a:r>
              <a:rPr lang="en-US" altLang="ko-KR" sz="1200" b="1" dirty="0" err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강의</a:t>
            </a:r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등록 버튼 클릭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5392284" y="3118086"/>
            <a:ext cx="4382273" cy="286016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5508232" y="3243675"/>
            <a:ext cx="4134766" cy="2548979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49" name="Shape 38"/>
          <p:cNvSpPr/>
          <p:nvPr/>
        </p:nvSpPr>
        <p:spPr>
          <a:xfrm>
            <a:off x="393209" y="994194"/>
            <a:ext cx="9909912" cy="457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53" name="Text 41"/>
          <p:cNvSpPr txBox="1"/>
          <p:nvPr/>
        </p:nvSpPr>
        <p:spPr>
          <a:xfrm>
            <a:off x="6568794" y="523531"/>
            <a:ext cx="3573041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2. 강사 시작하기 &gt; 강의 개설 및 관리</a:t>
            </a:r>
            <a:endParaRPr lang="en-US" altLang="ko-KR" sz="1401" dirty="0">
              <a:latin typeface="+mn-ea"/>
            </a:endParaRPr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140CADA4-23B4-E17C-9F16-682EC7CE5C3E}"/>
              </a:ext>
            </a:extLst>
          </p:cNvPr>
          <p:cNvSpPr/>
          <p:nvPr/>
        </p:nvSpPr>
        <p:spPr>
          <a:xfrm>
            <a:off x="365900" y="1050069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7A426D-1A57-5635-F44D-42C6AFD5979D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847609" y="1415654"/>
            <a:ext cx="232641" cy="185816"/>
          </a:xfrm>
          <a:prstGeom prst="rect">
            <a:avLst/>
          </a:prstGeom>
        </p:spPr>
      </p:pic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5562" y="2331321"/>
            <a:ext cx="170948" cy="170948"/>
          </a:xfrm>
          <a:prstGeom prst="rect">
            <a:avLst/>
          </a:prstGeom>
        </p:spPr>
      </p:pic>
      <p:sp>
        <p:nvSpPr>
          <p:cNvPr id="58" name="Text 13"/>
          <p:cNvSpPr txBox="1"/>
          <p:nvPr/>
        </p:nvSpPr>
        <p:spPr>
          <a:xfrm>
            <a:off x="1050995" y="2654639"/>
            <a:ext cx="4092401" cy="32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+mn-ea"/>
                <a:cs typeface="Noto Sans KR" pitchFamily="34" charset="-120"/>
              </a:rPr>
              <a:t>사이드바에서</a:t>
            </a:r>
            <a:r>
              <a:rPr lang="en-US" sz="1000" dirty="0">
                <a:latin typeface="+mn-ea"/>
                <a:cs typeface="Noto Sans KR" pitchFamily="34" charset="-120"/>
              </a:rPr>
              <a:t> 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en-US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강의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등록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 </a:t>
            </a:r>
            <a:r>
              <a:rPr lang="en-US" sz="1000" dirty="0" err="1">
                <a:latin typeface="+mn-ea"/>
                <a:cs typeface="Noto Sans KR" pitchFamily="34" charset="-120"/>
              </a:rPr>
              <a:t>메뉴를</a:t>
            </a:r>
            <a:r>
              <a:rPr lang="en-US" sz="1000" dirty="0">
                <a:latin typeface="+mn-ea"/>
                <a:cs typeface="Noto Sans KR" pitchFamily="34" charset="-120"/>
              </a:rPr>
              <a:t> </a:t>
            </a:r>
            <a:r>
              <a:rPr lang="ko-KR" altLang="en-US" sz="1000" dirty="0">
                <a:latin typeface="+mn-ea"/>
                <a:cs typeface="Noto Sans KR" pitchFamily="34" charset="-120"/>
              </a:rPr>
              <a:t>클릭하여 강의 목록 페이지로 이동합니다</a:t>
            </a:r>
            <a:r>
              <a:rPr lang="en-US" altLang="ko-KR" sz="1000" dirty="0"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60" name="Text 4"/>
          <p:cNvSpPr txBox="1"/>
          <p:nvPr/>
        </p:nvSpPr>
        <p:spPr>
          <a:xfrm>
            <a:off x="857748" y="1770198"/>
            <a:ext cx="3320357" cy="17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강사 대시보드에서 새로운 강의를 생성하는 과정입니다.</a:t>
            </a:r>
            <a:endParaRPr lang="en-US" sz="1000" dirty="0">
              <a:latin typeface="+mn-ea"/>
            </a:endParaRPr>
          </a:p>
        </p:txBody>
      </p:sp>
      <p:sp>
        <p:nvSpPr>
          <p:cNvPr id="62" name="Shape 30"/>
          <p:cNvSpPr/>
          <p:nvPr/>
        </p:nvSpPr>
        <p:spPr>
          <a:xfrm>
            <a:off x="1272997" y="6373418"/>
            <a:ext cx="278723" cy="278723"/>
          </a:xfrm>
          <a:prstGeom prst="roundRect">
            <a:avLst>
              <a:gd name="adj" fmla="val 59259"/>
            </a:avLst>
          </a:prstGeom>
          <a:solidFill>
            <a:srgbClr val="ECFE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42864" y="6443285"/>
            <a:ext cx="139733" cy="139733"/>
          </a:xfrm>
          <a:prstGeom prst="rect">
            <a:avLst/>
          </a:prstGeom>
        </p:spPr>
      </p:pic>
      <p:sp>
        <p:nvSpPr>
          <p:cNvPr id="64" name="Text 31"/>
          <p:cNvSpPr txBox="1"/>
          <p:nvPr/>
        </p:nvSpPr>
        <p:spPr>
          <a:xfrm>
            <a:off x="1684644" y="6373418"/>
            <a:ext cx="8265568" cy="131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latin typeface="+mn-ea"/>
                <a:cs typeface="Noto Sans KR" pitchFamily="34" charset="-120"/>
              </a:rPr>
              <a:t>강의</a:t>
            </a:r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000" dirty="0">
                <a:latin typeface="+mn-ea"/>
                <a:cs typeface="Noto Sans KR" pitchFamily="34" charset="-120"/>
              </a:rPr>
              <a:t>생성 후에는</a:t>
            </a:r>
            <a:r>
              <a:rPr lang="en-US" sz="1000" b="1" dirty="0">
                <a:latin typeface="+mn-ea"/>
                <a:cs typeface="Noto Sans KR" pitchFamily="34" charset="-120"/>
              </a:rPr>
              <a:t>초대 코드</a:t>
            </a:r>
            <a:r>
              <a:rPr lang="en-US" sz="1000" dirty="0">
                <a:latin typeface="+mn-ea"/>
                <a:cs typeface="Noto Sans KR" pitchFamily="34" charset="-120"/>
              </a:rPr>
              <a:t>가 자동으로 발급되며, 이를 통해 </a:t>
            </a:r>
            <a:r>
              <a:rPr lang="ko-KR" altLang="en-US" sz="1000" dirty="0">
                <a:latin typeface="+mn-ea"/>
                <a:cs typeface="Noto Sans KR" pitchFamily="34" charset="-120"/>
              </a:rPr>
              <a:t>훈련생</a:t>
            </a:r>
            <a:r>
              <a:rPr lang="en-US" sz="1000" dirty="0">
                <a:latin typeface="+mn-ea"/>
                <a:cs typeface="Noto Sans KR" pitchFamily="34" charset="-120"/>
              </a:rPr>
              <a:t>들을 초대할 수 있습니다. 생성된 강의는 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＇강의 관리＇ </a:t>
            </a:r>
            <a:r>
              <a:rPr lang="en-US" sz="1000" dirty="0">
                <a:latin typeface="+mn-ea"/>
                <a:cs typeface="Noto Sans KR" pitchFamily="34" charset="-120"/>
              </a:rPr>
              <a:t>메뉴에서 </a:t>
            </a:r>
          </a:p>
          <a:p>
            <a:r>
              <a:rPr lang="en-US" sz="1000" dirty="0">
                <a:latin typeface="+mn-ea"/>
                <a:cs typeface="Noto Sans KR" pitchFamily="34" charset="-120"/>
              </a:rPr>
              <a:t>언제든지 수정할 수 있습니다</a:t>
            </a:r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65" name="Text 24"/>
          <p:cNvSpPr txBox="1"/>
          <p:nvPr/>
        </p:nvSpPr>
        <p:spPr>
          <a:xfrm>
            <a:off x="5612288" y="2654639"/>
            <a:ext cx="4092401" cy="32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+mn-ea"/>
                <a:cs typeface="Noto Sans KR" pitchFamily="34" charset="-120"/>
              </a:rPr>
              <a:t>강의목록 화면 우측 상단의</a:t>
            </a:r>
            <a:r>
              <a:rPr lang="en-US" sz="1000" dirty="0">
                <a:latin typeface="+mn-ea"/>
                <a:cs typeface="Noto Sans KR" pitchFamily="34" charset="-120"/>
              </a:rPr>
              <a:t> 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ko-KR" alt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새 강의 등록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</a:t>
            </a:r>
            <a:r>
              <a:rPr 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sz="1000" dirty="0">
                <a:latin typeface="+mn-ea"/>
                <a:cs typeface="Noto Sans KR" pitchFamily="34" charset="-120"/>
              </a:rPr>
              <a:t>버튼을 클릭합니다</a:t>
            </a:r>
            <a:r>
              <a:rPr lang="en-US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923362" y="2313127"/>
            <a:ext cx="165358" cy="189142"/>
          </a:xfrm>
          <a:prstGeom prst="rect">
            <a:avLst/>
          </a:prstGeom>
        </p:spPr>
      </p:pic>
      <p:pic>
        <p:nvPicPr>
          <p:cNvPr id="2" name="그림 1" descr="텍스트, 스크린샷, 번호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672B683-56C6-103D-76ED-DBB57855FA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5695" y="3336582"/>
            <a:ext cx="2046028" cy="2456071"/>
          </a:xfrm>
          <a:prstGeom prst="rect">
            <a:avLst/>
          </a:prstGeom>
        </p:spPr>
      </p:pic>
      <p:pic>
        <p:nvPicPr>
          <p:cNvPr id="3" name="그림 2" descr="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229AC14-E0F6-31C6-1099-86CEEC7189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2288" y="3704383"/>
            <a:ext cx="3897790" cy="1330884"/>
          </a:xfrm>
          <a:prstGeom prst="rect">
            <a:avLst/>
          </a:prstGeom>
        </p:spPr>
      </p:pic>
      <p:sp>
        <p:nvSpPr>
          <p:cNvPr id="8" name="Shape 12">
            <a:extLst>
              <a:ext uri="{FF2B5EF4-FFF2-40B4-BE49-F238E27FC236}">
                <a16:creationId xmlns:a16="http://schemas.microsoft.com/office/drawing/2014/main" id="{7C150190-CA96-BF30-5733-B25F4D5A9466}"/>
              </a:ext>
            </a:extLst>
          </p:cNvPr>
          <p:cNvSpPr/>
          <p:nvPr/>
        </p:nvSpPr>
        <p:spPr>
          <a:xfrm>
            <a:off x="7363176" y="1746602"/>
            <a:ext cx="2475406" cy="323834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95A4B5D-2D49-8B37-DC39-39CFC1D98D5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7525093" y="1831677"/>
            <a:ext cx="95138" cy="152769"/>
          </a:xfrm>
          <a:prstGeom prst="rect">
            <a:avLst/>
          </a:prstGeom>
        </p:spPr>
      </p:pic>
      <p:sp>
        <p:nvSpPr>
          <p:cNvPr id="10" name="Text 13">
            <a:extLst>
              <a:ext uri="{FF2B5EF4-FFF2-40B4-BE49-F238E27FC236}">
                <a16:creationId xmlns:a16="http://schemas.microsoft.com/office/drawing/2014/main" id="{EDC7D59A-0D88-2A9B-200C-DE6BF2F9B349}"/>
              </a:ext>
            </a:extLst>
          </p:cNvPr>
          <p:cNvSpPr txBox="1"/>
          <p:nvPr/>
        </p:nvSpPr>
        <p:spPr>
          <a:xfrm>
            <a:off x="7696156" y="1822529"/>
            <a:ext cx="2011611" cy="15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붉은색 커서는 클릭 위치를 나타냅니다.</a:t>
            </a:r>
            <a:endParaRPr lang="en-US" sz="900" dirty="0">
              <a:latin typeface="+mn-ea"/>
            </a:endParaRPr>
          </a:p>
        </p:txBody>
      </p:sp>
      <p:sp>
        <p:nvSpPr>
          <p:cNvPr id="7" name="Shape 58">
            <a:extLst>
              <a:ext uri="{FF2B5EF4-FFF2-40B4-BE49-F238E27FC236}">
                <a16:creationId xmlns:a16="http://schemas.microsoft.com/office/drawing/2014/main" id="{93D09102-AE30-181F-1AAF-80DE7EDF6853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16" name="Text 59">
            <a:extLst>
              <a:ext uri="{FF2B5EF4-FFF2-40B4-BE49-F238E27FC236}">
                <a16:creationId xmlns:a16="http://schemas.microsoft.com/office/drawing/2014/main" id="{EAF00F6F-7AAB-2B68-994B-10654A9E0E23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12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06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1137213" y="1378381"/>
            <a:ext cx="2904509" cy="27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601" b="1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강의 개설 프로세스 (2/2)</a:t>
            </a:r>
            <a:endParaRPr lang="en-US" altLang="ko-KR" sz="1601" dirty="0">
              <a:latin typeface="+mn-ea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32371" y="2136213"/>
            <a:ext cx="4397882" cy="4124479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39806" y="2143647"/>
            <a:ext cx="4382273" cy="98333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39806" y="3119549"/>
            <a:ext cx="4382273" cy="743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025620" y="2298989"/>
            <a:ext cx="247506" cy="247506"/>
          </a:xfrm>
          <a:prstGeom prst="roundRect">
            <a:avLst>
              <a:gd name="adj" fmla="val 75075"/>
            </a:avLst>
          </a:prstGeom>
          <a:solidFill>
            <a:srgbClr val="06B6D4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1111839" y="2329461"/>
            <a:ext cx="170951" cy="18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3</a:t>
            </a:r>
            <a:endParaRPr lang="en-US" sz="975" dirty="0">
              <a:latin typeface="+mn-ea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568202" y="2318314"/>
            <a:ext cx="1640031" cy="236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+mn-ea"/>
              </a:rPr>
              <a:t>기본 정보 설정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39806" y="3126985"/>
            <a:ext cx="4382273" cy="31337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63929" y="3251109"/>
            <a:ext cx="4134766" cy="2833041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5376674" y="2128779"/>
            <a:ext cx="4397882" cy="4105098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416069" y="2147993"/>
            <a:ext cx="4226929" cy="98333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5384108" y="3112115"/>
            <a:ext cx="4382273" cy="743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5569922" y="2291554"/>
            <a:ext cx="247506" cy="247506"/>
          </a:xfrm>
          <a:prstGeom prst="roundRect">
            <a:avLst>
              <a:gd name="adj" fmla="val 75075"/>
            </a:avLst>
          </a:prstGeom>
          <a:solidFill>
            <a:srgbClr val="06B6D4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5656141" y="2322027"/>
            <a:ext cx="170951" cy="18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4</a:t>
            </a:r>
            <a:endParaRPr lang="en-US" sz="975" dirty="0">
              <a:latin typeface="+mn-ea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6150411" y="2310880"/>
            <a:ext cx="2612589" cy="204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E293B"/>
                </a:solidFill>
                <a:latin typeface="+mn-ea"/>
              </a:rPr>
              <a:t>강의 생성 완료 </a:t>
            </a:r>
            <a:r>
              <a:rPr lang="en-US" altLang="ko-KR" sz="1200" b="1" dirty="0">
                <a:solidFill>
                  <a:srgbClr val="1E293B"/>
                </a:solidFill>
                <a:latin typeface="+mn-ea"/>
              </a:rPr>
              <a:t>&amp; </a:t>
            </a:r>
            <a:r>
              <a:rPr lang="ko-KR" altLang="en-US" sz="1200" b="1" dirty="0">
                <a:solidFill>
                  <a:srgbClr val="1E293B"/>
                </a:solidFill>
                <a:latin typeface="+mn-ea"/>
              </a:rPr>
              <a:t>초대 코드 확인</a:t>
            </a:r>
            <a:endParaRPr lang="en-US" altLang="ko-KR" sz="1200" dirty="0">
              <a:latin typeface="+mn-ea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5384108" y="3119551"/>
            <a:ext cx="4382273" cy="311432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5508232" y="3243674"/>
            <a:ext cx="4134766" cy="2840475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49" name="Shape 38"/>
          <p:cNvSpPr/>
          <p:nvPr/>
        </p:nvSpPr>
        <p:spPr>
          <a:xfrm>
            <a:off x="393209" y="994194"/>
            <a:ext cx="9909912" cy="457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53" name="Text 41"/>
          <p:cNvSpPr txBox="1"/>
          <p:nvPr/>
        </p:nvSpPr>
        <p:spPr>
          <a:xfrm>
            <a:off x="6568794" y="523531"/>
            <a:ext cx="3573041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2. 강사 시작하기 &gt; 강의 개설 및 관리</a:t>
            </a:r>
            <a:endParaRPr lang="en-US" altLang="ko-KR" sz="1401" dirty="0">
              <a:latin typeface="+mn-ea"/>
            </a:endParaRPr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140CADA4-23B4-E17C-9F16-682EC7CE5C3E}"/>
              </a:ext>
            </a:extLst>
          </p:cNvPr>
          <p:cNvSpPr/>
          <p:nvPr/>
        </p:nvSpPr>
        <p:spPr>
          <a:xfrm>
            <a:off x="365900" y="1050069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7A426D-1A57-5635-F44D-42C6AFD5979D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847609" y="1415654"/>
            <a:ext cx="232641" cy="185816"/>
          </a:xfrm>
          <a:prstGeom prst="rect">
            <a:avLst/>
          </a:prstGeom>
          <a:ln>
            <a:noFill/>
          </a:ln>
        </p:spPr>
      </p:pic>
      <p:sp>
        <p:nvSpPr>
          <p:cNvPr id="58" name="Text 13"/>
          <p:cNvSpPr txBox="1"/>
          <p:nvPr/>
        </p:nvSpPr>
        <p:spPr>
          <a:xfrm>
            <a:off x="1050995" y="2654639"/>
            <a:ext cx="4092401" cy="32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+mn-ea"/>
                <a:cs typeface="Noto Sans KR" pitchFamily="34" charset="-120"/>
              </a:rPr>
              <a:t>팝업창에서 </a:t>
            </a:r>
            <a:r>
              <a:rPr lang="en-US" altLang="ko-KR" sz="1000" dirty="0" err="1">
                <a:latin typeface="+mn-ea"/>
                <a:cs typeface="Noto Sans KR" pitchFamily="34" charset="-120"/>
              </a:rPr>
              <a:t>강의명</a:t>
            </a:r>
            <a:r>
              <a:rPr lang="en-US" altLang="ko-KR" sz="1000" dirty="0">
                <a:latin typeface="+mn-ea"/>
                <a:cs typeface="Noto Sans KR" pitchFamily="34" charset="-120"/>
              </a:rPr>
              <a:t>, 기간, </a:t>
            </a:r>
            <a:r>
              <a:rPr lang="ko-KR" altLang="en-US" sz="1000" dirty="0">
                <a:latin typeface="+mn-ea"/>
                <a:cs typeface="Noto Sans KR" pitchFamily="34" charset="-120"/>
              </a:rPr>
              <a:t>학생 수</a:t>
            </a:r>
            <a:r>
              <a:rPr lang="en-US" altLang="ko-KR" sz="1000" dirty="0">
                <a:latin typeface="+mn-ea"/>
                <a:cs typeface="Noto Sans KR" pitchFamily="34" charset="-120"/>
              </a:rPr>
              <a:t>, AI </a:t>
            </a:r>
            <a:r>
              <a:rPr lang="en-US" altLang="ko-KR" sz="1000" dirty="0" err="1">
                <a:latin typeface="+mn-ea"/>
                <a:cs typeface="Noto Sans KR" pitchFamily="34" charset="-120"/>
              </a:rPr>
              <a:t>모델</a:t>
            </a:r>
            <a:r>
              <a:rPr lang="en-US" altLang="ko-KR" sz="1000" dirty="0">
                <a:latin typeface="+mn-ea"/>
                <a:cs typeface="Noto Sans KR" pitchFamily="34" charset="-120"/>
              </a:rPr>
              <a:t> 등</a:t>
            </a:r>
            <a:r>
              <a:rPr lang="en-US" altLang="ko-KR" sz="1000" b="1" dirty="0">
                <a:latin typeface="+mn-ea"/>
                <a:cs typeface="Noto Sans KR" pitchFamily="34" charset="-120"/>
              </a:rPr>
              <a:t> 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필수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정보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</a:t>
            </a:r>
            <a:r>
              <a:rPr lang="en-US" altLang="ko-KR" sz="1000" dirty="0">
                <a:latin typeface="+mn-ea"/>
                <a:cs typeface="Noto Sans KR" pitchFamily="34" charset="-120"/>
              </a:rPr>
              <a:t>를 입력</a:t>
            </a:r>
            <a:r>
              <a:rPr lang="ko-KR" altLang="en-US" sz="1000" dirty="0">
                <a:latin typeface="+mn-ea"/>
                <a:cs typeface="Noto Sans KR" pitchFamily="34" charset="-120"/>
              </a:rPr>
              <a:t>합니다</a:t>
            </a:r>
            <a:r>
              <a:rPr lang="en-US" altLang="ko-KR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</a:p>
          <a:p>
            <a:endParaRPr lang="en-US" sz="8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r>
              <a:rPr lang="en-US" sz="8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* 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과정 명 입력은 강사가 소속이 없는 경우 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‘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무소속 과정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’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으로 입력하시면 됩니다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.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0" name="Text 4"/>
          <p:cNvSpPr txBox="1"/>
          <p:nvPr/>
        </p:nvSpPr>
        <p:spPr>
          <a:xfrm>
            <a:off x="857748" y="1770199"/>
            <a:ext cx="3183975" cy="15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강사 대시보드에서 새로운 강의를 생성하는 과정입니다.</a:t>
            </a:r>
            <a:endParaRPr lang="en-US" sz="1000" dirty="0">
              <a:latin typeface="+mn-ea"/>
            </a:endParaRPr>
          </a:p>
        </p:txBody>
      </p:sp>
      <p:sp>
        <p:nvSpPr>
          <p:cNvPr id="61" name="Shape 29"/>
          <p:cNvSpPr/>
          <p:nvPr/>
        </p:nvSpPr>
        <p:spPr>
          <a:xfrm>
            <a:off x="839805" y="6497482"/>
            <a:ext cx="8980834" cy="444752"/>
          </a:xfrm>
          <a:prstGeom prst="roundRect">
            <a:avLst>
              <a:gd name="adj" fmla="val 23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EA7B4F0-12CD-0182-BD8A-3928FD4F8297}"/>
              </a:ext>
            </a:extLst>
          </p:cNvPr>
          <p:cNvGrpSpPr/>
          <p:nvPr/>
        </p:nvGrpSpPr>
        <p:grpSpPr>
          <a:xfrm>
            <a:off x="945986" y="6592933"/>
            <a:ext cx="8656017" cy="278723"/>
            <a:chOff x="1050417" y="5923248"/>
            <a:chExt cx="8652383" cy="278606"/>
          </a:xfrm>
        </p:grpSpPr>
        <p:sp>
          <p:nvSpPr>
            <p:cNvPr id="62" name="Shape 30"/>
            <p:cNvSpPr/>
            <p:nvPr/>
          </p:nvSpPr>
          <p:spPr>
            <a:xfrm>
              <a:off x="1050417" y="5923248"/>
              <a:ext cx="278606" cy="278606"/>
            </a:xfrm>
            <a:prstGeom prst="roundRect">
              <a:avLst>
                <a:gd name="adj" fmla="val 59259"/>
              </a:avLst>
            </a:prstGeom>
            <a:solidFill>
              <a:srgbClr val="ECFEFF"/>
            </a:solidFill>
            <a:ln/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pic>
          <p:nvPicPr>
            <p:cNvPr id="63" name="Image 6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120255" y="5993086"/>
              <a:ext cx="139674" cy="139674"/>
            </a:xfrm>
            <a:prstGeom prst="rect">
              <a:avLst/>
            </a:prstGeom>
          </p:spPr>
        </p:pic>
        <p:sp>
          <p:nvSpPr>
            <p:cNvPr id="64" name="Text 31"/>
            <p:cNvSpPr txBox="1"/>
            <p:nvPr/>
          </p:nvSpPr>
          <p:spPr>
            <a:xfrm>
              <a:off x="1440702" y="5938550"/>
              <a:ext cx="8262098" cy="131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dirty="0">
                  <a:latin typeface="+mn-ea"/>
                  <a:cs typeface="Noto Sans KR" pitchFamily="34" charset="-120"/>
                </a:rPr>
                <a:t>강의 생성 후에는 </a:t>
              </a:r>
              <a:r>
                <a:rPr lang="en-US" sz="1000" b="1" dirty="0">
                  <a:solidFill>
                    <a:srgbClr val="2563EB"/>
                  </a:solidFill>
                  <a:latin typeface="+mn-ea"/>
                  <a:cs typeface="Noto Sans KR" pitchFamily="34" charset="-120"/>
                </a:rPr>
                <a:t>초대 코드</a:t>
              </a:r>
              <a:r>
                <a:rPr lang="en-US" sz="1000" dirty="0">
                  <a:latin typeface="+mn-ea"/>
                  <a:cs typeface="Noto Sans KR" pitchFamily="34" charset="-120"/>
                </a:rPr>
                <a:t>가 자동으로 발급되며, </a:t>
              </a:r>
              <a:r>
                <a:rPr lang="ko-KR" altLang="en-US" sz="1000" dirty="0">
                  <a:latin typeface="+mn-ea"/>
                  <a:cs typeface="Noto Sans KR" pitchFamily="34" charset="-120"/>
                </a:rPr>
                <a:t>초대 코드로 해당 강의</a:t>
              </a:r>
              <a:r>
                <a:rPr lang="en-US" sz="1000" dirty="0">
                  <a:latin typeface="+mn-ea"/>
                  <a:cs typeface="Noto Sans KR" pitchFamily="34" charset="-120"/>
                </a:rPr>
                <a:t> </a:t>
              </a:r>
              <a:r>
                <a:rPr lang="ko-KR" altLang="en-US" sz="1000" dirty="0">
                  <a:latin typeface="+mn-ea"/>
                  <a:cs typeface="Noto Sans KR" pitchFamily="34" charset="-120"/>
                </a:rPr>
                <a:t>훈련생</a:t>
              </a:r>
              <a:r>
                <a:rPr lang="en-US" sz="1000" dirty="0">
                  <a:latin typeface="+mn-ea"/>
                  <a:cs typeface="Noto Sans KR" pitchFamily="34" charset="-120"/>
                </a:rPr>
                <a:t>들을 초대할 수 있습니다. </a:t>
              </a:r>
            </a:p>
            <a:p>
              <a:r>
                <a:rPr lang="en-US" sz="1000" dirty="0">
                  <a:latin typeface="+mn-ea"/>
                  <a:cs typeface="Noto Sans KR" pitchFamily="34" charset="-120"/>
                </a:rPr>
                <a:t>생성된 강의는 '강의 관리' 메뉴에서 언제든지 수정할 수 있습니다</a:t>
              </a:r>
              <a:r>
                <a:rPr lang="en-US" sz="1000" dirty="0">
                  <a:solidFill>
                    <a:srgbClr val="64748B"/>
                  </a:solidFill>
                  <a:latin typeface="+mn-ea"/>
                  <a:cs typeface="Noto Sans KR" pitchFamily="34" charset="-120"/>
                </a:rPr>
                <a:t>.</a:t>
              </a:r>
              <a:endParaRPr lang="en-US" sz="1000" dirty="0">
                <a:latin typeface="+mn-ea"/>
              </a:endParaRPr>
            </a:p>
          </p:txBody>
        </p:sp>
      </p:grpSp>
      <p:sp>
        <p:nvSpPr>
          <p:cNvPr id="65" name="Text 24"/>
          <p:cNvSpPr txBox="1"/>
          <p:nvPr/>
        </p:nvSpPr>
        <p:spPr>
          <a:xfrm>
            <a:off x="5612288" y="2654639"/>
            <a:ext cx="4092401" cy="32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강의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생성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 </a:t>
            </a:r>
            <a:r>
              <a:rPr lang="en-US" altLang="ko-KR" sz="1000" dirty="0">
                <a:latin typeface="+mn-ea"/>
                <a:cs typeface="Noto Sans KR" pitchFamily="34" charset="-120"/>
              </a:rPr>
              <a:t>버튼 클릭 </a:t>
            </a:r>
            <a:r>
              <a:rPr lang="ko-KR" altLang="en-US" sz="1000" dirty="0">
                <a:latin typeface="+mn-ea"/>
                <a:cs typeface="Noto Sans KR" pitchFamily="34" charset="-120"/>
              </a:rPr>
              <a:t>후</a:t>
            </a:r>
            <a:r>
              <a:rPr lang="en-US" altLang="ko-KR" sz="1000" dirty="0">
                <a:latin typeface="+mn-ea"/>
                <a:cs typeface="Noto Sans KR" pitchFamily="34" charset="-120"/>
              </a:rPr>
              <a:t>, </a:t>
            </a:r>
            <a:r>
              <a:rPr lang="ko-KR" altLang="en-US" sz="1000" dirty="0">
                <a:latin typeface="+mn-ea"/>
                <a:cs typeface="Noto Sans KR" pitchFamily="34" charset="-120"/>
              </a:rPr>
              <a:t>강의 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ko-KR" alt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초대코드 발급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</a:t>
            </a:r>
            <a:r>
              <a:rPr lang="ko-KR" altLang="en-US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000" dirty="0">
                <a:latin typeface="+mn-ea"/>
                <a:cs typeface="Noto Sans KR" pitchFamily="34" charset="-120"/>
              </a:rPr>
              <a:t>확인</a:t>
            </a:r>
            <a:endParaRPr lang="en-US" altLang="ko-KR" sz="1000" dirty="0">
              <a:latin typeface="+mn-ea"/>
            </a:endParaRPr>
          </a:p>
          <a:p>
            <a:endParaRPr lang="en-US" sz="1100" dirty="0">
              <a:latin typeface="+mn-ea"/>
            </a:endParaRPr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80156" y="2325698"/>
            <a:ext cx="157570" cy="157570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948512" y="2315963"/>
            <a:ext cx="152937" cy="174935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E12BA2C-51A7-43C4-4B11-038287F548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4284" y="3506049"/>
            <a:ext cx="3321919" cy="2254424"/>
          </a:xfrm>
          <a:prstGeom prst="rect">
            <a:avLst/>
          </a:prstGeom>
        </p:spPr>
      </p:pic>
      <p:sp>
        <p:nvSpPr>
          <p:cNvPr id="10" name="Shape 12">
            <a:extLst>
              <a:ext uri="{FF2B5EF4-FFF2-40B4-BE49-F238E27FC236}">
                <a16:creationId xmlns:a16="http://schemas.microsoft.com/office/drawing/2014/main" id="{4A296997-DB03-B958-83BB-121A37B87310}"/>
              </a:ext>
            </a:extLst>
          </p:cNvPr>
          <p:cNvSpPr/>
          <p:nvPr/>
        </p:nvSpPr>
        <p:spPr>
          <a:xfrm>
            <a:off x="7363176" y="1746602"/>
            <a:ext cx="2475406" cy="323834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397B3959-844D-AA22-5ED4-9B6D394E266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7525093" y="1831677"/>
            <a:ext cx="95138" cy="152769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B0140951-6B67-CE7E-5035-DCB86CB138B3}"/>
              </a:ext>
            </a:extLst>
          </p:cNvPr>
          <p:cNvSpPr txBox="1"/>
          <p:nvPr/>
        </p:nvSpPr>
        <p:spPr>
          <a:xfrm>
            <a:off x="7696156" y="1822529"/>
            <a:ext cx="2011611" cy="15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붉은색 커서는 클릭 위치를 나타냅니다.</a:t>
            </a:r>
            <a:endParaRPr lang="en-US" sz="900" dirty="0">
              <a:latin typeface="+mn-ea"/>
            </a:endParaRPr>
          </a:p>
        </p:txBody>
      </p:sp>
      <p:pic>
        <p:nvPicPr>
          <p:cNvPr id="7" name="그림 6" descr="텍스트, 스크린샷, 번호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DE8D4695-781F-FBA4-6CA9-11BC68F674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7744" y="3325616"/>
            <a:ext cx="2518902" cy="2666344"/>
          </a:xfrm>
          <a:prstGeom prst="rect">
            <a:avLst/>
          </a:prstGeom>
        </p:spPr>
      </p:pic>
      <p:sp>
        <p:nvSpPr>
          <p:cNvPr id="3" name="Shape 58">
            <a:extLst>
              <a:ext uri="{FF2B5EF4-FFF2-40B4-BE49-F238E27FC236}">
                <a16:creationId xmlns:a16="http://schemas.microsoft.com/office/drawing/2014/main" id="{140513C9-45A6-2308-5119-7C4B9DAB10AE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5" name="Text 59">
            <a:extLst>
              <a:ext uri="{FF2B5EF4-FFF2-40B4-BE49-F238E27FC236}">
                <a16:creationId xmlns:a16="http://schemas.microsoft.com/office/drawing/2014/main" id="{E0E6E31B-E8FD-193F-7882-39D978884C26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13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6518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76" b="-476"/>
          <a:stretch/>
        </p:blipFill>
        <p:spPr>
          <a:xfrm>
            <a:off x="857747" y="1584341"/>
            <a:ext cx="224465" cy="201425"/>
          </a:xfrm>
          <a:prstGeom prst="rect">
            <a:avLst/>
          </a:prstGeom>
          <a:ln>
            <a:noFill/>
          </a:ln>
        </p:spPr>
      </p:pic>
      <p:sp>
        <p:nvSpPr>
          <p:cNvPr id="6" name="Text 3"/>
          <p:cNvSpPr txBox="1"/>
          <p:nvPr/>
        </p:nvSpPr>
        <p:spPr>
          <a:xfrm>
            <a:off x="1175122" y="1528600"/>
            <a:ext cx="1622540" cy="286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1" b="1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강의 관리 </a:t>
            </a:r>
            <a:r>
              <a:rPr lang="ko-KR" altLang="en-US" sz="1601" b="1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기능</a:t>
            </a:r>
            <a:endParaRPr lang="en-US" sz="1601" dirty="0">
              <a:latin typeface="+mn-e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55020" y="2044297"/>
            <a:ext cx="4776945" cy="4056978"/>
          </a:xfrm>
          <a:prstGeom prst="roundRect">
            <a:avLst>
              <a:gd name="adj" fmla="val 9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1373" y="2337696"/>
            <a:ext cx="185816" cy="1858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2567" y="2352874"/>
            <a:ext cx="1264167" cy="18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대시보드 화면 구성</a:t>
            </a:r>
            <a:endParaRPr lang="en-US" sz="1050" dirty="0">
              <a:latin typeface="+mn-ea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841464" y="2256412"/>
            <a:ext cx="3979426" cy="1610649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04238" y="2448915"/>
            <a:ext cx="115949" cy="115949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181879" y="2419187"/>
            <a:ext cx="552243" cy="162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94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관리 액션</a:t>
            </a:r>
            <a:endParaRPr lang="en-US" sz="894" dirty="0">
              <a:latin typeface="+mn-ea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6004238" y="2709059"/>
            <a:ext cx="3654620" cy="448931"/>
          </a:xfrm>
          <a:prstGeom prst="roundRect">
            <a:avLst>
              <a:gd name="adj" fmla="val 2283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31" name="Text 25"/>
          <p:cNvSpPr txBox="1"/>
          <p:nvPr/>
        </p:nvSpPr>
        <p:spPr>
          <a:xfrm>
            <a:off x="6430128" y="2794534"/>
            <a:ext cx="515080" cy="155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12" b="1" dirty="0">
                <a:solidFill>
                  <a:srgbClr val="000000"/>
                </a:solidFill>
                <a:latin typeface="+mn-ea"/>
                <a:cs typeface="Noto Sans KR" pitchFamily="34" charset="-120"/>
              </a:rPr>
              <a:t>강의 수정</a:t>
            </a:r>
            <a:endParaRPr lang="en-US" sz="812" dirty="0">
              <a:latin typeface="+mn-ea"/>
            </a:endParaRPr>
          </a:p>
        </p:txBody>
      </p:sp>
      <p:sp>
        <p:nvSpPr>
          <p:cNvPr id="32" name="Text 26"/>
          <p:cNvSpPr txBox="1"/>
          <p:nvPr/>
        </p:nvSpPr>
        <p:spPr>
          <a:xfrm>
            <a:off x="6430126" y="2941700"/>
            <a:ext cx="1610877" cy="14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31" dirty="0">
                <a:solidFill>
                  <a:srgbClr val="000000"/>
                </a:solidFill>
                <a:latin typeface="+mn-ea"/>
                <a:cs typeface="Noto Sans KR" pitchFamily="34" charset="-120"/>
              </a:rPr>
              <a:t>강의 설정 메뉴 &gt; 정보 수정 후 저장</a:t>
            </a:r>
            <a:endParaRPr lang="en-US" sz="731" dirty="0">
              <a:latin typeface="+mn-ea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6004238" y="3251639"/>
            <a:ext cx="3654620" cy="448931"/>
          </a:xfrm>
          <a:prstGeom prst="roundRect">
            <a:avLst>
              <a:gd name="adj" fmla="val 2283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6430128" y="3336372"/>
            <a:ext cx="515080" cy="155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12" b="1" dirty="0">
                <a:solidFill>
                  <a:srgbClr val="000000"/>
                </a:solidFill>
                <a:latin typeface="+mn-ea"/>
                <a:cs typeface="Noto Sans KR" pitchFamily="34" charset="-120"/>
              </a:rPr>
              <a:t>강의 삭제</a:t>
            </a:r>
            <a:endParaRPr lang="en-US" sz="812" dirty="0">
              <a:latin typeface="+mn-ea"/>
            </a:endParaRPr>
          </a:p>
        </p:txBody>
      </p:sp>
      <p:sp>
        <p:nvSpPr>
          <p:cNvPr id="37" name="Text 30"/>
          <p:cNvSpPr txBox="1"/>
          <p:nvPr/>
        </p:nvSpPr>
        <p:spPr>
          <a:xfrm>
            <a:off x="6430126" y="3483537"/>
            <a:ext cx="1177328" cy="13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31" dirty="0">
                <a:solidFill>
                  <a:srgbClr val="000000"/>
                </a:solidFill>
                <a:latin typeface="+mn-ea"/>
                <a:cs typeface="Noto Sans KR" pitchFamily="34" charset="-120"/>
              </a:rPr>
              <a:t>데이터 영구 삭제 (주의 필요)</a:t>
            </a:r>
            <a:endParaRPr lang="en-US" sz="731" dirty="0">
              <a:latin typeface="+mn-ea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5857815" y="4440615"/>
            <a:ext cx="3979426" cy="1316318"/>
          </a:xfrm>
          <a:prstGeom prst="roundRect">
            <a:avLst>
              <a:gd name="adj" fmla="val 53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rcRect l="-428" r="-428"/>
          <a:stretch/>
        </p:blipFill>
        <p:spPr>
          <a:xfrm>
            <a:off x="6004240" y="4699268"/>
            <a:ext cx="131558" cy="115949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6197488" y="4669539"/>
            <a:ext cx="552243" cy="162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94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상태 관리</a:t>
            </a:r>
            <a:endParaRPr lang="en-US" sz="894" dirty="0">
              <a:latin typeface="+mn-ea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6004238" y="4959410"/>
            <a:ext cx="1772680" cy="704612"/>
          </a:xfrm>
          <a:prstGeom prst="roundRect">
            <a:avLst>
              <a:gd name="adj" fmla="val 9273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6696215" y="5090967"/>
            <a:ext cx="387240" cy="162775"/>
          </a:xfrm>
          <a:prstGeom prst="roundRect">
            <a:avLst>
              <a:gd name="adj" fmla="val 217438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43" name="Text 35"/>
          <p:cNvSpPr txBox="1"/>
          <p:nvPr/>
        </p:nvSpPr>
        <p:spPr>
          <a:xfrm>
            <a:off x="6726689" y="5106578"/>
            <a:ext cx="327779" cy="124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진행 중</a:t>
            </a:r>
            <a:endParaRPr lang="en-US" sz="650" dirty="0">
              <a:latin typeface="+mn-ea"/>
            </a:endParaRPr>
          </a:p>
        </p:txBody>
      </p:sp>
      <p:sp>
        <p:nvSpPr>
          <p:cNvPr id="44" name="Text 36"/>
          <p:cNvSpPr txBox="1"/>
          <p:nvPr/>
        </p:nvSpPr>
        <p:spPr>
          <a:xfrm>
            <a:off x="6421446" y="5330508"/>
            <a:ext cx="936775" cy="333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73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훈련생</a:t>
            </a:r>
            <a:r>
              <a:rPr lang="en-US" sz="73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참여 가능</a:t>
            </a:r>
          </a:p>
          <a:p>
            <a:pPr algn="ctr"/>
            <a:r>
              <a:rPr lang="ko-KR" altLang="en-US" sz="731" dirty="0">
                <a:solidFill>
                  <a:srgbClr val="475569"/>
                </a:solidFill>
                <a:latin typeface="+mn-ea"/>
              </a:rPr>
              <a:t>모든 기능 </a:t>
            </a:r>
            <a:r>
              <a:rPr lang="ko-KR" altLang="en-US" sz="731" b="1" dirty="0">
                <a:solidFill>
                  <a:srgbClr val="475569"/>
                </a:solidFill>
                <a:latin typeface="+mn-ea"/>
              </a:rPr>
              <a:t>활성화</a:t>
            </a:r>
            <a:endParaRPr lang="en-US" sz="731" b="1" dirty="0">
              <a:latin typeface="+mn-ea"/>
            </a:endParaRPr>
          </a:p>
        </p:txBody>
      </p:sp>
      <p:sp>
        <p:nvSpPr>
          <p:cNvPr id="45" name="Text 37"/>
          <p:cNvSpPr txBox="1"/>
          <p:nvPr/>
        </p:nvSpPr>
        <p:spPr>
          <a:xfrm>
            <a:off x="6647014" y="7636434"/>
            <a:ext cx="526973" cy="13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3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기능 활성화</a:t>
            </a:r>
            <a:endParaRPr lang="en-US" sz="731" dirty="0">
              <a:latin typeface="+mn-ea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7887664" y="4959410"/>
            <a:ext cx="1772680" cy="704612"/>
          </a:xfrm>
          <a:prstGeom prst="roundRect">
            <a:avLst>
              <a:gd name="adj" fmla="val 9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8631669" y="5090967"/>
            <a:ext cx="286156" cy="162775"/>
          </a:xfrm>
          <a:prstGeom prst="roundRect">
            <a:avLst>
              <a:gd name="adj" fmla="val 217438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48" name="Text 40"/>
          <p:cNvSpPr txBox="1"/>
          <p:nvPr/>
        </p:nvSpPr>
        <p:spPr>
          <a:xfrm>
            <a:off x="8661400" y="5106578"/>
            <a:ext cx="226695" cy="124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종료</a:t>
            </a:r>
            <a:endParaRPr lang="en-US" sz="650" dirty="0">
              <a:latin typeface="+mn-ea"/>
            </a:endParaRPr>
          </a:p>
        </p:txBody>
      </p:sp>
      <p:sp>
        <p:nvSpPr>
          <p:cNvPr id="49" name="Text 41"/>
          <p:cNvSpPr txBox="1"/>
          <p:nvPr/>
        </p:nvSpPr>
        <p:spPr>
          <a:xfrm>
            <a:off x="8231640" y="5334884"/>
            <a:ext cx="1084728" cy="289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73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학습 기록은 열람 가능</a:t>
            </a:r>
            <a:endParaRPr lang="en-US" sz="731" dirty="0">
              <a:solidFill>
                <a:srgbClr val="475569"/>
              </a:solidFill>
              <a:latin typeface="+mn-ea"/>
              <a:cs typeface="Noto Sans KR" pitchFamily="34" charset="-120"/>
            </a:endParaRPr>
          </a:p>
          <a:p>
            <a:pPr algn="ctr"/>
            <a:r>
              <a:rPr lang="en-US" sz="731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새 활동 불가</a:t>
            </a:r>
            <a:endParaRPr lang="en-US" sz="731" b="1" dirty="0">
              <a:latin typeface="+mn-ea"/>
            </a:endParaRPr>
          </a:p>
        </p:txBody>
      </p:sp>
      <p:sp>
        <p:nvSpPr>
          <p:cNvPr id="50" name="Text 42"/>
          <p:cNvSpPr txBox="1"/>
          <p:nvPr/>
        </p:nvSpPr>
        <p:spPr>
          <a:xfrm>
            <a:off x="8432330" y="7636434"/>
            <a:ext cx="728397" cy="13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3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기록 열람만 가능</a:t>
            </a:r>
            <a:endParaRPr lang="en-US" sz="731" dirty="0">
              <a:latin typeface="+mn-ea"/>
            </a:endParaRPr>
          </a:p>
        </p:txBody>
      </p:sp>
      <p:sp>
        <p:nvSpPr>
          <p:cNvPr id="82" name="Text 41">
            <a:extLst>
              <a:ext uri="{FF2B5EF4-FFF2-40B4-BE49-F238E27FC236}">
                <a16:creationId xmlns:a16="http://schemas.microsoft.com/office/drawing/2014/main" id="{46AA501E-3F46-517B-9F73-A1C154A6021A}"/>
              </a:ext>
            </a:extLst>
          </p:cNvPr>
          <p:cNvSpPr txBox="1"/>
          <p:nvPr/>
        </p:nvSpPr>
        <p:spPr>
          <a:xfrm>
            <a:off x="6568794" y="523531"/>
            <a:ext cx="3573041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2. 강사 시작하기 &gt; 강의 관리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기능</a:t>
            </a:r>
            <a:endParaRPr lang="en-US" altLang="ko-KR" sz="1401" dirty="0">
              <a:latin typeface="+mn-ea"/>
            </a:endParaRPr>
          </a:p>
        </p:txBody>
      </p:sp>
      <p:sp>
        <p:nvSpPr>
          <p:cNvPr id="83" name="Shape 0">
            <a:extLst>
              <a:ext uri="{FF2B5EF4-FFF2-40B4-BE49-F238E27FC236}">
                <a16:creationId xmlns:a16="http://schemas.microsoft.com/office/drawing/2014/main" id="{337EC654-840D-2A88-2E16-AE80FEC02FF3}"/>
              </a:ext>
            </a:extLst>
          </p:cNvPr>
          <p:cNvSpPr/>
          <p:nvPr/>
        </p:nvSpPr>
        <p:spPr>
          <a:xfrm>
            <a:off x="362982" y="1060895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44FEC8E-1E8A-CD43-44E2-CD2348AC3323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3BECDF03-C322-356D-27A4-6531E2C12132}"/>
              </a:ext>
            </a:extLst>
          </p:cNvPr>
          <p:cNvGrpSpPr/>
          <p:nvPr/>
        </p:nvGrpSpPr>
        <p:grpSpPr>
          <a:xfrm>
            <a:off x="985177" y="2814146"/>
            <a:ext cx="4596667" cy="2848478"/>
            <a:chOff x="5914725" y="1229455"/>
            <a:chExt cx="5279365" cy="2534008"/>
          </a:xfrm>
        </p:grpSpPr>
        <p:pic>
          <p:nvPicPr>
            <p:cNvPr id="86" name="그림 85" descr="텍스트, 소프트웨어, 컴퓨터 아이콘, 웹 페이지이(가) 표시된 사진  AI 생성 콘텐츠는 정확하지 않을 수 있습니다.">
              <a:extLst>
                <a:ext uri="{FF2B5EF4-FFF2-40B4-BE49-F238E27FC236}">
                  <a16:creationId xmlns:a16="http://schemas.microsoft.com/office/drawing/2014/main" id="{8CDDEF11-EB73-FC31-2768-F8B48E4F3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14725" y="1287642"/>
              <a:ext cx="5279365" cy="2475821"/>
            </a:xfrm>
            <a:prstGeom prst="rect">
              <a:avLst/>
            </a:prstGeom>
          </p:spPr>
        </p:pic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65DE3CA6-2160-B810-CB47-66218B6A52DD}"/>
                </a:ext>
              </a:extLst>
            </p:cNvPr>
            <p:cNvGrpSpPr/>
            <p:nvPr/>
          </p:nvGrpSpPr>
          <p:grpSpPr>
            <a:xfrm>
              <a:off x="9449547" y="1229455"/>
              <a:ext cx="1476297" cy="239934"/>
              <a:chOff x="3959665" y="2729630"/>
              <a:chExt cx="1476297" cy="239934"/>
            </a:xfrm>
          </p:grpSpPr>
          <p:sp>
            <p:nvSpPr>
              <p:cNvPr id="78" name="Shape 65"/>
              <p:cNvSpPr/>
              <p:nvPr/>
            </p:nvSpPr>
            <p:spPr>
              <a:xfrm>
                <a:off x="3959665" y="2729630"/>
                <a:ext cx="1251146" cy="206826"/>
              </a:xfrm>
              <a:prstGeom prst="roundRect">
                <a:avLst>
                  <a:gd name="adj" fmla="val 61538"/>
                </a:avLst>
              </a:prstGeom>
              <a:solidFill>
                <a:srgbClr val="06B6D4">
                  <a:alpha val="90000"/>
                </a:srgbClr>
              </a:solidFill>
              <a:ln/>
              <a:effectLst>
                <a:outerShdw blurRad="38100" dist="2540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ko-KR" altLang="en-US" sz="1463" dirty="0">
                  <a:latin typeface="+mn-ea"/>
                </a:endParaRPr>
              </a:p>
            </p:txBody>
          </p:sp>
          <p:sp>
            <p:nvSpPr>
              <p:cNvPr id="79" name="Text 66"/>
              <p:cNvSpPr txBox="1"/>
              <p:nvPr/>
            </p:nvSpPr>
            <p:spPr>
              <a:xfrm>
                <a:off x="4052151" y="2793201"/>
                <a:ext cx="1383811" cy="1763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ko-KR" altLang="en-US" sz="650" b="1" dirty="0">
                    <a:solidFill>
                      <a:srgbClr val="FFFFFF"/>
                    </a:solidFill>
                    <a:latin typeface="+mn-ea"/>
                    <a:cs typeface="Noto Sans KR" pitchFamily="34" charset="-120"/>
                  </a:rPr>
                  <a:t>③</a:t>
                </a:r>
                <a:r>
                  <a:rPr lang="en-US" sz="650" b="1" dirty="0">
                    <a:solidFill>
                      <a:srgbClr val="FFFFFF"/>
                    </a:solidFill>
                    <a:latin typeface="+mn-ea"/>
                    <a:cs typeface="Noto Sans KR" pitchFamily="34" charset="-120"/>
                  </a:rPr>
                  <a:t> 상단 메뉴 (Profile/Set)</a:t>
                </a:r>
                <a:endParaRPr lang="en-US" sz="650" dirty="0">
                  <a:latin typeface="+mn-ea"/>
                </a:endParaRPr>
              </a:p>
            </p:txBody>
          </p: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5BCA8C8-247A-029F-A0CA-BF3349272942}"/>
                </a:ext>
              </a:extLst>
            </p:cNvPr>
            <p:cNvGrpSpPr/>
            <p:nvPr/>
          </p:nvGrpSpPr>
          <p:grpSpPr>
            <a:xfrm>
              <a:off x="8306840" y="2189925"/>
              <a:ext cx="1390514" cy="210162"/>
              <a:chOff x="2665065" y="3772408"/>
              <a:chExt cx="1390514" cy="210162"/>
            </a:xfrm>
          </p:grpSpPr>
          <p:sp>
            <p:nvSpPr>
              <p:cNvPr id="80" name="Shape 67"/>
              <p:cNvSpPr/>
              <p:nvPr/>
            </p:nvSpPr>
            <p:spPr>
              <a:xfrm>
                <a:off x="2665065" y="3772408"/>
                <a:ext cx="1390514" cy="210162"/>
              </a:xfrm>
              <a:prstGeom prst="roundRect">
                <a:avLst>
                  <a:gd name="adj" fmla="val 61538"/>
                </a:avLst>
              </a:prstGeom>
              <a:solidFill>
                <a:srgbClr val="06B6D4">
                  <a:alpha val="90000"/>
                </a:srgbClr>
              </a:solidFill>
              <a:ln/>
              <a:effectLst>
                <a:outerShdw blurRad="38100" dist="2540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ko-KR" altLang="en-US" sz="1463" dirty="0">
                  <a:latin typeface="+mn-ea"/>
                </a:endParaRPr>
              </a:p>
            </p:txBody>
          </p:sp>
          <p:sp>
            <p:nvSpPr>
              <p:cNvPr id="81" name="Text 68"/>
              <p:cNvSpPr txBox="1"/>
              <p:nvPr/>
            </p:nvSpPr>
            <p:spPr>
              <a:xfrm>
                <a:off x="2742329" y="3803613"/>
                <a:ext cx="1225282" cy="13688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ko-KR" altLang="en-US" sz="650" b="1" dirty="0">
                    <a:solidFill>
                      <a:srgbClr val="FFFFFF"/>
                    </a:solidFill>
                    <a:latin typeface="+mn-ea"/>
                    <a:cs typeface="Noto Sans KR" pitchFamily="34" charset="-120"/>
                  </a:rPr>
                  <a:t>②</a:t>
                </a:r>
                <a:r>
                  <a:rPr lang="en-US" sz="650" b="1" dirty="0">
                    <a:solidFill>
                      <a:srgbClr val="FFFFFF"/>
                    </a:solidFill>
                    <a:latin typeface="+mn-ea"/>
                    <a:cs typeface="Noto Sans KR" pitchFamily="34" charset="-120"/>
                  </a:rPr>
                  <a:t> 메인 영역 (Workspace)</a:t>
                </a:r>
                <a:endParaRPr lang="en-US" sz="650" dirty="0">
                  <a:latin typeface="+mn-ea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5FF70D6F-11C3-969C-5A88-40F6683A9826}"/>
                </a:ext>
              </a:extLst>
            </p:cNvPr>
            <p:cNvGrpSpPr/>
            <p:nvPr/>
          </p:nvGrpSpPr>
          <p:grpSpPr>
            <a:xfrm>
              <a:off x="5914725" y="1796874"/>
              <a:ext cx="1106303" cy="193165"/>
              <a:chOff x="1153375" y="3899647"/>
              <a:chExt cx="1106303" cy="193165"/>
            </a:xfrm>
          </p:grpSpPr>
          <p:sp>
            <p:nvSpPr>
              <p:cNvPr id="76" name="Shape 63"/>
              <p:cNvSpPr/>
              <p:nvPr/>
            </p:nvSpPr>
            <p:spPr>
              <a:xfrm>
                <a:off x="1153375" y="3899647"/>
                <a:ext cx="1029036" cy="161962"/>
              </a:xfrm>
              <a:prstGeom prst="roundRect">
                <a:avLst>
                  <a:gd name="adj" fmla="val 61538"/>
                </a:avLst>
              </a:prstGeom>
              <a:solidFill>
                <a:srgbClr val="06B6D4">
                  <a:alpha val="90000"/>
                </a:srgbClr>
              </a:solidFill>
              <a:ln/>
              <a:effectLst>
                <a:outerShdw blurRad="38100" dist="25400" dir="54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ko-KR" altLang="en-US" sz="1463" dirty="0">
                  <a:latin typeface="+mn-ea"/>
                </a:endParaRPr>
              </a:p>
            </p:txBody>
          </p:sp>
          <p:sp>
            <p:nvSpPr>
              <p:cNvPr id="77" name="Text 64"/>
              <p:cNvSpPr txBox="1"/>
              <p:nvPr/>
            </p:nvSpPr>
            <p:spPr>
              <a:xfrm>
                <a:off x="1230642" y="3930850"/>
                <a:ext cx="1029036" cy="16196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ko-KR" altLang="en-US" sz="650" b="1" dirty="0">
                    <a:solidFill>
                      <a:srgbClr val="FFFFFF"/>
                    </a:solidFill>
                    <a:latin typeface="+mn-ea"/>
                    <a:cs typeface="Noto Sans KR" pitchFamily="34" charset="-120"/>
                  </a:rPr>
                  <a:t>①</a:t>
                </a:r>
                <a:r>
                  <a:rPr lang="en-US" sz="650" b="1" dirty="0">
                    <a:solidFill>
                      <a:srgbClr val="FFFFFF"/>
                    </a:solidFill>
                    <a:latin typeface="+mn-ea"/>
                    <a:cs typeface="Noto Sans KR" pitchFamily="34" charset="-120"/>
                  </a:rPr>
                  <a:t> 사이드바 (Nav)</a:t>
                </a:r>
                <a:endParaRPr lang="en-US" sz="650" dirty="0">
                  <a:latin typeface="+mn-ea"/>
                </a:endParaRPr>
              </a:p>
            </p:txBody>
          </p:sp>
        </p:grpSp>
      </p:grpSp>
      <p:sp>
        <p:nvSpPr>
          <p:cNvPr id="29" name="Shape 24"/>
          <p:cNvSpPr/>
          <p:nvPr/>
        </p:nvSpPr>
        <p:spPr>
          <a:xfrm>
            <a:off x="6101234" y="2820813"/>
            <a:ext cx="247506" cy="247506"/>
          </a:xfrm>
          <a:prstGeom prst="roundRect">
            <a:avLst>
              <a:gd name="adj" fmla="val 5630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185966" y="2895617"/>
            <a:ext cx="108517" cy="108517"/>
          </a:xfrm>
          <a:prstGeom prst="rect">
            <a:avLst/>
          </a:prstGeom>
        </p:spPr>
      </p:pic>
      <p:grpSp>
        <p:nvGrpSpPr>
          <p:cNvPr id="92" name="그룹 91">
            <a:extLst>
              <a:ext uri="{FF2B5EF4-FFF2-40B4-BE49-F238E27FC236}">
                <a16:creationId xmlns:a16="http://schemas.microsoft.com/office/drawing/2014/main" id="{C00512A0-4810-CE4F-170A-0BE03C33AF0A}"/>
              </a:ext>
            </a:extLst>
          </p:cNvPr>
          <p:cNvGrpSpPr/>
          <p:nvPr/>
        </p:nvGrpSpPr>
        <p:grpSpPr>
          <a:xfrm>
            <a:off x="6120187" y="3359784"/>
            <a:ext cx="247506" cy="247506"/>
            <a:chOff x="6106922" y="4057877"/>
            <a:chExt cx="247402" cy="247402"/>
          </a:xfrm>
        </p:grpSpPr>
        <p:sp>
          <p:nvSpPr>
            <p:cNvPr id="34" name="Shape 28"/>
            <p:cNvSpPr/>
            <p:nvPr/>
          </p:nvSpPr>
          <p:spPr>
            <a:xfrm>
              <a:off x="6106922" y="4057877"/>
              <a:ext cx="247402" cy="247402"/>
            </a:xfrm>
            <a:prstGeom prst="roundRect">
              <a:avLst>
                <a:gd name="adj" fmla="val 56306"/>
              </a:avLst>
            </a:prstGeom>
            <a:solidFill>
              <a:srgbClr val="FEF2F2"/>
            </a:solidFill>
            <a:ln/>
          </p:spPr>
          <p:txBody>
            <a:bodyPr/>
            <a:lstStyle/>
            <a:p>
              <a:endParaRPr lang="ko-KR" altLang="en-US" sz="1463" dirty="0">
                <a:latin typeface="+mn-ea"/>
              </a:endParaRPr>
            </a:p>
          </p:txBody>
        </p:sp>
        <p:pic>
          <p:nvPicPr>
            <p:cNvPr id="35" name="Image 4" descr="preencoded.png"/>
            <p:cNvPicPr>
              <a:picLocks noChangeAspect="1"/>
            </p:cNvPicPr>
            <p:nvPr/>
          </p:nvPicPr>
          <p:blipFill>
            <a:blip r:embed="rId9"/>
            <a:srcRect t="-1100" b="-1100"/>
            <a:stretch/>
          </p:blipFill>
          <p:spPr>
            <a:xfrm>
              <a:off x="6177002" y="4122788"/>
              <a:ext cx="92869" cy="108471"/>
            </a:xfrm>
            <a:prstGeom prst="rect">
              <a:avLst/>
            </a:prstGeom>
          </p:spPr>
        </p:pic>
      </p:grpSp>
      <p:sp>
        <p:nvSpPr>
          <p:cNvPr id="2" name="Shape 58">
            <a:extLst>
              <a:ext uri="{FF2B5EF4-FFF2-40B4-BE49-F238E27FC236}">
                <a16:creationId xmlns:a16="http://schemas.microsoft.com/office/drawing/2014/main" id="{93F6C997-55D6-9048-7315-B000F9359E26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3" name="Text 59">
            <a:extLst>
              <a:ext uri="{FF2B5EF4-FFF2-40B4-BE49-F238E27FC236}">
                <a16:creationId xmlns:a16="http://schemas.microsoft.com/office/drawing/2014/main" id="{FE55648F-53D3-2F4D-A4CE-D04FC3933E0F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14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4" y="1"/>
            <a:ext cx="10696412" cy="756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21104" y="-1260479"/>
            <a:ext cx="4178123" cy="5251664"/>
          </a:xfrm>
          <a:prstGeom prst="ellipse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-835946" y="3151200"/>
            <a:ext cx="5014069" cy="6302400"/>
          </a:xfrm>
          <a:prstGeom prst="ellips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952722" y="4119407"/>
            <a:ext cx="2554367" cy="252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998" b="1" kern="0" spc="-900" dirty="0">
                <a:solidFill>
                  <a:srgbClr val="1E293B">
                    <a:alpha val="40000"/>
                  </a:srgbClr>
                </a:solidFill>
                <a:latin typeface="+mn-ea"/>
                <a:cs typeface="Noto Sans KR" pitchFamily="34" charset="-120"/>
              </a:rPr>
              <a:t>04</a:t>
            </a:r>
            <a:endParaRPr lang="en-US" sz="17998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84847" y="525369"/>
            <a:ext cx="9627013" cy="25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24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GrowFit </a:t>
            </a:r>
            <a:r>
              <a:rPr lang="en-US" sz="1100" kern="0" spc="24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en-US" sz="1100" kern="0" spc="24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AI 실습 </a:t>
            </a:r>
            <a:r>
              <a:rPr lang="en-US" sz="1100" kern="0" spc="24" dirty="0" err="1">
                <a:solidFill>
                  <a:srgbClr val="94A3B8"/>
                </a:solidFill>
                <a:latin typeface="+mn-ea"/>
                <a:cs typeface="Noto Sans KR" pitchFamily="34" charset="-120"/>
              </a:rPr>
              <a:t>플랫폼</a:t>
            </a:r>
            <a:r>
              <a:rPr lang="en-US" sz="1100" kern="0" spc="24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100" kern="0" spc="24" dirty="0" smtClean="0">
                <a:solidFill>
                  <a:srgbClr val="94A3B8"/>
                </a:solidFill>
                <a:latin typeface="+mn-ea"/>
                <a:cs typeface="Noto Sans KR" pitchFamily="34" charset="-120"/>
              </a:rPr>
              <a:t>강사 </a:t>
            </a:r>
            <a:r>
              <a:rPr lang="en-US" sz="1100" kern="0" spc="24" dirty="0" err="1" smtClean="0">
                <a:solidFill>
                  <a:srgbClr val="94A3B8"/>
                </a:solidFill>
                <a:latin typeface="+mn-ea"/>
                <a:cs typeface="Noto Sans KR" pitchFamily="34" charset="-120"/>
              </a:rPr>
              <a:t>매뉴얼</a:t>
            </a:r>
            <a:endParaRPr lang="en-US" sz="1100" dirty="0">
              <a:latin typeface="+mn-e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84847" y="2124672"/>
            <a:ext cx="9627013" cy="44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kern="0" spc="105" dirty="0">
                <a:solidFill>
                  <a:srgbClr val="818CF8"/>
                </a:solidFill>
                <a:latin typeface="+mn-ea"/>
                <a:cs typeface="Noto Sans KR" pitchFamily="34" charset="-120"/>
              </a:rPr>
              <a:t>PART 04</a:t>
            </a:r>
            <a:endParaRPr lang="en-US" sz="2100" dirty="0">
              <a:latin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84846" y="2692386"/>
            <a:ext cx="9794684" cy="746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kern="0" spc="-96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학생 관리</a:t>
            </a:r>
            <a:endParaRPr lang="en-US" sz="4800" dirty="0">
              <a:latin typeface="+mn-ea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584842" y="3683632"/>
            <a:ext cx="501407" cy="524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4842" y="6365928"/>
            <a:ext cx="9526731" cy="1008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584840" y="6585760"/>
            <a:ext cx="1278789" cy="210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BCT ONE Inc.</a:t>
            </a:r>
            <a:endParaRPr lang="en-US" sz="900" dirty="0">
              <a:latin typeface="+mn-ea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584844" y="6832811"/>
            <a:ext cx="1442447" cy="210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Learn · Connect · Apply</a:t>
            </a:r>
            <a:endParaRPr lang="en-US" sz="900" dirty="0">
              <a:latin typeface="+mn-ea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9555613" y="6832811"/>
            <a:ext cx="666671" cy="210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Version 2.0</a:t>
            </a:r>
            <a:endParaRPr lang="en-US" sz="900" dirty="0">
              <a:latin typeface="+mn-ea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584843" y="4051688"/>
            <a:ext cx="9602143" cy="7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"학생을 초대하고,</a:t>
            </a:r>
            <a:endParaRPr lang="en-US" dirty="0">
              <a:latin typeface="+mn-ea"/>
            </a:endParaRPr>
          </a:p>
          <a:p>
            <a:r>
              <a:rPr lang="en-US" i="1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현황과 상세 리포트를 관리합니다." </a:t>
            </a:r>
            <a:endParaRPr lang="en-US" dirty="0"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>
            <a:extLst>
              <a:ext uri="{FF2B5EF4-FFF2-40B4-BE49-F238E27FC236}">
                <a16:creationId xmlns:a16="http://schemas.microsoft.com/office/drawing/2014/main" id="{988D8199-117E-EB12-546D-1AE6BA4C2524}"/>
              </a:ext>
            </a:extLst>
          </p:cNvPr>
          <p:cNvSpPr txBox="1"/>
          <p:nvPr/>
        </p:nvSpPr>
        <p:spPr>
          <a:xfrm>
            <a:off x="6568794" y="523531"/>
            <a:ext cx="3573041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2. 강사 시작하기 &gt; 강의 관리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기능</a:t>
            </a:r>
            <a:endParaRPr lang="en-US" altLang="ko-KR" sz="1401" dirty="0">
              <a:latin typeface="+mn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20BFB329-80BC-1C59-4AFA-BF5EA5E1466E}"/>
              </a:ext>
            </a:extLst>
          </p:cNvPr>
          <p:cNvSpPr/>
          <p:nvPr/>
        </p:nvSpPr>
        <p:spPr>
          <a:xfrm>
            <a:off x="362982" y="1060895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36C13F-2BA4-C721-3289-D881C733F382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sp>
        <p:nvSpPr>
          <p:cNvPr id="5" name="Shape 58">
            <a:extLst>
              <a:ext uri="{FF2B5EF4-FFF2-40B4-BE49-F238E27FC236}">
                <a16:creationId xmlns:a16="http://schemas.microsoft.com/office/drawing/2014/main" id="{92CDEF02-34A8-33D2-FD7F-D0F991544503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6" name="Text 59">
            <a:extLst>
              <a:ext uri="{FF2B5EF4-FFF2-40B4-BE49-F238E27FC236}">
                <a16:creationId xmlns:a16="http://schemas.microsoft.com/office/drawing/2014/main" id="{308194E6-97A2-E1C9-4F8A-FEB30B617AE6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16</a:t>
            </a:r>
            <a:endParaRPr lang="en-US" sz="1000" dirty="0">
              <a:latin typeface="+mn-ea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F70E23F-7D27-F898-4A0A-04FBF691E078}"/>
              </a:ext>
            </a:extLst>
          </p:cNvPr>
          <p:cNvSpPr/>
          <p:nvPr/>
        </p:nvSpPr>
        <p:spPr>
          <a:xfrm>
            <a:off x="550872" y="1156594"/>
            <a:ext cx="9626918" cy="64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rgbClr val="0F172A"/>
                </a:solidFill>
                <a:latin typeface="+mn-ea"/>
                <a:cs typeface="Calibri" pitchFamily="34" charset="-120"/>
              </a:rPr>
              <a:t>학생 관리</a:t>
            </a:r>
            <a:r>
              <a:rPr lang="en-US" b="1" dirty="0">
                <a:solidFill>
                  <a:srgbClr val="0F172A"/>
                </a:solidFill>
                <a:latin typeface="+mn-ea"/>
                <a:cs typeface="Calibri" pitchFamily="34" charset="-120"/>
              </a:rPr>
              <a:t> – </a:t>
            </a:r>
            <a:r>
              <a:rPr lang="ko-KR" altLang="en-US" b="1" dirty="0">
                <a:solidFill>
                  <a:srgbClr val="0F172A"/>
                </a:solidFill>
                <a:latin typeface="+mn-ea"/>
                <a:cs typeface="Calibri" pitchFamily="34" charset="-120"/>
              </a:rPr>
              <a:t>전체 현황</a:t>
            </a:r>
            <a:r>
              <a:rPr lang="en-US" b="1" dirty="0">
                <a:solidFill>
                  <a:srgbClr val="0F172A"/>
                </a:solidFill>
                <a:latin typeface="+mn-ea"/>
                <a:cs typeface="Calibri" pitchFamily="34" charset="-120"/>
              </a:rPr>
              <a:t> </a:t>
            </a:r>
            <a:endParaRPr lang="en-US" dirty="0">
              <a:latin typeface="+mn-ea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056F8C71-CAF5-3A87-D72D-4AF56AB3F449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rcRect t="-400" b="-400"/>
          <a:stretch/>
        </p:blipFill>
        <p:spPr>
          <a:xfrm>
            <a:off x="552592" y="1764288"/>
            <a:ext cx="576000" cy="36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90A0574-749E-479B-72DD-F3C49488BC73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66062" y="1978256"/>
            <a:ext cx="9504000" cy="44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57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1">
            <a:extLst>
              <a:ext uri="{FF2B5EF4-FFF2-40B4-BE49-F238E27FC236}">
                <a16:creationId xmlns:a16="http://schemas.microsoft.com/office/drawing/2014/main" id="{93E09BC0-D471-E083-BB46-52B50B732712}"/>
              </a:ext>
            </a:extLst>
          </p:cNvPr>
          <p:cNvSpPr txBox="1"/>
          <p:nvPr/>
        </p:nvSpPr>
        <p:spPr>
          <a:xfrm>
            <a:off x="6358488" y="523531"/>
            <a:ext cx="3902785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3.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학생 관리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학생 초대하기</a:t>
            </a:r>
            <a:endParaRPr lang="en-US" altLang="ko-KR" sz="1401" dirty="0">
              <a:latin typeface="+mn-ea"/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279C2DE7-A547-E816-D2AC-2E0368FA9F83}"/>
              </a:ext>
            </a:extLst>
          </p:cNvPr>
          <p:cNvSpPr/>
          <p:nvPr/>
        </p:nvSpPr>
        <p:spPr>
          <a:xfrm>
            <a:off x="362982" y="1060895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855A0-A687-F7A1-5E84-3DEC64477F98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sp>
        <p:nvSpPr>
          <p:cNvPr id="6" name="Shape 58">
            <a:extLst>
              <a:ext uri="{FF2B5EF4-FFF2-40B4-BE49-F238E27FC236}">
                <a16:creationId xmlns:a16="http://schemas.microsoft.com/office/drawing/2014/main" id="{E2087A85-E8A1-3BD0-0640-4ECCF6F30C2E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7" name="Text 59">
            <a:extLst>
              <a:ext uri="{FF2B5EF4-FFF2-40B4-BE49-F238E27FC236}">
                <a16:creationId xmlns:a16="http://schemas.microsoft.com/office/drawing/2014/main" id="{DAAB3072-CDA9-6435-2523-640F8498B47F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17</a:t>
            </a:r>
            <a:endParaRPr lang="en-US" sz="1000" dirty="0">
              <a:latin typeface="+mn-ea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CEA1EDDA-C24E-4CDA-7304-8A6B31225BBC}"/>
              </a:ext>
            </a:extLst>
          </p:cNvPr>
          <p:cNvSpPr txBox="1"/>
          <p:nvPr/>
        </p:nvSpPr>
        <p:spPr>
          <a:xfrm>
            <a:off x="430246" y="1281222"/>
            <a:ext cx="5611931" cy="715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2001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  </a:t>
            </a:r>
            <a:r>
              <a:rPr lang="ko-KR" altLang="en-US" sz="2001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학생 초대하기</a:t>
            </a:r>
            <a:endParaRPr lang="en-US" sz="2001" dirty="0">
              <a:latin typeface="+mn-ea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BD4FB0E1-9803-426F-362E-80181C2853FE}"/>
              </a:ext>
            </a:extLst>
          </p:cNvPr>
          <p:cNvSpPr txBox="1"/>
          <p:nvPr/>
        </p:nvSpPr>
        <p:spPr>
          <a:xfrm>
            <a:off x="569403" y="1982840"/>
            <a:ext cx="5884806" cy="19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100" dirty="0">
                <a:latin typeface="+mn-ea"/>
              </a:rPr>
              <a:t>수강생에게 초대코드를 전달하는 방법입니다</a:t>
            </a:r>
            <a:r>
              <a:rPr lang="en-US" altLang="ko-KR" sz="1100" dirty="0">
                <a:latin typeface="+mn-ea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C4BAD27-5FEC-5F5E-8859-947D87FA9636}"/>
              </a:ext>
            </a:extLst>
          </p:cNvPr>
          <p:cNvSpPr/>
          <p:nvPr/>
        </p:nvSpPr>
        <p:spPr>
          <a:xfrm>
            <a:off x="569403" y="1744174"/>
            <a:ext cx="762015" cy="38421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A902C09-7D51-0571-D6F9-1A1CB5C781D6}"/>
              </a:ext>
            </a:extLst>
          </p:cNvPr>
          <p:cNvSpPr/>
          <p:nvPr/>
        </p:nvSpPr>
        <p:spPr>
          <a:xfrm>
            <a:off x="7892336" y="2211943"/>
            <a:ext cx="2475406" cy="323834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031C1E61-917F-A30F-5843-903D3D7BE5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8054252" y="2297018"/>
            <a:ext cx="95138" cy="152769"/>
          </a:xfrm>
          <a:prstGeom prst="rect">
            <a:avLst/>
          </a:prstGeom>
        </p:spPr>
      </p:pic>
      <p:sp>
        <p:nvSpPr>
          <p:cNvPr id="14" name="Text 13">
            <a:extLst>
              <a:ext uri="{FF2B5EF4-FFF2-40B4-BE49-F238E27FC236}">
                <a16:creationId xmlns:a16="http://schemas.microsoft.com/office/drawing/2014/main" id="{A78DE300-4162-9EB8-0B8B-55AD8527F748}"/>
              </a:ext>
            </a:extLst>
          </p:cNvPr>
          <p:cNvSpPr txBox="1"/>
          <p:nvPr/>
        </p:nvSpPr>
        <p:spPr>
          <a:xfrm>
            <a:off x="8225316" y="2287871"/>
            <a:ext cx="2011611" cy="15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붉은색 커서는 클릭 위치를 나타냅니다.</a:t>
            </a:r>
            <a:endParaRPr lang="en-US" sz="900" dirty="0">
              <a:latin typeface="+mn-ea"/>
            </a:endParaRPr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7DAEE708-ECBD-407B-2F98-CCB72637A183}"/>
              </a:ext>
            </a:extLst>
          </p:cNvPr>
          <p:cNvSpPr/>
          <p:nvPr/>
        </p:nvSpPr>
        <p:spPr>
          <a:xfrm>
            <a:off x="481548" y="2768771"/>
            <a:ext cx="3201643" cy="3791960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64" name="Shape 8">
            <a:extLst>
              <a:ext uri="{FF2B5EF4-FFF2-40B4-BE49-F238E27FC236}">
                <a16:creationId xmlns:a16="http://schemas.microsoft.com/office/drawing/2014/main" id="{AB962E8E-3015-C6E6-09A3-3AD621ACF86B}"/>
              </a:ext>
            </a:extLst>
          </p:cNvPr>
          <p:cNvSpPr/>
          <p:nvPr/>
        </p:nvSpPr>
        <p:spPr>
          <a:xfrm>
            <a:off x="488982" y="2776205"/>
            <a:ext cx="3190279" cy="9705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65" name="Shape 9">
            <a:extLst>
              <a:ext uri="{FF2B5EF4-FFF2-40B4-BE49-F238E27FC236}">
                <a16:creationId xmlns:a16="http://schemas.microsoft.com/office/drawing/2014/main" id="{99C4FE6D-3C98-47DD-1E64-BCFB74E92E05}"/>
              </a:ext>
            </a:extLst>
          </p:cNvPr>
          <p:cNvSpPr/>
          <p:nvPr/>
        </p:nvSpPr>
        <p:spPr>
          <a:xfrm>
            <a:off x="488982" y="3752106"/>
            <a:ext cx="3190279" cy="4573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66" name="Shape 10">
            <a:extLst>
              <a:ext uri="{FF2B5EF4-FFF2-40B4-BE49-F238E27FC236}">
                <a16:creationId xmlns:a16="http://schemas.microsoft.com/office/drawing/2014/main" id="{20D8723B-77B1-AF2C-E193-6201CB9E8460}"/>
              </a:ext>
            </a:extLst>
          </p:cNvPr>
          <p:cNvSpPr/>
          <p:nvPr/>
        </p:nvSpPr>
        <p:spPr>
          <a:xfrm>
            <a:off x="674796" y="2931546"/>
            <a:ext cx="225109" cy="244280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1FEC728F-AA23-7F38-32C7-B1EC9013DD17}"/>
              </a:ext>
            </a:extLst>
          </p:cNvPr>
          <p:cNvSpPr txBox="1"/>
          <p:nvPr/>
        </p:nvSpPr>
        <p:spPr>
          <a:xfrm>
            <a:off x="748036" y="2977290"/>
            <a:ext cx="124452" cy="1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</a:t>
            </a:r>
            <a:endParaRPr lang="en-US" sz="1000" dirty="0">
              <a:latin typeface="+mn-ea"/>
            </a:endParaRPr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62FCCBDF-95BB-4609-0FEF-6ABD7885EDC3}"/>
              </a:ext>
            </a:extLst>
          </p:cNvPr>
          <p:cNvSpPr txBox="1"/>
          <p:nvPr/>
        </p:nvSpPr>
        <p:spPr>
          <a:xfrm>
            <a:off x="1027846" y="2959302"/>
            <a:ext cx="1753453" cy="233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[</a:t>
            </a:r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학생 초대</a:t>
            </a:r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]</a:t>
            </a:r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버튼 클릭</a:t>
            </a:r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FE1FB263-FFB2-73F6-3393-CCAD28A497F3}"/>
              </a:ext>
            </a:extLst>
          </p:cNvPr>
          <p:cNvSpPr/>
          <p:nvPr/>
        </p:nvSpPr>
        <p:spPr>
          <a:xfrm>
            <a:off x="488982" y="3759543"/>
            <a:ext cx="3190279" cy="28141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70" name="Shape 15">
            <a:extLst>
              <a:ext uri="{FF2B5EF4-FFF2-40B4-BE49-F238E27FC236}">
                <a16:creationId xmlns:a16="http://schemas.microsoft.com/office/drawing/2014/main" id="{CD54A7A2-7166-EB77-1CE1-B7CA14866D7E}"/>
              </a:ext>
            </a:extLst>
          </p:cNvPr>
          <p:cNvSpPr/>
          <p:nvPr/>
        </p:nvSpPr>
        <p:spPr>
          <a:xfrm>
            <a:off x="577765" y="3883666"/>
            <a:ext cx="3010095" cy="2508416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7D171ABC-7000-9F8A-99D2-B31AE1F4F9A6}"/>
              </a:ext>
            </a:extLst>
          </p:cNvPr>
          <p:cNvSpPr txBox="1"/>
          <p:nvPr/>
        </p:nvSpPr>
        <p:spPr>
          <a:xfrm>
            <a:off x="608606" y="3303679"/>
            <a:ext cx="3237378" cy="32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사이드바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메뉴에서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학생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관리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 </a:t>
            </a:r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페이지로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이동합니다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</a:p>
          <a:p>
            <a:r>
              <a:rPr lang="en-US" altLang="ko-KR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r>
              <a:rPr lang="en-US" alt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</a:t>
            </a:r>
            <a:r>
              <a:rPr lang="en-US" alt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상단에</a:t>
            </a:r>
            <a:r>
              <a:rPr lang="en-US" alt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위치한</a:t>
            </a:r>
            <a:r>
              <a:rPr lang="en-US" alt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학생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초대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 </a:t>
            </a:r>
            <a:r>
              <a:rPr lang="en-US" altLang="ko-KR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버튼을</a:t>
            </a:r>
            <a:r>
              <a:rPr lang="en-US" alt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클릭합니다</a:t>
            </a:r>
            <a:r>
              <a:rPr lang="en-US" alt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altLang="ko-KR" sz="1000" dirty="0"/>
          </a:p>
          <a:p>
            <a:endParaRPr lang="en-US" altLang="ko-KR" sz="1000" dirty="0">
              <a:latin typeface="+mn-ea"/>
            </a:endParaRPr>
          </a:p>
          <a:p>
            <a:endParaRPr lang="en-US" sz="1000" dirty="0">
              <a:latin typeface="+mn-ea"/>
            </a:endParaRPr>
          </a:p>
        </p:txBody>
      </p:sp>
      <p:sp>
        <p:nvSpPr>
          <p:cNvPr id="72" name="Shape 7">
            <a:extLst>
              <a:ext uri="{FF2B5EF4-FFF2-40B4-BE49-F238E27FC236}">
                <a16:creationId xmlns:a16="http://schemas.microsoft.com/office/drawing/2014/main" id="{E1883BF4-759F-0828-A760-7837D7605F3D}"/>
              </a:ext>
            </a:extLst>
          </p:cNvPr>
          <p:cNvSpPr/>
          <p:nvPr/>
        </p:nvSpPr>
        <p:spPr>
          <a:xfrm>
            <a:off x="3838550" y="2790256"/>
            <a:ext cx="3089382" cy="3791960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73" name="Shape 8">
            <a:extLst>
              <a:ext uri="{FF2B5EF4-FFF2-40B4-BE49-F238E27FC236}">
                <a16:creationId xmlns:a16="http://schemas.microsoft.com/office/drawing/2014/main" id="{8D221D55-BF59-CF5A-EFDB-1337D41D5E99}"/>
              </a:ext>
            </a:extLst>
          </p:cNvPr>
          <p:cNvSpPr/>
          <p:nvPr/>
        </p:nvSpPr>
        <p:spPr>
          <a:xfrm>
            <a:off x="3845984" y="2797690"/>
            <a:ext cx="3078416" cy="9705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9E9F8C6E-471A-E65C-1A8E-C5792CBCF723}"/>
              </a:ext>
            </a:extLst>
          </p:cNvPr>
          <p:cNvSpPr/>
          <p:nvPr/>
        </p:nvSpPr>
        <p:spPr>
          <a:xfrm>
            <a:off x="3845984" y="3773591"/>
            <a:ext cx="3078416" cy="4573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852E9A30-728F-DE13-CE47-A48F9E381EE8}"/>
              </a:ext>
            </a:extLst>
          </p:cNvPr>
          <p:cNvSpPr txBox="1"/>
          <p:nvPr/>
        </p:nvSpPr>
        <p:spPr>
          <a:xfrm>
            <a:off x="4118018" y="2983505"/>
            <a:ext cx="120087" cy="1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92EFCF13-0DA0-9AA4-5426-9224C27E0B01}"/>
              </a:ext>
            </a:extLst>
          </p:cNvPr>
          <p:cNvSpPr txBox="1"/>
          <p:nvPr/>
        </p:nvSpPr>
        <p:spPr>
          <a:xfrm>
            <a:off x="4375186" y="2990776"/>
            <a:ext cx="1649018" cy="233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강의 선택</a:t>
            </a:r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77" name="Shape 14">
            <a:extLst>
              <a:ext uri="{FF2B5EF4-FFF2-40B4-BE49-F238E27FC236}">
                <a16:creationId xmlns:a16="http://schemas.microsoft.com/office/drawing/2014/main" id="{1F424F59-032E-7422-8EB6-20B56A410402}"/>
              </a:ext>
            </a:extLst>
          </p:cNvPr>
          <p:cNvSpPr/>
          <p:nvPr/>
        </p:nvSpPr>
        <p:spPr>
          <a:xfrm>
            <a:off x="3845984" y="3781028"/>
            <a:ext cx="3078416" cy="28141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78" name="Shape 15">
            <a:extLst>
              <a:ext uri="{FF2B5EF4-FFF2-40B4-BE49-F238E27FC236}">
                <a16:creationId xmlns:a16="http://schemas.microsoft.com/office/drawing/2014/main" id="{3C0F0F58-7885-066A-2103-F7A6B5C6E283}"/>
              </a:ext>
            </a:extLst>
          </p:cNvPr>
          <p:cNvSpPr/>
          <p:nvPr/>
        </p:nvSpPr>
        <p:spPr>
          <a:xfrm>
            <a:off x="3924979" y="3924031"/>
            <a:ext cx="2904550" cy="2508416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79" name="Text 13">
            <a:extLst>
              <a:ext uri="{FF2B5EF4-FFF2-40B4-BE49-F238E27FC236}">
                <a16:creationId xmlns:a16="http://schemas.microsoft.com/office/drawing/2014/main" id="{DA0E29DF-3ACD-7B20-D75A-ABA9A067A246}"/>
              </a:ext>
            </a:extLst>
          </p:cNvPr>
          <p:cNvSpPr txBox="1"/>
          <p:nvPr/>
        </p:nvSpPr>
        <p:spPr>
          <a:xfrm>
            <a:off x="3950530" y="3318328"/>
            <a:ext cx="3015870" cy="32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초대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팝업창이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나타나면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초대할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강의</a:t>
            </a:r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를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선택합니다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</a:p>
          <a:p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선택한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강의의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초대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b="1" dirty="0" err="1">
                <a:solidFill>
                  <a:srgbClr val="2563EB"/>
                </a:solidFill>
                <a:latin typeface="+mn-ea"/>
                <a:cs typeface="Noto Sans KR" pitchFamily="34" charset="-120"/>
              </a:rPr>
              <a:t>코드</a:t>
            </a:r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가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하단에</a:t>
            </a:r>
            <a:r>
              <a:rPr lang="en-US" altLang="ko-KR" sz="10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475569"/>
                </a:solidFill>
                <a:latin typeface="+mn-ea"/>
                <a:cs typeface="Noto Sans KR" pitchFamily="34" charset="-120"/>
              </a:rPr>
              <a:t>표시됩니다</a:t>
            </a:r>
            <a:r>
              <a:rPr lang="en-US" alt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altLang="ko-KR" sz="1000" dirty="0"/>
          </a:p>
          <a:p>
            <a:endParaRPr lang="en-US" altLang="ko-KR" sz="1000" dirty="0"/>
          </a:p>
        </p:txBody>
      </p:sp>
      <p:sp>
        <p:nvSpPr>
          <p:cNvPr id="80" name="Shape 10">
            <a:extLst>
              <a:ext uri="{FF2B5EF4-FFF2-40B4-BE49-F238E27FC236}">
                <a16:creationId xmlns:a16="http://schemas.microsoft.com/office/drawing/2014/main" id="{F3B1587B-29A0-EEB8-8339-543827CA8BC7}"/>
              </a:ext>
            </a:extLst>
          </p:cNvPr>
          <p:cNvSpPr/>
          <p:nvPr/>
        </p:nvSpPr>
        <p:spPr>
          <a:xfrm>
            <a:off x="4004690" y="2950292"/>
            <a:ext cx="225109" cy="244280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B9A59F03-500F-6BCC-6C27-009002D6BEE6}"/>
              </a:ext>
            </a:extLst>
          </p:cNvPr>
          <p:cNvSpPr txBox="1"/>
          <p:nvPr/>
        </p:nvSpPr>
        <p:spPr>
          <a:xfrm>
            <a:off x="4077293" y="2987815"/>
            <a:ext cx="124452" cy="1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1000" dirty="0">
              <a:latin typeface="+mn-ea"/>
            </a:endParaRPr>
          </a:p>
        </p:txBody>
      </p:sp>
      <p:sp>
        <p:nvSpPr>
          <p:cNvPr id="82" name="Shape 7">
            <a:extLst>
              <a:ext uri="{FF2B5EF4-FFF2-40B4-BE49-F238E27FC236}">
                <a16:creationId xmlns:a16="http://schemas.microsoft.com/office/drawing/2014/main" id="{F2DD38D0-B493-37F4-2684-611535B37276}"/>
              </a:ext>
            </a:extLst>
          </p:cNvPr>
          <p:cNvSpPr/>
          <p:nvPr/>
        </p:nvSpPr>
        <p:spPr>
          <a:xfrm>
            <a:off x="7135591" y="2797690"/>
            <a:ext cx="3116700" cy="3770537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D9AD8EC8-AA04-79E3-8DCE-452FDDA82DF1}"/>
              </a:ext>
            </a:extLst>
          </p:cNvPr>
          <p:cNvSpPr/>
          <p:nvPr/>
        </p:nvSpPr>
        <p:spPr>
          <a:xfrm>
            <a:off x="7177591" y="2827327"/>
            <a:ext cx="3078416" cy="9705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84" name="Text 11">
            <a:extLst>
              <a:ext uri="{FF2B5EF4-FFF2-40B4-BE49-F238E27FC236}">
                <a16:creationId xmlns:a16="http://schemas.microsoft.com/office/drawing/2014/main" id="{D12D3225-0152-6A05-2998-5B3E0AD62FCC}"/>
              </a:ext>
            </a:extLst>
          </p:cNvPr>
          <p:cNvSpPr txBox="1"/>
          <p:nvPr/>
        </p:nvSpPr>
        <p:spPr>
          <a:xfrm>
            <a:off x="7415058" y="2919437"/>
            <a:ext cx="120087" cy="1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ACEE809E-437E-7EE3-7FE1-7F97CE0388AF}"/>
              </a:ext>
            </a:extLst>
          </p:cNvPr>
          <p:cNvSpPr txBox="1"/>
          <p:nvPr/>
        </p:nvSpPr>
        <p:spPr>
          <a:xfrm>
            <a:off x="7637849" y="2946906"/>
            <a:ext cx="1896303" cy="233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초대 코드 공유</a:t>
            </a:r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86" name="Shape 14">
            <a:extLst>
              <a:ext uri="{FF2B5EF4-FFF2-40B4-BE49-F238E27FC236}">
                <a16:creationId xmlns:a16="http://schemas.microsoft.com/office/drawing/2014/main" id="{F8E856DC-9650-38D5-4CF9-55CD4C24DA53}"/>
              </a:ext>
            </a:extLst>
          </p:cNvPr>
          <p:cNvSpPr/>
          <p:nvPr/>
        </p:nvSpPr>
        <p:spPr>
          <a:xfrm>
            <a:off x="7143024" y="3788319"/>
            <a:ext cx="3116699" cy="278734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87" name="Shape 15">
            <a:extLst>
              <a:ext uri="{FF2B5EF4-FFF2-40B4-BE49-F238E27FC236}">
                <a16:creationId xmlns:a16="http://schemas.microsoft.com/office/drawing/2014/main" id="{3292254C-320C-41B2-DF6F-93F3A3BED201}"/>
              </a:ext>
            </a:extLst>
          </p:cNvPr>
          <p:cNvSpPr/>
          <p:nvPr/>
        </p:nvSpPr>
        <p:spPr>
          <a:xfrm>
            <a:off x="7249098" y="3923220"/>
            <a:ext cx="2904550" cy="2508416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88" name="Text 13">
            <a:extLst>
              <a:ext uri="{FF2B5EF4-FFF2-40B4-BE49-F238E27FC236}">
                <a16:creationId xmlns:a16="http://schemas.microsoft.com/office/drawing/2014/main" id="{DC8ACB60-9ACD-5AF6-E8E3-53D30DD85819}"/>
              </a:ext>
            </a:extLst>
          </p:cNvPr>
          <p:cNvSpPr txBox="1"/>
          <p:nvPr/>
        </p:nvSpPr>
        <p:spPr>
          <a:xfrm>
            <a:off x="7326235" y="3301715"/>
            <a:ext cx="2874791" cy="32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+mn-ea"/>
              </a:rPr>
              <a:t>초대코드를 수강하는 학생들에게 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</a:rPr>
              <a:t>[</a:t>
            </a:r>
            <a:r>
              <a:rPr lang="ko-KR" altLang="en-US" sz="1000" b="1" dirty="0">
                <a:solidFill>
                  <a:srgbClr val="2563EB"/>
                </a:solidFill>
                <a:latin typeface="+mn-ea"/>
              </a:rPr>
              <a:t>공유</a:t>
            </a:r>
            <a:r>
              <a:rPr lang="en-US" altLang="ko-KR" sz="1000" b="1" dirty="0">
                <a:solidFill>
                  <a:srgbClr val="2563EB"/>
                </a:solidFill>
                <a:latin typeface="+mn-ea"/>
              </a:rPr>
              <a:t>]</a:t>
            </a:r>
            <a:r>
              <a:rPr lang="ko-KR" altLang="en-US" sz="1000" dirty="0">
                <a:latin typeface="+mn-ea"/>
              </a:rPr>
              <a:t>합니다</a:t>
            </a:r>
            <a:r>
              <a:rPr lang="en-US" altLang="ko-KR" sz="1000" dirty="0">
                <a:latin typeface="+mn-ea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89" name="Shape 10">
            <a:extLst>
              <a:ext uri="{FF2B5EF4-FFF2-40B4-BE49-F238E27FC236}">
                <a16:creationId xmlns:a16="http://schemas.microsoft.com/office/drawing/2014/main" id="{99F8F537-D84C-E94E-F0F1-F86BED393B5A}"/>
              </a:ext>
            </a:extLst>
          </p:cNvPr>
          <p:cNvSpPr/>
          <p:nvPr/>
        </p:nvSpPr>
        <p:spPr>
          <a:xfrm>
            <a:off x="7312354" y="2922619"/>
            <a:ext cx="225109" cy="244280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3" dirty="0">
              <a:latin typeface="+mn-ea"/>
            </a:endParaRPr>
          </a:p>
        </p:txBody>
      </p:sp>
      <p:sp>
        <p:nvSpPr>
          <p:cNvPr id="90" name="Text 11">
            <a:extLst>
              <a:ext uri="{FF2B5EF4-FFF2-40B4-BE49-F238E27FC236}">
                <a16:creationId xmlns:a16="http://schemas.microsoft.com/office/drawing/2014/main" id="{B726F22D-A44A-FB62-17FC-2C55C8C6B4BA}"/>
              </a:ext>
            </a:extLst>
          </p:cNvPr>
          <p:cNvSpPr txBox="1"/>
          <p:nvPr/>
        </p:nvSpPr>
        <p:spPr>
          <a:xfrm>
            <a:off x="7387949" y="2971098"/>
            <a:ext cx="124452" cy="1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3</a:t>
            </a:r>
            <a:endParaRPr lang="en-US" sz="1000" dirty="0">
              <a:latin typeface="+mn-ea"/>
            </a:endParaRPr>
          </a:p>
        </p:txBody>
      </p:sp>
      <p:pic>
        <p:nvPicPr>
          <p:cNvPr id="96" name="Image 0" descr="preencoded.png">
            <a:extLst>
              <a:ext uri="{FF2B5EF4-FFF2-40B4-BE49-F238E27FC236}">
                <a16:creationId xmlns:a16="http://schemas.microsoft.com/office/drawing/2014/main" id="{F4D9C91A-00C7-0FAF-9A79-2A074AA57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9246426" y="1760508"/>
            <a:ext cx="95138" cy="152769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75" y="4190102"/>
            <a:ext cx="2688747" cy="1994877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5EDC5A58-E0CF-0A1A-A505-FB30F87BEE94}"/>
              </a:ext>
            </a:extLst>
          </p:cNvPr>
          <p:cNvSpPr/>
          <p:nvPr/>
        </p:nvSpPr>
        <p:spPr>
          <a:xfrm>
            <a:off x="2195549" y="4207786"/>
            <a:ext cx="120200" cy="1155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1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76219C2-57ED-A6B1-F6F1-6D3315503FA2}"/>
              </a:ext>
            </a:extLst>
          </p:cNvPr>
          <p:cNvSpPr/>
          <p:nvPr/>
        </p:nvSpPr>
        <p:spPr>
          <a:xfrm>
            <a:off x="2330275" y="4207786"/>
            <a:ext cx="993637" cy="3622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4" name="Image 0" descr="preencoded.png">
            <a:extLst>
              <a:ext uri="{FF2B5EF4-FFF2-40B4-BE49-F238E27FC236}">
                <a16:creationId xmlns:a16="http://schemas.microsoft.com/office/drawing/2014/main" id="{455CC1DC-D04B-41EA-9F7E-DB48ABCCAE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3165399" y="4398161"/>
            <a:ext cx="95138" cy="152769"/>
          </a:xfrm>
          <a:prstGeom prst="rect">
            <a:avLst/>
          </a:prstGeom>
        </p:spPr>
      </p:pic>
      <p:pic>
        <p:nvPicPr>
          <p:cNvPr id="2" name="그림 1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040086" y="4013355"/>
            <a:ext cx="2700000" cy="2340000"/>
          </a:xfrm>
          <a:prstGeom prst="rect">
            <a:avLst/>
          </a:prstGeom>
        </p:spPr>
      </p:pic>
      <p:pic>
        <p:nvPicPr>
          <p:cNvPr id="95" name="Image 0" descr="preencoded.png">
            <a:extLst>
              <a:ext uri="{FF2B5EF4-FFF2-40B4-BE49-F238E27FC236}">
                <a16:creationId xmlns:a16="http://schemas.microsoft.com/office/drawing/2014/main" id="{C406EC77-7BDA-D160-90A4-4E60FAFD7C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6501778" y="4557725"/>
            <a:ext cx="95138" cy="152769"/>
          </a:xfrm>
          <a:prstGeom prst="rect">
            <a:avLst/>
          </a:prstGeom>
        </p:spPr>
      </p:pic>
      <p:pic>
        <p:nvPicPr>
          <p:cNvPr id="52" name="그림 51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415058" y="4149565"/>
            <a:ext cx="2637518" cy="2066940"/>
          </a:xfrm>
          <a:prstGeom prst="rect">
            <a:avLst/>
          </a:prstGeom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5EDC5A58-E0CF-0A1A-A505-FB30F87BEE94}"/>
              </a:ext>
            </a:extLst>
          </p:cNvPr>
          <p:cNvSpPr/>
          <p:nvPr/>
        </p:nvSpPr>
        <p:spPr>
          <a:xfrm>
            <a:off x="7313009" y="5321323"/>
            <a:ext cx="120200" cy="1155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3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76219C2-57ED-A6B1-F6F1-6D3315503FA2}"/>
              </a:ext>
            </a:extLst>
          </p:cNvPr>
          <p:cNvSpPr>
            <a:spLocks/>
          </p:cNvSpPr>
          <p:nvPr/>
        </p:nvSpPr>
        <p:spPr>
          <a:xfrm>
            <a:off x="7447736" y="5321323"/>
            <a:ext cx="2612274" cy="8951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171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82899" y="1276723"/>
            <a:ext cx="98567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학생 상세 리포트 – 화면 구성 안내</a:t>
            </a:r>
            <a:endParaRPr lang="en-US" sz="2000" dirty="0">
              <a:latin typeface="+mn-ea"/>
            </a:endParaRPr>
          </a:p>
        </p:txBody>
      </p:sp>
      <p:sp>
        <p:nvSpPr>
          <p:cNvPr id="3" name="Text 4"/>
          <p:cNvSpPr txBox="1"/>
          <p:nvPr/>
        </p:nvSpPr>
        <p:spPr>
          <a:xfrm>
            <a:off x="648522" y="1905373"/>
            <a:ext cx="9725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학생 목록에서 이름을 클릭하면 해당 학생의 상세 활동 데이터를 확인할 수 있습니다. 각 항목의 의미는 아래를 참고하세요.</a:t>
            </a:r>
            <a:endParaRPr lang="en-US" sz="1100" dirty="0">
              <a:latin typeface="+mn-ea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-5" b="-5"/>
          <a:stretch/>
        </p:blipFill>
        <p:spPr>
          <a:xfrm>
            <a:off x="477483" y="2307252"/>
            <a:ext cx="4748418" cy="2198218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677736" y="2888810"/>
            <a:ext cx="4404193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7736" y="2507506"/>
            <a:ext cx="261705" cy="30449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l="-1773" r="-1773"/>
          <a:stretch/>
        </p:blipFill>
        <p:spPr>
          <a:xfrm>
            <a:off x="746649" y="2574257"/>
            <a:ext cx="114741" cy="171907"/>
          </a:xfrm>
          <a:prstGeom prst="rect">
            <a:avLst/>
          </a:prstGeom>
        </p:spPr>
      </p:pic>
      <p:sp>
        <p:nvSpPr>
          <p:cNvPr id="8" name="Text 6"/>
          <p:cNvSpPr txBox="1"/>
          <p:nvPr/>
        </p:nvSpPr>
        <p:spPr>
          <a:xfrm>
            <a:off x="1096531" y="2526708"/>
            <a:ext cx="7238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수강 정보</a:t>
            </a:r>
            <a:endParaRPr lang="en-US" sz="1300" dirty="0">
              <a:latin typeface="+mn-ea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77737" y="3012254"/>
            <a:ext cx="45684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+mn-ea"/>
                <a:cs typeface="Noto Sans KR" pitchFamily="34" charset="-120"/>
              </a:rPr>
              <a:t>강의명</a:t>
            </a:r>
            <a:endParaRPr lang="en-US" sz="900" dirty="0">
              <a:latin typeface="+mn-ea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77737" y="3184162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학생이 등록된 강의 이름입니다.</a:t>
            </a:r>
            <a:endParaRPr lang="en-US" sz="1000" dirty="0">
              <a:latin typeface="+mn-ea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77737" y="3481342"/>
            <a:ext cx="45684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+mn-ea"/>
                <a:cs typeface="Noto Sans KR" pitchFamily="34" charset="-120"/>
              </a:rPr>
              <a:t>수강 기간</a:t>
            </a:r>
            <a:endParaRPr lang="en-US" sz="900" dirty="0">
              <a:latin typeface="+mn-ea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77737" y="3653249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강의의 시작일과 종료일입니다.</a:t>
            </a:r>
            <a:endParaRPr lang="en-US" sz="1000" dirty="0">
              <a:latin typeface="+mn-ea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77737" y="3950429"/>
            <a:ext cx="45684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+mn-ea"/>
                <a:cs typeface="Noto Sans KR" pitchFamily="34" charset="-120"/>
              </a:rPr>
              <a:t>[수강 중] 배지</a:t>
            </a:r>
            <a:endParaRPr lang="en-US" sz="900" dirty="0">
              <a:latin typeface="+mn-ea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77737" y="4122336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현재 수강 중인 강의에 표시됩니다. 종료 시 사라집니다.</a:t>
            </a:r>
            <a:endParaRPr lang="en-US" sz="1000" dirty="0">
              <a:latin typeface="+mn-ea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t="-5" b="-5"/>
          <a:stretch/>
        </p:blipFill>
        <p:spPr>
          <a:xfrm>
            <a:off x="5446437" y="2307252"/>
            <a:ext cx="4748418" cy="219821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645775" y="2888810"/>
            <a:ext cx="4404193" cy="9144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5775" y="2507506"/>
            <a:ext cx="261705" cy="304495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2526" y="2574257"/>
            <a:ext cx="147749" cy="17190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65485" y="2526708"/>
            <a:ext cx="7238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활동 지표</a:t>
            </a:r>
            <a:endParaRPr lang="en-US" sz="1300" dirty="0">
              <a:latin typeface="+mn-ea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5645776" y="3012254"/>
            <a:ext cx="45684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+mn-ea"/>
                <a:cs typeface="Noto Sans KR" pitchFamily="34" charset="-120"/>
              </a:rPr>
              <a:t>총 로그인</a:t>
            </a:r>
            <a:endParaRPr lang="en-US" sz="900" dirty="0">
              <a:latin typeface="+mn-ea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5645776" y="3184162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플랫폼에 접속한 총 횟수. 학습 참여 의지를 파악합니다.</a:t>
            </a:r>
            <a:endParaRPr lang="en-US" sz="1000" dirty="0">
              <a:latin typeface="+mn-ea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5645776" y="3481342"/>
            <a:ext cx="45684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+mn-ea"/>
                <a:cs typeface="Noto Sans KR" pitchFamily="34" charset="-120"/>
              </a:rPr>
              <a:t>활동 일수</a:t>
            </a:r>
            <a:endParaRPr lang="en-US" sz="900" dirty="0">
              <a:latin typeface="+mn-ea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5645776" y="3653249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실제 학습 활동이 발생한 날수. 실질적 학습 여부를 보여줍니다.</a:t>
            </a:r>
            <a:endParaRPr lang="en-US" sz="1000" dirty="0">
              <a:latin typeface="+mn-ea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5645776" y="3950429"/>
            <a:ext cx="45684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+mn-ea"/>
                <a:cs typeface="Noto Sans KR" pitchFamily="34" charset="-120"/>
              </a:rPr>
              <a:t>마지막 접속일</a:t>
            </a:r>
            <a:endParaRPr lang="en-US" sz="900" dirty="0">
              <a:latin typeface="+mn-ea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5645776" y="4122336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가장 최근 접속일. 장기 미접속 학생 파악에 활용합니다.</a:t>
            </a:r>
            <a:endParaRPr lang="en-US" sz="1000" dirty="0">
              <a:latin typeface="+mn-ea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rcRect t="-5" b="-5"/>
          <a:stretch/>
        </p:blipFill>
        <p:spPr>
          <a:xfrm>
            <a:off x="477483" y="4695665"/>
            <a:ext cx="4748418" cy="219821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77736" y="5277223"/>
            <a:ext cx="4404193" cy="914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7736" y="4895918"/>
            <a:ext cx="261705" cy="304495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rcRect l="-1064" r="-1064"/>
          <a:stretch/>
        </p:blipFill>
        <p:spPr>
          <a:xfrm>
            <a:off x="715032" y="4962670"/>
            <a:ext cx="188616" cy="17190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96531" y="4915121"/>
            <a:ext cx="125614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AI 실습 현황</a:t>
            </a:r>
            <a:endParaRPr lang="en-US" sz="1300" dirty="0">
              <a:latin typeface="+mn-ea"/>
            </a:endParaRPr>
          </a:p>
        </p:txBody>
      </p:sp>
      <p:sp>
        <p:nvSpPr>
          <p:cNvPr id="31" name="Text 23"/>
          <p:cNvSpPr txBox="1"/>
          <p:nvPr/>
        </p:nvSpPr>
        <p:spPr>
          <a:xfrm>
            <a:off x="677737" y="5400667"/>
            <a:ext cx="45684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338CA"/>
                </a:solidFill>
                <a:latin typeface="+mn-ea"/>
                <a:cs typeface="Noto Sans KR" pitchFamily="34" charset="-120"/>
              </a:rPr>
              <a:t>프롬프트 수</a:t>
            </a:r>
            <a:endParaRPr lang="en-US" sz="900" dirty="0">
              <a:latin typeface="+mn-ea"/>
            </a:endParaRPr>
          </a:p>
        </p:txBody>
      </p:sp>
      <p:sp>
        <p:nvSpPr>
          <p:cNvPr id="32" name="Text 24"/>
          <p:cNvSpPr txBox="1"/>
          <p:nvPr/>
        </p:nvSpPr>
        <p:spPr>
          <a:xfrm>
            <a:off x="677737" y="5572574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저장하거나 사용한 프롬프트 템플릿 수입니다.</a:t>
            </a:r>
            <a:endParaRPr lang="en-US" sz="1000" dirty="0">
              <a:latin typeface="+mn-ea"/>
            </a:endParaRPr>
          </a:p>
        </p:txBody>
      </p:sp>
      <p:sp>
        <p:nvSpPr>
          <p:cNvPr id="33" name="Text 25"/>
          <p:cNvSpPr txBox="1"/>
          <p:nvPr/>
        </p:nvSpPr>
        <p:spPr>
          <a:xfrm>
            <a:off x="677737" y="5869754"/>
            <a:ext cx="45684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338CA"/>
                </a:solidFill>
                <a:latin typeface="+mn-ea"/>
                <a:cs typeface="Noto Sans KR" pitchFamily="34" charset="-120"/>
              </a:rPr>
              <a:t>총 대화 수</a:t>
            </a:r>
            <a:endParaRPr lang="en-US" sz="900" dirty="0">
              <a:latin typeface="+mn-ea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677737" y="6041662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AI 모델과 나눈 전체 메시지 횟수. 적극적인 AI 활용도를 보여줍니다.</a:t>
            </a:r>
            <a:endParaRPr lang="en-US" sz="1000" dirty="0">
              <a:latin typeface="+mn-ea"/>
            </a:endParaRPr>
          </a:p>
        </p:txBody>
      </p:sp>
      <p:sp>
        <p:nvSpPr>
          <p:cNvPr id="35" name="Text 27"/>
          <p:cNvSpPr txBox="1"/>
          <p:nvPr/>
        </p:nvSpPr>
        <p:spPr>
          <a:xfrm>
            <a:off x="677737" y="6338842"/>
            <a:ext cx="45684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338CA"/>
                </a:solidFill>
                <a:latin typeface="+mn-ea"/>
                <a:cs typeface="Noto Sans KR" pitchFamily="34" charset="-120"/>
              </a:rPr>
              <a:t>사용 비용 / 평균 토큰</a:t>
            </a:r>
            <a:endParaRPr lang="en-US" sz="900" dirty="0">
              <a:latin typeface="+mn-ea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677737" y="6510749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누적 API 비용과 대화 1건당 평균 토큰 수. 크레딧 소진 모니터링에 활용합니다.</a:t>
            </a:r>
            <a:endParaRPr lang="en-US" sz="1000" dirty="0">
              <a:latin typeface="+mn-ea"/>
            </a:endParaRPr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9"/>
          <a:srcRect t="-5" b="-5"/>
          <a:stretch/>
        </p:blipFill>
        <p:spPr>
          <a:xfrm>
            <a:off x="5446437" y="4695665"/>
            <a:ext cx="4748418" cy="2198218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5645775" y="5277223"/>
            <a:ext cx="4404193" cy="9144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5775" y="4895918"/>
            <a:ext cx="261705" cy="304495"/>
          </a:xfrm>
          <a:prstGeom prst="rect">
            <a:avLst/>
          </a:prstGeom>
        </p:spPr>
      </p:pic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12526" y="4962670"/>
            <a:ext cx="147749" cy="171907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6065485" y="4915121"/>
            <a:ext cx="11324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학습 활동 요약</a:t>
            </a:r>
            <a:endParaRPr lang="en-US" sz="1300" dirty="0">
              <a:latin typeface="+mn-ea"/>
            </a:endParaRPr>
          </a:p>
        </p:txBody>
      </p:sp>
      <p:sp>
        <p:nvSpPr>
          <p:cNvPr id="42" name="Text 31"/>
          <p:cNvSpPr txBox="1"/>
          <p:nvPr/>
        </p:nvSpPr>
        <p:spPr>
          <a:xfrm>
            <a:off x="5645776" y="5400667"/>
            <a:ext cx="45684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+mn-ea"/>
                <a:cs typeface="Noto Sans KR" pitchFamily="34" charset="-120"/>
              </a:rPr>
              <a:t>프로젝트 생성</a:t>
            </a:r>
            <a:endParaRPr lang="en-US" sz="900" dirty="0">
              <a:latin typeface="+mn-ea"/>
            </a:endParaRPr>
          </a:p>
        </p:txBody>
      </p:sp>
      <p:sp>
        <p:nvSpPr>
          <p:cNvPr id="43" name="Text 32"/>
          <p:cNvSpPr txBox="1"/>
          <p:nvPr/>
        </p:nvSpPr>
        <p:spPr>
          <a:xfrm>
            <a:off x="5645776" y="5572574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에이전트·지식베이스 등을 묶어 관리하는 학습 단위를 만든 횟수입니다.</a:t>
            </a:r>
            <a:endParaRPr lang="en-US" sz="1000" dirty="0">
              <a:latin typeface="+mn-ea"/>
            </a:endParaRPr>
          </a:p>
        </p:txBody>
      </p:sp>
      <p:sp>
        <p:nvSpPr>
          <p:cNvPr id="44" name="Text 33"/>
          <p:cNvSpPr txBox="1"/>
          <p:nvPr/>
        </p:nvSpPr>
        <p:spPr>
          <a:xfrm>
            <a:off x="5645776" y="5869754"/>
            <a:ext cx="45684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+mn-ea"/>
                <a:cs typeface="Noto Sans KR" pitchFamily="34" charset="-120"/>
              </a:rPr>
              <a:t>지식베이스 활용</a:t>
            </a:r>
            <a:endParaRPr lang="en-US" sz="900" dirty="0">
              <a:latin typeface="+mn-ea"/>
            </a:endParaRPr>
          </a:p>
        </p:txBody>
      </p:sp>
      <p:sp>
        <p:nvSpPr>
          <p:cNvPr id="45" name="Text 34"/>
          <p:cNvSpPr txBox="1"/>
          <p:nvPr/>
        </p:nvSpPr>
        <p:spPr>
          <a:xfrm>
            <a:off x="5645776" y="6041662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문서를 업로드하고 RAG 검색 실습을 진행한 횟수입니다.</a:t>
            </a:r>
            <a:endParaRPr lang="en-US" sz="1000" dirty="0">
              <a:latin typeface="+mn-ea"/>
            </a:endParaRPr>
          </a:p>
        </p:txBody>
      </p:sp>
      <p:sp>
        <p:nvSpPr>
          <p:cNvPr id="46" name="Text 35"/>
          <p:cNvSpPr txBox="1"/>
          <p:nvPr/>
        </p:nvSpPr>
        <p:spPr>
          <a:xfrm>
            <a:off x="5645775" y="6338842"/>
            <a:ext cx="45032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+mn-ea"/>
                <a:cs typeface="Noto Sans KR" pitchFamily="34" charset="-120"/>
              </a:rPr>
              <a:t>MCP 도구 사용</a:t>
            </a:r>
            <a:endParaRPr lang="en-US" sz="900" dirty="0">
              <a:latin typeface="+mn-ea"/>
            </a:endParaRPr>
          </a:p>
        </p:txBody>
      </p:sp>
      <p:sp>
        <p:nvSpPr>
          <p:cNvPr id="47" name="Text 36"/>
          <p:cNvSpPr txBox="1"/>
          <p:nvPr/>
        </p:nvSpPr>
        <p:spPr>
          <a:xfrm>
            <a:off x="5645776" y="6510749"/>
            <a:ext cx="4568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에이전트 실행 중 외부 도구(웹 검색, 계산기 등)를 호출한 횟수입니다.</a:t>
            </a:r>
            <a:endParaRPr lang="en-US" sz="1000" dirty="0">
              <a:latin typeface="+mn-ea"/>
            </a:endParaRPr>
          </a:p>
        </p:txBody>
      </p:sp>
      <p:pic>
        <p:nvPicPr>
          <p:cNvPr id="48" name="Image 1" descr="preencoded.png">
            <a:extLst>
              <a:ext uri="{FF2B5EF4-FFF2-40B4-BE49-F238E27FC236}">
                <a16:creationId xmlns:a16="http://schemas.microsoft.com/office/drawing/2014/main" id="{056F8C71-CAF5-3A87-D72D-4AF56AB3F449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rcRect t="-400" b="-400"/>
          <a:stretch/>
        </p:blipFill>
        <p:spPr>
          <a:xfrm>
            <a:off x="552592" y="1764288"/>
            <a:ext cx="576000" cy="36000"/>
          </a:xfrm>
          <a:prstGeom prst="rect">
            <a:avLst/>
          </a:prstGeom>
        </p:spPr>
      </p:pic>
      <p:sp>
        <p:nvSpPr>
          <p:cNvPr id="49" name="Text 41">
            <a:extLst>
              <a:ext uri="{FF2B5EF4-FFF2-40B4-BE49-F238E27FC236}">
                <a16:creationId xmlns:a16="http://schemas.microsoft.com/office/drawing/2014/main" id="{988D8199-117E-EB12-546D-1AE6BA4C2524}"/>
              </a:ext>
            </a:extLst>
          </p:cNvPr>
          <p:cNvSpPr txBox="1"/>
          <p:nvPr/>
        </p:nvSpPr>
        <p:spPr>
          <a:xfrm>
            <a:off x="6568794" y="523531"/>
            <a:ext cx="3573041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2. 강사 시작하기 &gt;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학생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관리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기능</a:t>
            </a:r>
            <a:endParaRPr lang="en-US" altLang="ko-KR" sz="1401" dirty="0">
              <a:latin typeface="+mn-ea"/>
            </a:endParaRPr>
          </a:p>
        </p:txBody>
      </p:sp>
      <p:sp>
        <p:nvSpPr>
          <p:cNvPr id="50" name="Shape 0">
            <a:extLst>
              <a:ext uri="{FF2B5EF4-FFF2-40B4-BE49-F238E27FC236}">
                <a16:creationId xmlns:a16="http://schemas.microsoft.com/office/drawing/2014/main" id="{20BFB329-80BC-1C59-4AFA-BF5EA5E1466E}"/>
              </a:ext>
            </a:extLst>
          </p:cNvPr>
          <p:cNvSpPr/>
          <p:nvPr/>
        </p:nvSpPr>
        <p:spPr>
          <a:xfrm>
            <a:off x="362982" y="1060895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36C13F-2BA4-C721-3289-D881C733F382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sp>
        <p:nvSpPr>
          <p:cNvPr id="52" name="Shape 58">
            <a:extLst>
              <a:ext uri="{FF2B5EF4-FFF2-40B4-BE49-F238E27FC236}">
                <a16:creationId xmlns:a16="http://schemas.microsoft.com/office/drawing/2014/main" id="{E2087A85-E8A1-3BD0-0640-4ECCF6F30C2E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53" name="Text 59">
            <a:extLst>
              <a:ext uri="{FF2B5EF4-FFF2-40B4-BE49-F238E27FC236}">
                <a16:creationId xmlns:a16="http://schemas.microsoft.com/office/drawing/2014/main" id="{DAAB3072-CDA9-6435-2523-640F8498B47F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18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1596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4" y="1"/>
            <a:ext cx="10696412" cy="756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18289" y="-1050736"/>
            <a:ext cx="5014069" cy="6302400"/>
          </a:xfrm>
          <a:prstGeom prst="ellipse">
            <a:avLst/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-1253918" y="3886312"/>
            <a:ext cx="4178123" cy="5251664"/>
          </a:xfrm>
          <a:prstGeom prst="ellips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768932" y="3817649"/>
            <a:ext cx="2719774" cy="274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0" b="1" kern="0" spc="-1125" dirty="0" smtClean="0">
                <a:solidFill>
                  <a:srgbClr val="1E293B">
                    <a:alpha val="50000"/>
                  </a:srgbClr>
                </a:solidFill>
                <a:latin typeface="+mn-ea"/>
                <a:cs typeface="Noto Sans KR" pitchFamily="34" charset="-120"/>
              </a:rPr>
              <a:t>05</a:t>
            </a:r>
            <a:endParaRPr lang="en-US" sz="18000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8280" y="630251"/>
            <a:ext cx="9460144" cy="28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99" kern="0" spc="27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GrowFit </a:t>
            </a:r>
            <a:r>
              <a:rPr lang="en-US" sz="1299" kern="0" spc="27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en-US" sz="1299" kern="0" spc="27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AI 실습 </a:t>
            </a:r>
            <a:r>
              <a:rPr lang="en-US" sz="1299" kern="0" spc="27" dirty="0" err="1">
                <a:solidFill>
                  <a:srgbClr val="94A3B8"/>
                </a:solidFill>
                <a:latin typeface="+mn-ea"/>
                <a:cs typeface="Noto Sans KR" pitchFamily="34" charset="-120"/>
              </a:rPr>
              <a:t>플랫폼</a:t>
            </a:r>
            <a:r>
              <a:rPr lang="en-US" sz="1299" kern="0" spc="27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299" kern="0" spc="27" dirty="0" smtClean="0">
                <a:solidFill>
                  <a:srgbClr val="94A3B8"/>
                </a:solidFill>
                <a:latin typeface="+mn-ea"/>
                <a:cs typeface="Noto Sans KR" pitchFamily="34" charset="-120"/>
              </a:rPr>
              <a:t>강사 </a:t>
            </a:r>
            <a:r>
              <a:rPr lang="en-US" sz="1299" kern="0" spc="27" dirty="0" err="1" smtClean="0">
                <a:solidFill>
                  <a:srgbClr val="94A3B8"/>
                </a:solidFill>
                <a:latin typeface="+mn-ea"/>
                <a:cs typeface="Noto Sans KR" pitchFamily="34" charset="-120"/>
              </a:rPr>
              <a:t>매뉴얼</a:t>
            </a:r>
            <a:endParaRPr lang="en-US" sz="1299" dirty="0">
              <a:latin typeface="+mn-e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68280" y="1766689"/>
            <a:ext cx="9460144" cy="50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kern="0" spc="120" dirty="0">
                <a:solidFill>
                  <a:srgbClr val="818CF8"/>
                </a:solidFill>
                <a:latin typeface="+mn-ea"/>
                <a:cs typeface="Noto Sans KR" pitchFamily="34" charset="-120"/>
              </a:rPr>
              <a:t>PART 05</a:t>
            </a:r>
            <a:endParaRPr lang="en-US" sz="2100" dirty="0">
              <a:latin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8280" y="2439287"/>
            <a:ext cx="9627013" cy="840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kern="0" spc="-108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사용량 통계 &amp; 설정</a:t>
            </a:r>
            <a:endParaRPr lang="en-US" sz="4800" dirty="0">
              <a:latin typeface="+mn-ea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668278" y="3606996"/>
            <a:ext cx="668275" cy="635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8279" y="6186436"/>
            <a:ext cx="9359863" cy="1008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68277" y="6449625"/>
            <a:ext cx="1371048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BCT ONE Inc.</a:t>
            </a:r>
            <a:endParaRPr lang="en-US" sz="900" dirty="0">
              <a:latin typeface="+mn-ea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668277" y="6711805"/>
            <a:ext cx="1551555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Learn · Connect · Apply</a:t>
            </a:r>
            <a:endParaRPr lang="en-US" sz="900" dirty="0">
              <a:latin typeface="+mn-ea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9428863" y="6711805"/>
            <a:ext cx="716410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Version 2.0</a:t>
            </a:r>
            <a:endParaRPr lang="en-US" sz="900" dirty="0">
              <a:latin typeface="+mn-ea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68277" y="4090013"/>
            <a:ext cx="9448109" cy="82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"사용 현황을 분석하고,</a:t>
            </a:r>
            <a:endParaRPr lang="en-US" dirty="0">
              <a:latin typeface="+mn-ea"/>
            </a:endParaRPr>
          </a:p>
          <a:p>
            <a:r>
              <a:rPr lang="en-US" i="1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모델·알림·보안을 설정합니다." </a:t>
            </a:r>
            <a:endParaRPr lang="en-US" dirty="0"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>
            <a:extLst>
              <a:ext uri="{FF2B5EF4-FFF2-40B4-BE49-F238E27FC236}">
                <a16:creationId xmlns:a16="http://schemas.microsoft.com/office/drawing/2014/main" id="{3AEAFE89-D3DE-9238-E918-F6EAE5D8A4F1}"/>
              </a:ext>
            </a:extLst>
          </p:cNvPr>
          <p:cNvSpPr txBox="1"/>
          <p:nvPr/>
        </p:nvSpPr>
        <p:spPr>
          <a:xfrm>
            <a:off x="6358488" y="523531"/>
            <a:ext cx="3902785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5.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사용량 통계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설정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사용량 통계</a:t>
            </a:r>
            <a:endParaRPr lang="en-US" altLang="ko-KR" sz="1401" dirty="0">
              <a:latin typeface="+mn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4CA5DA5B-81AB-4FE7-B209-B11939D937B8}"/>
              </a:ext>
            </a:extLst>
          </p:cNvPr>
          <p:cNvSpPr/>
          <p:nvPr/>
        </p:nvSpPr>
        <p:spPr>
          <a:xfrm>
            <a:off x="362982" y="1060895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7DD52-E092-2DBD-B4D1-780E7893459F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sp>
        <p:nvSpPr>
          <p:cNvPr id="5" name="Shape 58">
            <a:extLst>
              <a:ext uri="{FF2B5EF4-FFF2-40B4-BE49-F238E27FC236}">
                <a16:creationId xmlns:a16="http://schemas.microsoft.com/office/drawing/2014/main" id="{E6524408-BEB6-12C4-4DEE-86F9EA934C62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6" name="Text 59">
            <a:extLst>
              <a:ext uri="{FF2B5EF4-FFF2-40B4-BE49-F238E27FC236}">
                <a16:creationId xmlns:a16="http://schemas.microsoft.com/office/drawing/2014/main" id="{1C08FEA8-0C28-2EA0-64EB-C24D25932787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20</a:t>
            </a:r>
            <a:endParaRPr lang="en-US" sz="1000" dirty="0">
              <a:latin typeface="+mn-ea"/>
            </a:endParaRPr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26A3BA27-F77B-BF23-84CD-C98DA5446C07}"/>
              </a:ext>
            </a:extLst>
          </p:cNvPr>
          <p:cNvSpPr/>
          <p:nvPr/>
        </p:nvSpPr>
        <p:spPr>
          <a:xfrm>
            <a:off x="528256" y="1754480"/>
            <a:ext cx="762015" cy="38421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16877-1503-AB4E-981D-3F374496714E}"/>
              </a:ext>
            </a:extLst>
          </p:cNvPr>
          <p:cNvSpPr txBox="1"/>
          <p:nvPr/>
        </p:nvSpPr>
        <p:spPr>
          <a:xfrm>
            <a:off x="466820" y="1272836"/>
            <a:ext cx="53482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2000" b="1" dirty="0" err="1">
                <a:latin typeface="+mn-ea"/>
                <a:cs typeface="Noto Sans KR" pitchFamily="34" charset="-120"/>
              </a:rPr>
              <a:t>사용량</a:t>
            </a:r>
            <a:r>
              <a:rPr lang="en-US" altLang="ko-KR" sz="2000" b="1" dirty="0">
                <a:latin typeface="+mn-ea"/>
                <a:cs typeface="Noto Sans KR" pitchFamily="34" charset="-120"/>
              </a:rPr>
              <a:t> </a:t>
            </a:r>
            <a:r>
              <a:rPr lang="en-US" altLang="ko-KR" sz="2000" b="1" dirty="0" err="1">
                <a:latin typeface="+mn-ea"/>
                <a:cs typeface="Noto Sans KR" pitchFamily="34" charset="-120"/>
              </a:rPr>
              <a:t>통계</a:t>
            </a:r>
            <a:r>
              <a:rPr lang="en-US" altLang="ko-KR" sz="2000" b="1" dirty="0">
                <a:latin typeface="+mn-ea"/>
                <a:cs typeface="Noto Sans KR" pitchFamily="34" charset="-120"/>
              </a:rPr>
              <a:t> – </a:t>
            </a:r>
            <a:r>
              <a:rPr lang="en-US" altLang="ko-KR" sz="2000" b="1" dirty="0" err="1">
                <a:latin typeface="+mn-ea"/>
                <a:cs typeface="Noto Sans KR" pitchFamily="34" charset="-120"/>
              </a:rPr>
              <a:t>페이지</a:t>
            </a:r>
            <a:r>
              <a:rPr lang="en-US" altLang="ko-KR" sz="2000" b="1" dirty="0">
                <a:latin typeface="+mn-ea"/>
                <a:cs typeface="Noto Sans KR" pitchFamily="34" charset="-120"/>
              </a:rPr>
              <a:t> </a:t>
            </a:r>
            <a:r>
              <a:rPr lang="en-US" altLang="ko-KR" sz="2000" b="1" dirty="0" err="1">
                <a:latin typeface="+mn-ea"/>
                <a:cs typeface="Noto Sans KR" pitchFamily="34" charset="-120"/>
              </a:rPr>
              <a:t>구성</a:t>
            </a:r>
            <a:r>
              <a:rPr lang="en-US" altLang="ko-KR" sz="2000" b="1" dirty="0">
                <a:latin typeface="+mn-ea"/>
                <a:cs typeface="Noto Sans KR" pitchFamily="34" charset="-120"/>
              </a:rPr>
              <a:t> </a:t>
            </a:r>
            <a:r>
              <a:rPr lang="en-US" altLang="ko-KR" sz="2000" b="1" dirty="0" err="1">
                <a:latin typeface="+mn-ea"/>
                <a:cs typeface="Noto Sans KR" pitchFamily="34" charset="-120"/>
              </a:rPr>
              <a:t>안내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60B33-B10E-690D-E7E1-81D9996A23E9}"/>
              </a:ext>
            </a:extLst>
          </p:cNvPr>
          <p:cNvSpPr txBox="1"/>
          <p:nvPr/>
        </p:nvSpPr>
        <p:spPr>
          <a:xfrm>
            <a:off x="548792" y="1907901"/>
            <a:ext cx="53482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100" dirty="0" err="1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관리자</a:t>
            </a:r>
            <a:r>
              <a:rPr lang="en-US" altLang="ko-KR" sz="1100" dirty="0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대시보드에서</a:t>
            </a:r>
            <a:r>
              <a:rPr lang="en-US" altLang="ko-KR" sz="1100" dirty="0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제공하는</a:t>
            </a:r>
            <a:r>
              <a:rPr lang="en-US" altLang="ko-KR" sz="1100" dirty="0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주요</a:t>
            </a:r>
            <a:r>
              <a:rPr lang="en-US" altLang="ko-KR" sz="1100" dirty="0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통계</a:t>
            </a:r>
            <a:r>
              <a:rPr lang="en-US" altLang="ko-KR" sz="1100" dirty="0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지표와</a:t>
            </a:r>
            <a:r>
              <a:rPr lang="en-US" altLang="ko-KR" sz="1100" dirty="0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필터</a:t>
            </a:r>
            <a:r>
              <a:rPr lang="en-US" altLang="ko-KR" sz="1100" dirty="0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기능을</a:t>
            </a:r>
            <a:r>
              <a:rPr lang="en-US" altLang="ko-KR" sz="1100" dirty="0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확인하세요</a:t>
            </a:r>
            <a:r>
              <a:rPr lang="en-US" altLang="ko-KR" sz="1100" dirty="0">
                <a:solidFill>
                  <a:srgbClr val="6B7280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en-US" altLang="ko-KR" sz="1100" dirty="0">
              <a:latin typeface="+mj-ea"/>
              <a:ea typeface="+mj-ea"/>
            </a:endParaRPr>
          </a:p>
        </p:txBody>
      </p:sp>
      <p:pic>
        <p:nvPicPr>
          <p:cNvPr id="57" name="Image 4" descr="preencoded.png">
            <a:extLst>
              <a:ext uri="{FF2B5EF4-FFF2-40B4-BE49-F238E27FC236}">
                <a16:creationId xmlns:a16="http://schemas.microsoft.com/office/drawing/2014/main" id="{9679DA77-B535-E094-EAF9-B744BE83A2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" r="-6"/>
          <a:stretch/>
        </p:blipFill>
        <p:spPr>
          <a:xfrm>
            <a:off x="403250" y="2526487"/>
            <a:ext cx="3181198" cy="1538021"/>
          </a:xfrm>
          <a:prstGeom prst="rect">
            <a:avLst/>
          </a:prstGeom>
        </p:spPr>
      </p:pic>
      <p:pic>
        <p:nvPicPr>
          <p:cNvPr id="58" name="Image 5" descr="preencoded.png">
            <a:extLst>
              <a:ext uri="{FF2B5EF4-FFF2-40B4-BE49-F238E27FC236}">
                <a16:creationId xmlns:a16="http://schemas.microsoft.com/office/drawing/2014/main" id="{B48494CC-980C-F733-F999-5ADAA4415C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589" y="2725826"/>
            <a:ext cx="381305" cy="381305"/>
          </a:xfrm>
          <a:prstGeom prst="rect">
            <a:avLst/>
          </a:prstGeom>
        </p:spPr>
      </p:pic>
      <p:sp>
        <p:nvSpPr>
          <p:cNvPr id="59" name="Text 14">
            <a:extLst>
              <a:ext uri="{FF2B5EF4-FFF2-40B4-BE49-F238E27FC236}">
                <a16:creationId xmlns:a16="http://schemas.microsoft.com/office/drawing/2014/main" id="{1C7FB012-DF12-61E6-B6B6-88192DC9C5EE}"/>
              </a:ext>
            </a:extLst>
          </p:cNvPr>
          <p:cNvSpPr txBox="1"/>
          <p:nvPr/>
        </p:nvSpPr>
        <p:spPr>
          <a:xfrm>
            <a:off x="574243" y="2725826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44ABE976-2D8D-4DAA-D356-D1BBF2163D8B}"/>
              </a:ext>
            </a:extLst>
          </p:cNvPr>
          <p:cNvSpPr txBox="1"/>
          <p:nvPr/>
        </p:nvSpPr>
        <p:spPr>
          <a:xfrm>
            <a:off x="1136599" y="2725826"/>
            <a:ext cx="1133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 필터 탭</a:t>
            </a:r>
            <a:endParaRPr lang="en-US" sz="1300" dirty="0"/>
          </a:p>
        </p:txBody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7ED67E5F-CEC3-0A26-C852-A824D9B5C3F3}"/>
              </a:ext>
            </a:extLst>
          </p:cNvPr>
          <p:cNvSpPr txBox="1"/>
          <p:nvPr/>
        </p:nvSpPr>
        <p:spPr>
          <a:xfrm>
            <a:off x="1136599" y="3183026"/>
            <a:ext cx="23244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일간 / 주간 / 월간 / 전체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 선택.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선택한 기간의 데이터만 집계되어 표시됩니다. </a:t>
            </a:r>
            <a:endParaRPr lang="en-US" sz="1000" dirty="0"/>
          </a:p>
        </p:txBody>
      </p:sp>
      <p:pic>
        <p:nvPicPr>
          <p:cNvPr id="62" name="Image 6" descr="preencoded.png">
            <a:extLst>
              <a:ext uri="{FF2B5EF4-FFF2-40B4-BE49-F238E27FC236}">
                <a16:creationId xmlns:a16="http://schemas.microsoft.com/office/drawing/2014/main" id="{A2060B88-DFF3-E522-FDA5-BC617B312C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" r="-6"/>
          <a:stretch/>
        </p:blipFill>
        <p:spPr>
          <a:xfrm>
            <a:off x="3774643" y="2526487"/>
            <a:ext cx="3181198" cy="1538021"/>
          </a:xfrm>
          <a:prstGeom prst="rect">
            <a:avLst/>
          </a:prstGeom>
        </p:spPr>
      </p:pic>
      <p:pic>
        <p:nvPicPr>
          <p:cNvPr id="63" name="Image 7" descr="preencoded.png">
            <a:extLst>
              <a:ext uri="{FF2B5EF4-FFF2-40B4-BE49-F238E27FC236}">
                <a16:creationId xmlns:a16="http://schemas.microsoft.com/office/drawing/2014/main" id="{860AAAD3-F0A8-7894-BB64-26C83D1B03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74896" y="2725826"/>
            <a:ext cx="381305" cy="381305"/>
          </a:xfrm>
          <a:prstGeom prst="rect">
            <a:avLst/>
          </a:prstGeom>
        </p:spPr>
      </p:pic>
      <p:sp>
        <p:nvSpPr>
          <p:cNvPr id="64" name="Text 17">
            <a:extLst>
              <a:ext uri="{FF2B5EF4-FFF2-40B4-BE49-F238E27FC236}">
                <a16:creationId xmlns:a16="http://schemas.microsoft.com/office/drawing/2014/main" id="{0E83C16F-AE4E-222D-EC51-0F8C4D4FCF98}"/>
              </a:ext>
            </a:extLst>
          </p:cNvPr>
          <p:cNvSpPr txBox="1"/>
          <p:nvPr/>
        </p:nvSpPr>
        <p:spPr>
          <a:xfrm>
            <a:off x="3945635" y="2725826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B9E07B3C-9ED7-78BB-34F1-80F9037E0E82}"/>
              </a:ext>
            </a:extLst>
          </p:cNvPr>
          <p:cNvSpPr txBox="1"/>
          <p:nvPr/>
        </p:nvSpPr>
        <p:spPr>
          <a:xfrm>
            <a:off x="4507991" y="2725826"/>
            <a:ext cx="8421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필터</a:t>
            </a:r>
            <a:endParaRPr lang="en-US" sz="13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89F91CB8-CC95-CAE7-F221-D5EB5B8B3F62}"/>
              </a:ext>
            </a:extLst>
          </p:cNvPr>
          <p:cNvSpPr txBox="1"/>
          <p:nvPr/>
        </p:nvSpPr>
        <p:spPr>
          <a:xfrm>
            <a:off x="4507991" y="3183026"/>
            <a:ext cx="23244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오른쪽 상단 드롭다운 메뉴를 통해 </a:t>
            </a: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강의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데이터만 필터링하여 조회할 수 있습니다. </a:t>
            </a:r>
            <a:endParaRPr lang="en-US" sz="1000" dirty="0"/>
          </a:p>
        </p:txBody>
      </p:sp>
      <p:pic>
        <p:nvPicPr>
          <p:cNvPr id="67" name="Image 8" descr="preencoded.png">
            <a:extLst>
              <a:ext uri="{FF2B5EF4-FFF2-40B4-BE49-F238E27FC236}">
                <a16:creationId xmlns:a16="http://schemas.microsoft.com/office/drawing/2014/main" id="{69DB9395-BE6B-D012-16F4-25370AA1A9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" r="-6"/>
          <a:stretch/>
        </p:blipFill>
        <p:spPr>
          <a:xfrm>
            <a:off x="7146035" y="2526487"/>
            <a:ext cx="3181198" cy="1538021"/>
          </a:xfrm>
          <a:prstGeom prst="rect">
            <a:avLst/>
          </a:prstGeom>
        </p:spPr>
      </p:pic>
      <p:pic>
        <p:nvPicPr>
          <p:cNvPr id="68" name="Image 9" descr="preencoded.png">
            <a:extLst>
              <a:ext uri="{FF2B5EF4-FFF2-40B4-BE49-F238E27FC236}">
                <a16:creationId xmlns:a16="http://schemas.microsoft.com/office/drawing/2014/main" id="{20D6BA49-8FD7-8C6D-1560-E30EFB10E9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46289" y="2725826"/>
            <a:ext cx="381305" cy="381305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8A65B989-6297-BDA5-62E5-A1E6F981B3A4}"/>
              </a:ext>
            </a:extLst>
          </p:cNvPr>
          <p:cNvSpPr txBox="1"/>
          <p:nvPr/>
        </p:nvSpPr>
        <p:spPr>
          <a:xfrm>
            <a:off x="7317943" y="2725826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70" name="Text 21">
            <a:extLst>
              <a:ext uri="{FF2B5EF4-FFF2-40B4-BE49-F238E27FC236}">
                <a16:creationId xmlns:a16="http://schemas.microsoft.com/office/drawing/2014/main" id="{F588DA06-6988-3301-6E9E-ABC0F5CF2A3D}"/>
              </a:ext>
            </a:extLst>
          </p:cNvPr>
          <p:cNvSpPr txBox="1"/>
          <p:nvPr/>
        </p:nvSpPr>
        <p:spPr>
          <a:xfrm>
            <a:off x="7879384" y="2725826"/>
            <a:ext cx="8421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카드</a:t>
            </a:r>
            <a:endParaRPr lang="en-US" sz="1300" dirty="0"/>
          </a:p>
        </p:txBody>
      </p:sp>
      <p:sp>
        <p:nvSpPr>
          <p:cNvPr id="71" name="Text 22">
            <a:extLst>
              <a:ext uri="{FF2B5EF4-FFF2-40B4-BE49-F238E27FC236}">
                <a16:creationId xmlns:a16="http://schemas.microsoft.com/office/drawing/2014/main" id="{B938B276-13F0-71CF-0BBB-B937232C0A14}"/>
              </a:ext>
            </a:extLst>
          </p:cNvPr>
          <p:cNvSpPr txBox="1"/>
          <p:nvPr/>
        </p:nvSpPr>
        <p:spPr>
          <a:xfrm>
            <a:off x="7879384" y="3183026"/>
            <a:ext cx="23244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총 대화 · 학생 수 · 활성 학생 · 학생당 평균 사용량을 한눈에 확인합니다. </a:t>
            </a:r>
            <a:endParaRPr lang="en-US" sz="1000" dirty="0"/>
          </a:p>
        </p:txBody>
      </p:sp>
      <p:pic>
        <p:nvPicPr>
          <p:cNvPr id="72" name="Image 10" descr="preencoded.png">
            <a:extLst>
              <a:ext uri="{FF2B5EF4-FFF2-40B4-BE49-F238E27FC236}">
                <a16:creationId xmlns:a16="http://schemas.microsoft.com/office/drawing/2014/main" id="{532270D0-DE7A-3627-5E4C-FB59509854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403250" y="4254703"/>
            <a:ext cx="4867351" cy="2052828"/>
          </a:xfrm>
          <a:prstGeom prst="rect">
            <a:avLst/>
          </a:prstGeom>
        </p:spPr>
      </p:pic>
      <p:pic>
        <p:nvPicPr>
          <p:cNvPr id="73" name="Image 11" descr="preencoded.png">
            <a:extLst>
              <a:ext uri="{FF2B5EF4-FFF2-40B4-BE49-F238E27FC236}">
                <a16:creationId xmlns:a16="http://schemas.microsoft.com/office/drawing/2014/main" id="{FA2C1732-5722-D661-CF8F-7C15367252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994" y="4493361"/>
            <a:ext cx="381305" cy="381305"/>
          </a:xfrm>
          <a:prstGeom prst="rect">
            <a:avLst/>
          </a:prstGeom>
        </p:spPr>
      </p:pic>
      <p:sp>
        <p:nvSpPr>
          <p:cNvPr id="74" name="Text 23">
            <a:extLst>
              <a:ext uri="{FF2B5EF4-FFF2-40B4-BE49-F238E27FC236}">
                <a16:creationId xmlns:a16="http://schemas.microsoft.com/office/drawing/2014/main" id="{7DAB379C-EBEB-5F75-D977-986C7E86DF42}"/>
              </a:ext>
            </a:extLst>
          </p:cNvPr>
          <p:cNvSpPr txBox="1"/>
          <p:nvPr/>
        </p:nvSpPr>
        <p:spPr>
          <a:xfrm>
            <a:off x="612647" y="4493361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400" dirty="0"/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4FD20B61-8379-1EBD-AEF4-5CD5F5B7E06C}"/>
              </a:ext>
            </a:extLst>
          </p:cNvPr>
          <p:cNvSpPr txBox="1"/>
          <p:nvPr/>
        </p:nvSpPr>
        <p:spPr>
          <a:xfrm>
            <a:off x="1174089" y="4493361"/>
            <a:ext cx="40480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막대 차트</a:t>
            </a:r>
            <a:endParaRPr lang="en-US" sz="1300" dirty="0"/>
          </a:p>
        </p:txBody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EFAF66B5-2351-3B71-105E-86E7DE61B8BA}"/>
              </a:ext>
            </a:extLst>
          </p:cNvPr>
          <p:cNvSpPr txBox="1"/>
          <p:nvPr/>
        </p:nvSpPr>
        <p:spPr>
          <a:xfrm>
            <a:off x="1174089" y="4836261"/>
            <a:ext cx="3933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날짜별 </a:t>
            </a:r>
            <a:r>
              <a:rPr lang="en-US" sz="10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대화 건수 추이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막대 그래프로 시각화하여 보여줍니다. 드래그하여 확대할 수 있습니다. </a:t>
            </a:r>
            <a:endParaRPr lang="en-US" sz="1000" dirty="0"/>
          </a:p>
        </p:txBody>
      </p:sp>
      <p:pic>
        <p:nvPicPr>
          <p:cNvPr id="77" name="Image 12" descr="preencoded.png">
            <a:extLst>
              <a:ext uri="{FF2B5EF4-FFF2-40B4-BE49-F238E27FC236}">
                <a16:creationId xmlns:a16="http://schemas.microsoft.com/office/drawing/2014/main" id="{8F36A891-C42E-ECDA-8372-B4E33B6A0D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5460796" y="4254703"/>
            <a:ext cx="4867351" cy="2052828"/>
          </a:xfrm>
          <a:prstGeom prst="rect">
            <a:avLst/>
          </a:prstGeom>
        </p:spPr>
      </p:pic>
      <p:pic>
        <p:nvPicPr>
          <p:cNvPr id="78" name="Image 13" descr="preencoded.png">
            <a:extLst>
              <a:ext uri="{FF2B5EF4-FFF2-40B4-BE49-F238E27FC236}">
                <a16:creationId xmlns:a16="http://schemas.microsoft.com/office/drawing/2014/main" id="{A1E6F3A8-3425-96A6-9D95-73FBC9C8FD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98540" y="4493361"/>
            <a:ext cx="381305" cy="381305"/>
          </a:xfrm>
          <a:prstGeom prst="rect">
            <a:avLst/>
          </a:prstGeom>
        </p:spPr>
      </p:pic>
      <p:sp>
        <p:nvSpPr>
          <p:cNvPr id="79" name="Text 26">
            <a:extLst>
              <a:ext uri="{FF2B5EF4-FFF2-40B4-BE49-F238E27FC236}">
                <a16:creationId xmlns:a16="http://schemas.microsoft.com/office/drawing/2014/main" id="{4C790477-76CA-C7C6-C476-DAF6481F24C9}"/>
              </a:ext>
            </a:extLst>
          </p:cNvPr>
          <p:cNvSpPr txBox="1"/>
          <p:nvPr/>
        </p:nvSpPr>
        <p:spPr>
          <a:xfrm>
            <a:off x="5670194" y="4493361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400" dirty="0"/>
          </a:p>
        </p:txBody>
      </p:sp>
      <p:sp>
        <p:nvSpPr>
          <p:cNvPr id="80" name="Text 27">
            <a:extLst>
              <a:ext uri="{FF2B5EF4-FFF2-40B4-BE49-F238E27FC236}">
                <a16:creationId xmlns:a16="http://schemas.microsoft.com/office/drawing/2014/main" id="{89F04C23-3261-1F3A-6D21-59F9B3ECD5C2}"/>
              </a:ext>
            </a:extLst>
          </p:cNvPr>
          <p:cNvSpPr txBox="1"/>
          <p:nvPr/>
        </p:nvSpPr>
        <p:spPr>
          <a:xfrm>
            <a:off x="6231635" y="4493361"/>
            <a:ext cx="40480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모델별 사용현황</a:t>
            </a:r>
            <a:endParaRPr lang="en-US" sz="1300" dirty="0"/>
          </a:p>
        </p:txBody>
      </p:sp>
      <p:sp>
        <p:nvSpPr>
          <p:cNvPr id="81" name="Text 28">
            <a:extLst>
              <a:ext uri="{FF2B5EF4-FFF2-40B4-BE49-F238E27FC236}">
                <a16:creationId xmlns:a16="http://schemas.microsoft.com/office/drawing/2014/main" id="{43004D22-84AB-3360-98C4-CC82691C46A5}"/>
              </a:ext>
            </a:extLst>
          </p:cNvPr>
          <p:cNvSpPr txBox="1"/>
          <p:nvPr/>
        </p:nvSpPr>
        <p:spPr>
          <a:xfrm>
            <a:off x="6231635" y="4836261"/>
            <a:ext cx="3933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 모델의 </a:t>
            </a: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 · 사용 횟수 · 비중</a:t>
            </a: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막대와 함께 상세하게 표시합니다. </a:t>
            </a:r>
            <a:endParaRPr lang="en-US" sz="1000" dirty="0"/>
          </a:p>
        </p:txBody>
      </p:sp>
      <p:sp>
        <p:nvSpPr>
          <p:cNvPr id="82" name="Shape 29">
            <a:extLst>
              <a:ext uri="{FF2B5EF4-FFF2-40B4-BE49-F238E27FC236}">
                <a16:creationId xmlns:a16="http://schemas.microsoft.com/office/drawing/2014/main" id="{A316FCBA-D7BC-1DA4-45D7-002226D2936A}"/>
              </a:ext>
            </a:extLst>
          </p:cNvPr>
          <p:cNvSpPr/>
          <p:nvPr/>
        </p:nvSpPr>
        <p:spPr>
          <a:xfrm>
            <a:off x="1174089" y="6060643"/>
            <a:ext cx="385785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3" name="Image 14" descr="preencoded.png">
            <a:extLst>
              <a:ext uri="{FF2B5EF4-FFF2-40B4-BE49-F238E27FC236}">
                <a16:creationId xmlns:a16="http://schemas.microsoft.com/office/drawing/2014/main" id="{85252281-E5A3-E906-4A7A-EAB3B871C6D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rcRect l="-17" r="-17"/>
          <a:stretch/>
        </p:blipFill>
        <p:spPr>
          <a:xfrm>
            <a:off x="1174089" y="5792724"/>
            <a:ext cx="579730" cy="228600"/>
          </a:xfrm>
          <a:prstGeom prst="rect">
            <a:avLst/>
          </a:prstGeom>
        </p:spPr>
      </p:pic>
      <p:pic>
        <p:nvPicPr>
          <p:cNvPr id="84" name="Image 15" descr="preencoded.png">
            <a:extLst>
              <a:ext uri="{FF2B5EF4-FFF2-40B4-BE49-F238E27FC236}">
                <a16:creationId xmlns:a16="http://schemas.microsoft.com/office/drawing/2014/main" id="{3175825A-60FE-4C4F-BDB6-86B76D4F915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0000"/>
          </a:blip>
          <a:srcRect t="-10" b="-10"/>
          <a:stretch/>
        </p:blipFill>
        <p:spPr>
          <a:xfrm>
            <a:off x="1829714" y="5640933"/>
            <a:ext cx="579730" cy="381305"/>
          </a:xfrm>
          <a:prstGeom prst="rect">
            <a:avLst/>
          </a:prstGeom>
        </p:spPr>
      </p:pic>
      <p:pic>
        <p:nvPicPr>
          <p:cNvPr id="85" name="Image 16" descr="preencoded.png">
            <a:extLst>
              <a:ext uri="{FF2B5EF4-FFF2-40B4-BE49-F238E27FC236}">
                <a16:creationId xmlns:a16="http://schemas.microsoft.com/office/drawing/2014/main" id="{F1603CE8-16EC-3E3C-F984-0482CE7EC7E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60000"/>
          </a:blip>
          <a:srcRect l="-45" r="-45"/>
          <a:stretch/>
        </p:blipFill>
        <p:spPr>
          <a:xfrm>
            <a:off x="2485339" y="5488228"/>
            <a:ext cx="579730" cy="533095"/>
          </a:xfrm>
          <a:prstGeom prst="rect">
            <a:avLst/>
          </a:prstGeom>
        </p:spPr>
      </p:pic>
      <p:pic>
        <p:nvPicPr>
          <p:cNvPr id="86" name="Image 17" descr="preencoded.png">
            <a:extLst>
              <a:ext uri="{FF2B5EF4-FFF2-40B4-BE49-F238E27FC236}">
                <a16:creationId xmlns:a16="http://schemas.microsoft.com/office/drawing/2014/main" id="{5ED2B611-8ED2-1830-4CE3-95401BDD08B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60000"/>
          </a:blip>
          <a:srcRect l="-80" r="-80"/>
          <a:stretch/>
        </p:blipFill>
        <p:spPr>
          <a:xfrm>
            <a:off x="3140963" y="5716828"/>
            <a:ext cx="579730" cy="304495"/>
          </a:xfrm>
          <a:prstGeom prst="rect">
            <a:avLst/>
          </a:prstGeom>
        </p:spPr>
      </p:pic>
      <p:pic>
        <p:nvPicPr>
          <p:cNvPr id="87" name="Image 18" descr="preencoded.png">
            <a:extLst>
              <a:ext uri="{FF2B5EF4-FFF2-40B4-BE49-F238E27FC236}">
                <a16:creationId xmlns:a16="http://schemas.microsoft.com/office/drawing/2014/main" id="{7F09E3A4-B8C4-A489-9B8A-E7A1534EF8F3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60000"/>
          </a:blip>
          <a:srcRect l="-5" r="-5"/>
          <a:stretch/>
        </p:blipFill>
        <p:spPr>
          <a:xfrm>
            <a:off x="3796588" y="5412333"/>
            <a:ext cx="579730" cy="609905"/>
          </a:xfrm>
          <a:prstGeom prst="rect">
            <a:avLst/>
          </a:prstGeom>
        </p:spPr>
      </p:pic>
      <p:pic>
        <p:nvPicPr>
          <p:cNvPr id="88" name="Image 19" descr="preencoded.png">
            <a:extLst>
              <a:ext uri="{FF2B5EF4-FFF2-40B4-BE49-F238E27FC236}">
                <a16:creationId xmlns:a16="http://schemas.microsoft.com/office/drawing/2014/main" id="{F3454008-470A-ABB0-4C66-D16A30916779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60000"/>
          </a:blip>
          <a:srcRect l="-30" r="-30"/>
          <a:stretch/>
        </p:blipFill>
        <p:spPr>
          <a:xfrm>
            <a:off x="4452213" y="5564124"/>
            <a:ext cx="579730" cy="457200"/>
          </a:xfrm>
          <a:prstGeom prst="rect">
            <a:avLst/>
          </a:prstGeom>
        </p:spPr>
      </p:pic>
      <p:sp>
        <p:nvSpPr>
          <p:cNvPr id="89" name="Text 30">
            <a:extLst>
              <a:ext uri="{FF2B5EF4-FFF2-40B4-BE49-F238E27FC236}">
                <a16:creationId xmlns:a16="http://schemas.microsoft.com/office/drawing/2014/main" id="{FFC0C517-4126-7882-4E4E-5B489F489025}"/>
              </a:ext>
            </a:extLst>
          </p:cNvPr>
          <p:cNvSpPr txBox="1"/>
          <p:nvPr/>
        </p:nvSpPr>
        <p:spPr>
          <a:xfrm>
            <a:off x="6231635" y="5421477"/>
            <a:ext cx="400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GPT-4</a:t>
            </a:r>
            <a:endParaRPr lang="en-US" sz="800" dirty="0"/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CB663652-6BC8-CC60-9812-FCA14BC16D90}"/>
              </a:ext>
            </a:extLst>
          </p:cNvPr>
          <p:cNvSpPr txBox="1"/>
          <p:nvPr/>
        </p:nvSpPr>
        <p:spPr>
          <a:xfrm>
            <a:off x="9857231" y="5421477"/>
            <a:ext cx="314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45%</a:t>
            </a:r>
            <a:endParaRPr lang="en-US" sz="800" dirty="0"/>
          </a:p>
        </p:txBody>
      </p:sp>
      <p:pic>
        <p:nvPicPr>
          <p:cNvPr id="91" name="Image 20" descr="preencoded.png">
            <a:extLst>
              <a:ext uri="{FF2B5EF4-FFF2-40B4-BE49-F238E27FC236}">
                <a16:creationId xmlns:a16="http://schemas.microsoft.com/office/drawing/2014/main" id="{E0AED28F-796F-FAE5-E860-0385D075FA38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60000"/>
          </a:blip>
          <a:srcRect l="-204" r="-204"/>
          <a:stretch/>
        </p:blipFill>
        <p:spPr>
          <a:xfrm>
            <a:off x="6231635" y="5611672"/>
            <a:ext cx="3857854" cy="75895"/>
          </a:xfrm>
          <a:prstGeom prst="rect">
            <a:avLst/>
          </a:prstGeom>
        </p:spPr>
      </p:pic>
      <p:pic>
        <p:nvPicPr>
          <p:cNvPr id="92" name="Image 21" descr="preencoded.png">
            <a:extLst>
              <a:ext uri="{FF2B5EF4-FFF2-40B4-BE49-F238E27FC236}">
                <a16:creationId xmlns:a16="http://schemas.microsoft.com/office/drawing/2014/main" id="{E6DAAA7E-FF9F-5D41-32A1-1013F29AA42B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60000"/>
          </a:blip>
          <a:srcRect l="-204" r="-204"/>
          <a:stretch/>
        </p:blipFill>
        <p:spPr>
          <a:xfrm>
            <a:off x="6231635" y="5611672"/>
            <a:ext cx="3857854" cy="75895"/>
          </a:xfrm>
          <a:prstGeom prst="rect">
            <a:avLst/>
          </a:prstGeom>
        </p:spPr>
      </p:pic>
      <p:sp>
        <p:nvSpPr>
          <p:cNvPr id="93" name="Text 32">
            <a:extLst>
              <a:ext uri="{FF2B5EF4-FFF2-40B4-BE49-F238E27FC236}">
                <a16:creationId xmlns:a16="http://schemas.microsoft.com/office/drawing/2014/main" id="{C68DCA87-AC3E-BD65-EFF3-14443AD4AD14}"/>
              </a:ext>
            </a:extLst>
          </p:cNvPr>
          <p:cNvSpPr txBox="1"/>
          <p:nvPr/>
        </p:nvSpPr>
        <p:spPr>
          <a:xfrm>
            <a:off x="6231635" y="5802782"/>
            <a:ext cx="6803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3.5</a:t>
            </a:r>
            <a:endParaRPr lang="en-US" sz="800" dirty="0"/>
          </a:p>
        </p:txBody>
      </p:sp>
      <p:sp>
        <p:nvSpPr>
          <p:cNvPr id="94" name="Text 33">
            <a:extLst>
              <a:ext uri="{FF2B5EF4-FFF2-40B4-BE49-F238E27FC236}">
                <a16:creationId xmlns:a16="http://schemas.microsoft.com/office/drawing/2014/main" id="{278C08AC-CD7D-3CFD-1355-C68CB6D9CBDE}"/>
              </a:ext>
            </a:extLst>
          </p:cNvPr>
          <p:cNvSpPr txBox="1"/>
          <p:nvPr/>
        </p:nvSpPr>
        <p:spPr>
          <a:xfrm>
            <a:off x="9857231" y="5802782"/>
            <a:ext cx="314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</a:t>
            </a:r>
            <a:endParaRPr lang="en-US" sz="800" dirty="0"/>
          </a:p>
        </p:txBody>
      </p:sp>
      <p:pic>
        <p:nvPicPr>
          <p:cNvPr id="95" name="Image 22" descr="preencoded.png">
            <a:extLst>
              <a:ext uri="{FF2B5EF4-FFF2-40B4-BE49-F238E27FC236}">
                <a16:creationId xmlns:a16="http://schemas.microsoft.com/office/drawing/2014/main" id="{9B52F53A-FF51-A1DA-FC2A-A54A9D5C9E89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60000"/>
          </a:blip>
          <a:srcRect l="-204" r="-204"/>
          <a:stretch/>
        </p:blipFill>
        <p:spPr>
          <a:xfrm>
            <a:off x="6231635" y="5992977"/>
            <a:ext cx="3857854" cy="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73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09C57-D9AF-EBC1-C890-E8689C4B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>
            <a:extLst>
              <a:ext uri="{FF2B5EF4-FFF2-40B4-BE49-F238E27FC236}">
                <a16:creationId xmlns:a16="http://schemas.microsoft.com/office/drawing/2014/main" id="{E15382B0-7960-3642-2673-69573E08CBFB}"/>
              </a:ext>
            </a:extLst>
          </p:cNvPr>
          <p:cNvSpPr txBox="1"/>
          <p:nvPr/>
        </p:nvSpPr>
        <p:spPr>
          <a:xfrm>
            <a:off x="6358488" y="523531"/>
            <a:ext cx="3902785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5.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사용량 통계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설정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사용량 통계</a:t>
            </a:r>
            <a:endParaRPr lang="en-US" altLang="ko-KR" sz="1401" dirty="0">
              <a:latin typeface="+mn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80ADC878-A02E-E944-F64D-4B8C7C1396CE}"/>
              </a:ext>
            </a:extLst>
          </p:cNvPr>
          <p:cNvSpPr/>
          <p:nvPr/>
        </p:nvSpPr>
        <p:spPr>
          <a:xfrm>
            <a:off x="362982" y="1060895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F41FB-3144-3B70-80C8-003485595D35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sp>
        <p:nvSpPr>
          <p:cNvPr id="5" name="Shape 58">
            <a:extLst>
              <a:ext uri="{FF2B5EF4-FFF2-40B4-BE49-F238E27FC236}">
                <a16:creationId xmlns:a16="http://schemas.microsoft.com/office/drawing/2014/main" id="{D3EB575A-5EB2-E20A-AF87-E71193442DFB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6" name="Text 59">
            <a:extLst>
              <a:ext uri="{FF2B5EF4-FFF2-40B4-BE49-F238E27FC236}">
                <a16:creationId xmlns:a16="http://schemas.microsoft.com/office/drawing/2014/main" id="{A27A85E4-968E-9EC7-D9C3-141AE1925C61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21</a:t>
            </a:r>
            <a:endParaRPr lang="en-US" sz="1000" dirty="0">
              <a:latin typeface="+mn-ea"/>
            </a:endParaRPr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79A95070-DEE7-AC47-BE40-B2C3414B004D}"/>
              </a:ext>
            </a:extLst>
          </p:cNvPr>
          <p:cNvSpPr/>
          <p:nvPr/>
        </p:nvSpPr>
        <p:spPr>
          <a:xfrm>
            <a:off x="569403" y="1744174"/>
            <a:ext cx="762015" cy="38421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0D312E7-F65E-5EFF-1592-0C2B42F6BB21}"/>
              </a:ext>
            </a:extLst>
          </p:cNvPr>
          <p:cNvSpPr txBox="1"/>
          <p:nvPr/>
        </p:nvSpPr>
        <p:spPr>
          <a:xfrm>
            <a:off x="571500" y="1361954"/>
            <a:ext cx="40105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기능별 사용 현황</a:t>
            </a:r>
            <a:endParaRPr lang="en-US" sz="2000" dirty="0">
              <a:latin typeface="+mn-ea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AE0CB975-7A6F-3756-7219-51DA9B3B6380}"/>
              </a:ext>
            </a:extLst>
          </p:cNvPr>
          <p:cNvSpPr/>
          <p:nvPr/>
        </p:nvSpPr>
        <p:spPr>
          <a:xfrm>
            <a:off x="5721691" y="1735935"/>
            <a:ext cx="762015" cy="38421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C765AC0A-5B33-B4C5-E7D9-224A312D3F89}"/>
              </a:ext>
            </a:extLst>
          </p:cNvPr>
          <p:cNvSpPr txBox="1"/>
          <p:nvPr/>
        </p:nvSpPr>
        <p:spPr>
          <a:xfrm>
            <a:off x="5721691" y="1353715"/>
            <a:ext cx="42128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강의별 사용량</a:t>
            </a:r>
            <a:endParaRPr lang="en-US" sz="2000" dirty="0">
              <a:latin typeface="+mn-ea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1D5E43C-B100-46A1-5265-C1CECEAAE2D6}"/>
              </a:ext>
            </a:extLst>
          </p:cNvPr>
          <p:cNvSpPr txBox="1"/>
          <p:nvPr/>
        </p:nvSpPr>
        <p:spPr>
          <a:xfrm>
            <a:off x="657225" y="1872867"/>
            <a:ext cx="4010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다양한 학습 도구의 활용도를 분석합니다.</a:t>
            </a:r>
            <a:endParaRPr lang="en-US" sz="1000" dirty="0">
              <a:latin typeface="+mn-ea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B0C3A2BD-5F4F-083C-1227-80A11882C11E}"/>
              </a:ext>
            </a:extLst>
          </p:cNvPr>
          <p:cNvSpPr txBox="1"/>
          <p:nvPr/>
        </p:nvSpPr>
        <p:spPr>
          <a:xfrm>
            <a:off x="5749245" y="1907850"/>
            <a:ext cx="5619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테이블 컬럼별 데이터 정의를 확인하세요.</a:t>
            </a:r>
            <a:endParaRPr lang="en-US" sz="1000" dirty="0">
              <a:latin typeface="+mn-ea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01CC241B-14DF-AD21-0A9C-0EC1DFF0B2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5" b="-15"/>
          <a:stretch/>
        </p:blipFill>
        <p:spPr>
          <a:xfrm>
            <a:off x="657225" y="2350642"/>
            <a:ext cx="4007815" cy="1252728"/>
          </a:xfrm>
          <a:prstGeom prst="rect">
            <a:avLst/>
          </a:prstGeom>
        </p:spPr>
      </p:pic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25C4739D-1154-8C9F-B422-3FD16872CF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4969" y="2589301"/>
            <a:ext cx="457200" cy="457200"/>
          </a:xfrm>
          <a:prstGeom prst="rect">
            <a:avLst/>
          </a:prstGeom>
        </p:spPr>
      </p:pic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8A3C2C5A-7D85-2519-653E-57D9C2DAD2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8471" y="2722803"/>
            <a:ext cx="190195" cy="190195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DCAE93A2-4302-209E-ABAF-86AA54FDF73D}"/>
              </a:ext>
            </a:extLst>
          </p:cNvPr>
          <p:cNvSpPr txBox="1"/>
          <p:nvPr/>
        </p:nvSpPr>
        <p:spPr>
          <a:xfrm>
            <a:off x="1542364" y="2589301"/>
            <a:ext cx="30769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비교 모드</a:t>
            </a:r>
            <a:endParaRPr lang="en-US" sz="1300" dirty="0">
              <a:latin typeface="+mn-ea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3997E7D-8FBB-0AEB-6E7F-4E66992DD538}"/>
              </a:ext>
            </a:extLst>
          </p:cNvPr>
          <p:cNvSpPr txBox="1"/>
          <p:nvPr/>
        </p:nvSpPr>
        <p:spPr>
          <a:xfrm>
            <a:off x="1542364" y="2932201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여러 AI 모델을 동시에 비교하며 실습한 </a:t>
            </a:r>
            <a:r>
              <a:rPr lang="en-US" sz="1000" b="1" dirty="0">
                <a:solidFill>
                  <a:srgbClr val="6D28D9"/>
                </a:solidFill>
                <a:latin typeface="+mn-ea"/>
                <a:cs typeface="Noto Sans KR" pitchFamily="34" charset="-120"/>
              </a:rPr>
              <a:t>학생 </a:t>
            </a:r>
            <a:r>
              <a:rPr lang="en-US" sz="1000" b="1" dirty="0" err="1">
                <a:solidFill>
                  <a:srgbClr val="6D28D9"/>
                </a:solidFill>
                <a:latin typeface="+mn-ea"/>
                <a:cs typeface="Noto Sans KR" pitchFamily="34" charset="-120"/>
              </a:rPr>
              <a:t>수</a:t>
            </a:r>
            <a:r>
              <a:rPr lang="en-US" sz="10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와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b="1" dirty="0" err="1">
                <a:solidFill>
                  <a:srgbClr val="6D28D9"/>
                </a:solidFill>
                <a:latin typeface="+mn-ea"/>
                <a:cs typeface="Noto Sans KR" pitchFamily="34" charset="-120"/>
              </a:rPr>
              <a:t>실습</a:t>
            </a:r>
            <a:r>
              <a:rPr lang="en-US" sz="1000" b="1" dirty="0">
                <a:solidFill>
                  <a:srgbClr val="6D28D9"/>
                </a:solidFill>
                <a:latin typeface="+mn-ea"/>
                <a:cs typeface="Noto Sans KR" pitchFamily="34" charset="-120"/>
              </a:rPr>
              <a:t> 횟수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를 집계합니다. </a:t>
            </a:r>
            <a:endParaRPr lang="en-US" sz="1000" dirty="0">
              <a:latin typeface="+mn-ea"/>
            </a:endParaRPr>
          </a:p>
        </p:txBody>
      </p:sp>
      <p:pic>
        <p:nvPicPr>
          <p:cNvPr id="18" name="Image 4" descr="preencoded.png">
            <a:extLst>
              <a:ext uri="{FF2B5EF4-FFF2-40B4-BE49-F238E27FC236}">
                <a16:creationId xmlns:a16="http://schemas.microsoft.com/office/drawing/2014/main" id="{5A9CC085-7448-AF4C-59FB-B5703C93EE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5" b="-15"/>
          <a:stretch/>
        </p:blipFill>
        <p:spPr>
          <a:xfrm>
            <a:off x="651310" y="3755618"/>
            <a:ext cx="4007815" cy="1252728"/>
          </a:xfrm>
          <a:prstGeom prst="rect">
            <a:avLst/>
          </a:prstGeom>
        </p:spPr>
      </p:pic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AF9CB676-9D3C-B30E-85D4-D7CC290F23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4969" y="3993819"/>
            <a:ext cx="457200" cy="457200"/>
          </a:xfrm>
          <a:prstGeom prst="rect">
            <a:avLst/>
          </a:prstGeom>
        </p:spPr>
      </p:pic>
      <p:pic>
        <p:nvPicPr>
          <p:cNvPr id="20" name="Image 6" descr="preencoded.png">
            <a:extLst>
              <a:ext uri="{FF2B5EF4-FFF2-40B4-BE49-F238E27FC236}">
                <a16:creationId xmlns:a16="http://schemas.microsoft.com/office/drawing/2014/main" id="{259EA12F-D6AA-5CD0-A10C-7AF2ECDF0E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374" r="-1374"/>
          <a:stretch/>
        </p:blipFill>
        <p:spPr>
          <a:xfrm>
            <a:off x="1037615" y="4127322"/>
            <a:ext cx="170993" cy="190195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170803A8-CD56-10EB-339B-AB1E6A881D3D}"/>
              </a:ext>
            </a:extLst>
          </p:cNvPr>
          <p:cNvSpPr txBox="1"/>
          <p:nvPr/>
        </p:nvSpPr>
        <p:spPr>
          <a:xfrm>
            <a:off x="1542364" y="3993819"/>
            <a:ext cx="30769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지식베이스 활용</a:t>
            </a:r>
            <a:endParaRPr lang="en-US" sz="1300" dirty="0">
              <a:latin typeface="+mn-ea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CB3773A-2CF8-153F-EB6A-CA9686DB5AA2}"/>
              </a:ext>
            </a:extLst>
          </p:cNvPr>
          <p:cNvSpPr txBox="1"/>
          <p:nvPr/>
        </p:nvSpPr>
        <p:spPr>
          <a:xfrm>
            <a:off x="1542364" y="4336719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RAG(검색 증강 생성) 기능으로 문서를 업로드한 후 해당 내용을 기반으로 </a:t>
            </a:r>
            <a:r>
              <a:rPr lang="en-US" sz="1000" b="1" dirty="0">
                <a:solidFill>
                  <a:srgbClr val="6D28D9"/>
                </a:solidFill>
                <a:latin typeface="+mn-ea"/>
                <a:cs typeface="Noto Sans KR" pitchFamily="34" charset="-120"/>
              </a:rPr>
              <a:t>질문한 건수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입니다. </a:t>
            </a:r>
            <a:endParaRPr lang="en-US" sz="1000" dirty="0">
              <a:latin typeface="+mn-ea"/>
            </a:endParaRPr>
          </a:p>
        </p:txBody>
      </p:sp>
      <p:pic>
        <p:nvPicPr>
          <p:cNvPr id="23" name="Image 7" descr="preencoded.png">
            <a:extLst>
              <a:ext uri="{FF2B5EF4-FFF2-40B4-BE49-F238E27FC236}">
                <a16:creationId xmlns:a16="http://schemas.microsoft.com/office/drawing/2014/main" id="{5CE7E0C3-6F56-6934-3E12-42C011A836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5" b="-15"/>
          <a:stretch/>
        </p:blipFill>
        <p:spPr>
          <a:xfrm>
            <a:off x="657225" y="5160594"/>
            <a:ext cx="4007815" cy="1252728"/>
          </a:xfrm>
          <a:prstGeom prst="rect">
            <a:avLst/>
          </a:prstGeom>
        </p:spPr>
      </p:pic>
      <p:pic>
        <p:nvPicPr>
          <p:cNvPr id="24" name="Image 8" descr="preencoded.png">
            <a:extLst>
              <a:ext uri="{FF2B5EF4-FFF2-40B4-BE49-F238E27FC236}">
                <a16:creationId xmlns:a16="http://schemas.microsoft.com/office/drawing/2014/main" id="{A747DD61-EB6E-43D1-425D-8D2E2AA8DB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4969" y="5399252"/>
            <a:ext cx="457200" cy="457200"/>
          </a:xfrm>
          <a:prstGeom prst="rect">
            <a:avLst/>
          </a:prstGeom>
        </p:spPr>
      </p:pic>
      <p:pic>
        <p:nvPicPr>
          <p:cNvPr id="25" name="Image 9" descr="preencoded.png">
            <a:extLst>
              <a:ext uri="{FF2B5EF4-FFF2-40B4-BE49-F238E27FC236}">
                <a16:creationId xmlns:a16="http://schemas.microsoft.com/office/drawing/2014/main" id="{13B9CB77-5583-6C56-0449-C40B8A977E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1013841" y="5531840"/>
            <a:ext cx="219456" cy="190195"/>
          </a:xfrm>
          <a:prstGeom prst="rect">
            <a:avLst/>
          </a:prstGeom>
        </p:spPr>
      </p:pic>
      <p:sp>
        <p:nvSpPr>
          <p:cNvPr id="26" name="Text 10">
            <a:extLst>
              <a:ext uri="{FF2B5EF4-FFF2-40B4-BE49-F238E27FC236}">
                <a16:creationId xmlns:a16="http://schemas.microsoft.com/office/drawing/2014/main" id="{7098C405-D3EF-2EDB-8B88-9D0A2C4FE0AE}"/>
              </a:ext>
            </a:extLst>
          </p:cNvPr>
          <p:cNvSpPr txBox="1"/>
          <p:nvPr/>
        </p:nvSpPr>
        <p:spPr>
          <a:xfrm>
            <a:off x="1542364" y="5399252"/>
            <a:ext cx="30769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프롬프트 (템플릿)</a:t>
            </a:r>
            <a:endParaRPr lang="en-US" sz="1300" dirty="0">
              <a:latin typeface="+mn-ea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BFC99A9-D4EC-FDFA-B8E2-FEC1F17029D8}"/>
              </a:ext>
            </a:extLst>
          </p:cNvPr>
          <p:cNvSpPr txBox="1"/>
          <p:nvPr/>
        </p:nvSpPr>
        <p:spPr>
          <a:xfrm>
            <a:off x="1542364" y="5742152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학생들이 자주 사용하는 프롬프트를 </a:t>
            </a:r>
            <a:r>
              <a:rPr lang="en-US" sz="10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템플릿으로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b="1" dirty="0" err="1">
                <a:solidFill>
                  <a:srgbClr val="6D28D9"/>
                </a:solidFill>
                <a:latin typeface="+mn-ea"/>
                <a:cs typeface="Noto Sans KR" pitchFamily="34" charset="-120"/>
              </a:rPr>
              <a:t>저장하고</a:t>
            </a:r>
            <a:r>
              <a:rPr lang="en-US" sz="1000" b="1" dirty="0">
                <a:solidFill>
                  <a:srgbClr val="6D28D9"/>
                </a:solidFill>
                <a:latin typeface="+mn-ea"/>
                <a:cs typeface="Noto Sans KR" pitchFamily="34" charset="-120"/>
              </a:rPr>
              <a:t> 재사용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한 횟수입니다. </a:t>
            </a:r>
            <a:endParaRPr lang="en-US" sz="1000" dirty="0">
              <a:latin typeface="+mn-ea"/>
            </a:endParaRPr>
          </a:p>
        </p:txBody>
      </p:sp>
      <p:pic>
        <p:nvPicPr>
          <p:cNvPr id="28" name="Image 10" descr="preencoded.png">
            <a:extLst>
              <a:ext uri="{FF2B5EF4-FFF2-40B4-BE49-F238E27FC236}">
                <a16:creationId xmlns:a16="http://schemas.microsoft.com/office/drawing/2014/main" id="{3A8A6BFF-1347-D71B-E6EA-8586AC00D9A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21691" y="2183031"/>
            <a:ext cx="4565639" cy="4485501"/>
          </a:xfrm>
          <a:prstGeom prst="rect">
            <a:avLst/>
          </a:prstGeom>
        </p:spPr>
      </p:pic>
      <p:sp>
        <p:nvSpPr>
          <p:cNvPr id="29" name="Shape 15">
            <a:extLst>
              <a:ext uri="{FF2B5EF4-FFF2-40B4-BE49-F238E27FC236}">
                <a16:creationId xmlns:a16="http://schemas.microsoft.com/office/drawing/2014/main" id="{83387FE5-47D9-5E07-1227-3F2B10065591}"/>
              </a:ext>
            </a:extLst>
          </p:cNvPr>
          <p:cNvSpPr/>
          <p:nvPr/>
        </p:nvSpPr>
        <p:spPr>
          <a:xfrm>
            <a:off x="5731750" y="2193090"/>
            <a:ext cx="4565639" cy="390449"/>
          </a:xfrm>
          <a:prstGeom prst="roundRect">
            <a:avLst>
              <a:gd name="adj" fmla="val 3453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B5F72D85-4382-1425-14A6-10700D725E36}"/>
              </a:ext>
            </a:extLst>
          </p:cNvPr>
          <p:cNvSpPr/>
          <p:nvPr/>
        </p:nvSpPr>
        <p:spPr>
          <a:xfrm>
            <a:off x="5731750" y="2574394"/>
            <a:ext cx="4500000" cy="9144"/>
          </a:xfrm>
          <a:prstGeom prst="roundRect">
            <a:avLst>
              <a:gd name="adj" fmla="val 7804878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36E9DDDB-D6F3-E133-06C4-65DB15BF3505}"/>
              </a:ext>
            </a:extLst>
          </p:cNvPr>
          <p:cNvSpPr txBox="1"/>
          <p:nvPr/>
        </p:nvSpPr>
        <p:spPr>
          <a:xfrm>
            <a:off x="5923056" y="2298262"/>
            <a:ext cx="12525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+mn-ea"/>
                <a:cs typeface="ui-monospace" pitchFamily="34" charset="-120"/>
              </a:rPr>
              <a:t>Table Column Guide</a:t>
            </a:r>
            <a:endParaRPr lang="en-US" sz="800" dirty="0">
              <a:latin typeface="+mn-ea"/>
            </a:endParaRPr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256A0E43-1ADF-ED90-12F5-8BC365275A46}"/>
              </a:ext>
            </a:extLst>
          </p:cNvPr>
          <p:cNvSpPr/>
          <p:nvPr/>
        </p:nvSpPr>
        <p:spPr>
          <a:xfrm>
            <a:off x="5923056" y="3399364"/>
            <a:ext cx="43560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717AF862-B149-FB52-9A0F-8D3DD875781D}"/>
              </a:ext>
            </a:extLst>
          </p:cNvPr>
          <p:cNvSpPr txBox="1"/>
          <p:nvPr/>
        </p:nvSpPr>
        <p:spPr>
          <a:xfrm>
            <a:off x="6907311" y="2799097"/>
            <a:ext cx="28557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등록된 강의 이름.</a:t>
            </a:r>
            <a:endParaRPr lang="en-US" sz="1000" dirty="0">
              <a:latin typeface="+mn-e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클릭하면 해당 강의에 소속된 </a:t>
            </a:r>
            <a:r>
              <a:rPr lang="en-US" sz="1000" u="sng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학생별 상세 사용량</a:t>
            </a: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화면이 펼쳐집니다. </a:t>
            </a:r>
            <a:endParaRPr lang="en-US" sz="1000" dirty="0">
              <a:latin typeface="+mn-ea"/>
            </a:endParaRPr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68E52E87-B960-757B-CFA2-208F9CB3690A}"/>
              </a:ext>
            </a:extLst>
          </p:cNvPr>
          <p:cNvSpPr/>
          <p:nvPr/>
        </p:nvSpPr>
        <p:spPr>
          <a:xfrm>
            <a:off x="5880846" y="4254147"/>
            <a:ext cx="43560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19A6C442-6DAF-52E1-0612-CE4076DD85DB}"/>
              </a:ext>
            </a:extLst>
          </p:cNvPr>
          <p:cNvSpPr txBox="1"/>
          <p:nvPr/>
        </p:nvSpPr>
        <p:spPr>
          <a:xfrm>
            <a:off x="6947950" y="3663445"/>
            <a:ext cx="269198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해당 강의에 정식으로 </a:t>
            </a:r>
            <a:r>
              <a:rPr lang="en-US" sz="10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등록된 총 학생 </a:t>
            </a:r>
            <a:r>
              <a:rPr lang="en-US" sz="1000" b="1" dirty="0" err="1">
                <a:solidFill>
                  <a:srgbClr val="111827"/>
                </a:solidFill>
                <a:latin typeface="+mn-ea"/>
                <a:cs typeface="Noto Sans KR" pitchFamily="34" charset="-120"/>
              </a:rPr>
              <a:t>수</a:t>
            </a:r>
            <a:r>
              <a:rPr lang="en-US" sz="100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입니다</a:t>
            </a: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.) </a:t>
            </a:r>
            <a:endParaRPr lang="en-US" sz="1000" dirty="0">
              <a:latin typeface="+mn-ea"/>
            </a:endParaRPr>
          </a:p>
        </p:txBody>
      </p:sp>
      <p:sp>
        <p:nvSpPr>
          <p:cNvPr id="39" name="Shape 25">
            <a:extLst>
              <a:ext uri="{FF2B5EF4-FFF2-40B4-BE49-F238E27FC236}">
                <a16:creationId xmlns:a16="http://schemas.microsoft.com/office/drawing/2014/main" id="{4B25047B-B5F4-C589-AC70-2848F3B726F4}"/>
              </a:ext>
            </a:extLst>
          </p:cNvPr>
          <p:cNvSpPr/>
          <p:nvPr/>
        </p:nvSpPr>
        <p:spPr>
          <a:xfrm>
            <a:off x="5900309" y="4984536"/>
            <a:ext cx="43560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F96BC9A9-B5F7-B948-F7B1-571A3DFDBBF4}"/>
              </a:ext>
            </a:extLst>
          </p:cNvPr>
          <p:cNvSpPr txBox="1"/>
          <p:nvPr/>
        </p:nvSpPr>
        <p:spPr>
          <a:xfrm>
            <a:off x="6956768" y="4407688"/>
            <a:ext cx="3322288" cy="20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강의 기간 내 발생한 </a:t>
            </a:r>
            <a:r>
              <a:rPr lang="en-US" sz="10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모든 학생의 AI 대화 건수 합계</a:t>
            </a: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입니다. </a:t>
            </a:r>
            <a:endParaRPr lang="en-US" sz="1000" dirty="0">
              <a:latin typeface="+mn-ea"/>
            </a:endParaRPr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84EAEAE1-8BA8-D9AE-9670-E1D2064F8ADA}"/>
              </a:ext>
            </a:extLst>
          </p:cNvPr>
          <p:cNvSpPr/>
          <p:nvPr/>
        </p:nvSpPr>
        <p:spPr>
          <a:xfrm>
            <a:off x="5877269" y="5836847"/>
            <a:ext cx="43560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37190C7B-1E29-3F53-B82F-642F1815C304}"/>
              </a:ext>
            </a:extLst>
          </p:cNvPr>
          <p:cNvSpPr txBox="1"/>
          <p:nvPr/>
        </p:nvSpPr>
        <p:spPr>
          <a:xfrm>
            <a:off x="6971120" y="5144047"/>
            <a:ext cx="31349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활동량 지표로 활용됩니다. </a:t>
            </a:r>
            <a:r>
              <a:rPr lang="en-US" sz="800" dirty="0">
                <a:solidFill>
                  <a:srgbClr val="4B5563"/>
                </a:solidFill>
                <a:latin typeface="+mn-ea"/>
                <a:cs typeface="ui-monospace" pitchFamily="34" charset="-120"/>
              </a:rPr>
              <a:t>총 대화 ÷ 학생 </a:t>
            </a:r>
            <a:r>
              <a:rPr lang="en-US" sz="800" dirty="0" err="1">
                <a:solidFill>
                  <a:srgbClr val="4B5563"/>
                </a:solidFill>
                <a:latin typeface="+mn-ea"/>
                <a:cs typeface="ui-monospace" pitchFamily="34" charset="-120"/>
              </a:rPr>
              <a:t>수</a:t>
            </a:r>
            <a:r>
              <a:rPr lang="en-US" sz="100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로</a:t>
            </a: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 </a:t>
            </a:r>
            <a:r>
              <a:rPr lang="en-US" sz="1000" dirty="0" err="1">
                <a:solidFill>
                  <a:srgbClr val="374151"/>
                </a:solidFill>
                <a:latin typeface="+mn-ea"/>
                <a:cs typeface="Noto Sans KR" pitchFamily="34" charset="-120"/>
              </a:rPr>
              <a:t>자동</a:t>
            </a: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 계산된 수치입니다. </a:t>
            </a:r>
            <a:endParaRPr lang="en-US" sz="1000" dirty="0">
              <a:latin typeface="+mn-ea"/>
            </a:endParaRPr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5610813E-F7EF-F9A6-EAD1-4244A5883A78}"/>
              </a:ext>
            </a:extLst>
          </p:cNvPr>
          <p:cNvSpPr/>
          <p:nvPr/>
        </p:nvSpPr>
        <p:spPr>
          <a:xfrm>
            <a:off x="7000545" y="6064880"/>
            <a:ext cx="72298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48EB9C4-E355-AADE-C658-01C63F65A0F9}"/>
              </a:ext>
            </a:extLst>
          </p:cNvPr>
          <p:cNvSpPr txBox="1"/>
          <p:nvPr/>
        </p:nvSpPr>
        <p:spPr>
          <a:xfrm>
            <a:off x="7134046" y="6026475"/>
            <a:ext cx="4085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진행 중</a:t>
            </a:r>
            <a:endParaRPr lang="en-US" sz="800" dirty="0">
              <a:latin typeface="+mn-ea"/>
            </a:endParaRPr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A9B4C1B6-2437-3312-308D-7AB97D97C0E6}"/>
              </a:ext>
            </a:extLst>
          </p:cNvPr>
          <p:cNvSpPr/>
          <p:nvPr/>
        </p:nvSpPr>
        <p:spPr>
          <a:xfrm>
            <a:off x="7595819" y="6064880"/>
            <a:ext cx="72298" cy="7589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353C05AD-3223-9FB1-5A22-E888FCFD628C}"/>
              </a:ext>
            </a:extLst>
          </p:cNvPr>
          <p:cNvSpPr txBox="1"/>
          <p:nvPr/>
        </p:nvSpPr>
        <p:spPr>
          <a:xfrm>
            <a:off x="7728407" y="6026475"/>
            <a:ext cx="2813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종료</a:t>
            </a:r>
            <a:endParaRPr lang="en-US" sz="800" dirty="0">
              <a:latin typeface="+mn-ea"/>
            </a:endParaRP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6A52FD07-66EF-BBD4-CC41-A58EFE2DDDC5}"/>
              </a:ext>
            </a:extLst>
          </p:cNvPr>
          <p:cNvSpPr txBox="1"/>
          <p:nvPr/>
        </p:nvSpPr>
        <p:spPr>
          <a:xfrm>
            <a:off x="6971120" y="6217585"/>
            <a:ext cx="3134905" cy="19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강의의 현재 진행 상태가 표시됩니다.</a:t>
            </a:r>
            <a:endParaRPr lang="en-US" sz="1000" dirty="0">
              <a:latin typeface="+mn-ea"/>
            </a:endParaRPr>
          </a:p>
        </p:txBody>
      </p:sp>
      <p:sp>
        <p:nvSpPr>
          <p:cNvPr id="48" name="Shape 34">
            <a:extLst>
              <a:ext uri="{FF2B5EF4-FFF2-40B4-BE49-F238E27FC236}">
                <a16:creationId xmlns:a16="http://schemas.microsoft.com/office/drawing/2014/main" id="{F65BBD52-904F-D494-174E-F4E0BB3BDF03}"/>
              </a:ext>
            </a:extLst>
          </p:cNvPr>
          <p:cNvSpPr/>
          <p:nvPr/>
        </p:nvSpPr>
        <p:spPr>
          <a:xfrm>
            <a:off x="5840206" y="2818300"/>
            <a:ext cx="871066" cy="285293"/>
          </a:xfrm>
          <a:prstGeom prst="roundRect">
            <a:avLst>
              <a:gd name="adj" fmla="val 128205"/>
            </a:avLst>
          </a:prstGeom>
          <a:solidFill>
            <a:srgbClr val="F5F3FF"/>
          </a:solidFill>
          <a:ln w="12699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15B8AF4D-BA55-AA18-9B1A-70EB6E12A776}"/>
              </a:ext>
            </a:extLst>
          </p:cNvPr>
          <p:cNvSpPr txBox="1"/>
          <p:nvPr/>
        </p:nvSpPr>
        <p:spPr>
          <a:xfrm>
            <a:off x="5811859" y="2818300"/>
            <a:ext cx="925943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+mn-ea"/>
                <a:cs typeface="Noto Sans KR" pitchFamily="34" charset="-120"/>
              </a:rPr>
              <a:t>강의명</a:t>
            </a:r>
            <a:endParaRPr lang="en-US" sz="1000" dirty="0">
              <a:latin typeface="+mn-ea"/>
            </a:endParaRPr>
          </a:p>
        </p:txBody>
      </p:sp>
      <p:sp>
        <p:nvSpPr>
          <p:cNvPr id="50" name="Shape 36">
            <a:extLst>
              <a:ext uri="{FF2B5EF4-FFF2-40B4-BE49-F238E27FC236}">
                <a16:creationId xmlns:a16="http://schemas.microsoft.com/office/drawing/2014/main" id="{763D923C-7B3E-3B02-8224-EA68BEC1C930}"/>
              </a:ext>
            </a:extLst>
          </p:cNvPr>
          <p:cNvSpPr/>
          <p:nvPr/>
        </p:nvSpPr>
        <p:spPr>
          <a:xfrm>
            <a:off x="5880845" y="3682647"/>
            <a:ext cx="871066" cy="285293"/>
          </a:xfrm>
          <a:prstGeom prst="roundRect">
            <a:avLst>
              <a:gd name="adj" fmla="val 128205"/>
            </a:avLst>
          </a:prstGeom>
          <a:solidFill>
            <a:srgbClr val="F3F4F6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35EDEF45-3611-8EF6-5524-EDE89AE89AB8}"/>
              </a:ext>
            </a:extLst>
          </p:cNvPr>
          <p:cNvSpPr txBox="1"/>
          <p:nvPr/>
        </p:nvSpPr>
        <p:spPr>
          <a:xfrm>
            <a:off x="5852498" y="3682647"/>
            <a:ext cx="925943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학생 수</a:t>
            </a:r>
            <a:endParaRPr lang="en-US" sz="1000" dirty="0">
              <a:latin typeface="+mn-ea"/>
            </a:endParaRPr>
          </a:p>
        </p:txBody>
      </p:sp>
      <p:sp>
        <p:nvSpPr>
          <p:cNvPr id="52" name="Shape 38">
            <a:extLst>
              <a:ext uri="{FF2B5EF4-FFF2-40B4-BE49-F238E27FC236}">
                <a16:creationId xmlns:a16="http://schemas.microsoft.com/office/drawing/2014/main" id="{61222395-810C-E040-5A34-B6F2013D3079}"/>
              </a:ext>
            </a:extLst>
          </p:cNvPr>
          <p:cNvSpPr/>
          <p:nvPr/>
        </p:nvSpPr>
        <p:spPr>
          <a:xfrm>
            <a:off x="5890740" y="4489543"/>
            <a:ext cx="871066" cy="285293"/>
          </a:xfrm>
          <a:prstGeom prst="roundRect">
            <a:avLst>
              <a:gd name="adj" fmla="val 128205"/>
            </a:avLst>
          </a:prstGeom>
          <a:solidFill>
            <a:srgbClr val="F3F4F6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3" name="Text 39">
            <a:extLst>
              <a:ext uri="{FF2B5EF4-FFF2-40B4-BE49-F238E27FC236}">
                <a16:creationId xmlns:a16="http://schemas.microsoft.com/office/drawing/2014/main" id="{0C521609-4655-37CF-DEC6-B05DB9469140}"/>
              </a:ext>
            </a:extLst>
          </p:cNvPr>
          <p:cNvSpPr txBox="1"/>
          <p:nvPr/>
        </p:nvSpPr>
        <p:spPr>
          <a:xfrm>
            <a:off x="5862393" y="4489543"/>
            <a:ext cx="925943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총 대화</a:t>
            </a:r>
            <a:endParaRPr lang="en-US" sz="1000" dirty="0">
              <a:latin typeface="+mn-ea"/>
            </a:endParaRPr>
          </a:p>
        </p:txBody>
      </p:sp>
      <p:sp>
        <p:nvSpPr>
          <p:cNvPr id="54" name="Shape 40">
            <a:extLst>
              <a:ext uri="{FF2B5EF4-FFF2-40B4-BE49-F238E27FC236}">
                <a16:creationId xmlns:a16="http://schemas.microsoft.com/office/drawing/2014/main" id="{A7C04EB2-1540-0DA7-6D02-663AEBA282A1}"/>
              </a:ext>
            </a:extLst>
          </p:cNvPr>
          <p:cNvSpPr/>
          <p:nvPr/>
        </p:nvSpPr>
        <p:spPr>
          <a:xfrm>
            <a:off x="5905092" y="5225901"/>
            <a:ext cx="871066" cy="285293"/>
          </a:xfrm>
          <a:prstGeom prst="roundRect">
            <a:avLst>
              <a:gd name="adj" fmla="val 128205"/>
            </a:avLst>
          </a:prstGeom>
          <a:solidFill>
            <a:srgbClr val="F3F4F6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5" name="Text 41">
            <a:extLst>
              <a:ext uri="{FF2B5EF4-FFF2-40B4-BE49-F238E27FC236}">
                <a16:creationId xmlns:a16="http://schemas.microsoft.com/office/drawing/2014/main" id="{EB4A50EE-08A2-96F0-3FBF-45497C314C83}"/>
              </a:ext>
            </a:extLst>
          </p:cNvPr>
          <p:cNvSpPr txBox="1"/>
          <p:nvPr/>
        </p:nvSpPr>
        <p:spPr>
          <a:xfrm>
            <a:off x="5876745" y="5225901"/>
            <a:ext cx="925943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학생당 평균</a:t>
            </a:r>
            <a:endParaRPr lang="en-US" sz="1000" dirty="0">
              <a:latin typeface="+mn-ea"/>
            </a:endParaRPr>
          </a:p>
        </p:txBody>
      </p:sp>
      <p:sp>
        <p:nvSpPr>
          <p:cNvPr id="56" name="Shape 42">
            <a:extLst>
              <a:ext uri="{FF2B5EF4-FFF2-40B4-BE49-F238E27FC236}">
                <a16:creationId xmlns:a16="http://schemas.microsoft.com/office/drawing/2014/main" id="{FC059A62-3464-1F20-96C8-F9A7C5DD49A1}"/>
              </a:ext>
            </a:extLst>
          </p:cNvPr>
          <p:cNvSpPr/>
          <p:nvPr/>
        </p:nvSpPr>
        <p:spPr>
          <a:xfrm>
            <a:off x="5933439" y="6045677"/>
            <a:ext cx="871066" cy="285293"/>
          </a:xfrm>
          <a:prstGeom prst="roundRect">
            <a:avLst>
              <a:gd name="adj" fmla="val 128205"/>
            </a:avLst>
          </a:prstGeom>
          <a:solidFill>
            <a:srgbClr val="F3F4F6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7" name="Text 43">
            <a:extLst>
              <a:ext uri="{FF2B5EF4-FFF2-40B4-BE49-F238E27FC236}">
                <a16:creationId xmlns:a16="http://schemas.microsoft.com/office/drawing/2014/main" id="{62E23E15-EECF-B8E0-299D-09398CFD0618}"/>
              </a:ext>
            </a:extLst>
          </p:cNvPr>
          <p:cNvSpPr txBox="1"/>
          <p:nvPr/>
        </p:nvSpPr>
        <p:spPr>
          <a:xfrm>
            <a:off x="5905092" y="6045677"/>
            <a:ext cx="925943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상태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4140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36BBC-A4D8-F32C-9A9A-E5687DFC1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>
            <a:extLst>
              <a:ext uri="{FF2B5EF4-FFF2-40B4-BE49-F238E27FC236}">
                <a16:creationId xmlns:a16="http://schemas.microsoft.com/office/drawing/2014/main" id="{27895E03-1E41-F58B-4C94-71FE82959FBA}"/>
              </a:ext>
            </a:extLst>
          </p:cNvPr>
          <p:cNvSpPr txBox="1"/>
          <p:nvPr/>
        </p:nvSpPr>
        <p:spPr>
          <a:xfrm>
            <a:off x="6358488" y="523531"/>
            <a:ext cx="3902785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5.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사용량 통계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설정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사용량 통계</a:t>
            </a:r>
            <a:endParaRPr lang="en-US" altLang="ko-KR" sz="1401" dirty="0">
              <a:latin typeface="+mn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647FFFE8-6FFC-536E-986C-140F75BF4FE3}"/>
              </a:ext>
            </a:extLst>
          </p:cNvPr>
          <p:cNvSpPr/>
          <p:nvPr/>
        </p:nvSpPr>
        <p:spPr>
          <a:xfrm>
            <a:off x="362982" y="1060895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07941-1637-BEA9-95BF-B3FDFAFE8055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sp>
        <p:nvSpPr>
          <p:cNvPr id="5" name="Shape 58">
            <a:extLst>
              <a:ext uri="{FF2B5EF4-FFF2-40B4-BE49-F238E27FC236}">
                <a16:creationId xmlns:a16="http://schemas.microsoft.com/office/drawing/2014/main" id="{9E54F841-C06F-1B2A-116F-08790D58F36A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6" name="Text 59">
            <a:extLst>
              <a:ext uri="{FF2B5EF4-FFF2-40B4-BE49-F238E27FC236}">
                <a16:creationId xmlns:a16="http://schemas.microsoft.com/office/drawing/2014/main" id="{302D3DAB-DD57-F359-71D7-57ED1F8CD701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22</a:t>
            </a:r>
            <a:endParaRPr lang="en-US" sz="1000" dirty="0">
              <a:latin typeface="+mn-ea"/>
            </a:endParaRPr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99CF6CA3-A621-6D44-196F-5C44C910B24D}"/>
              </a:ext>
            </a:extLst>
          </p:cNvPr>
          <p:cNvSpPr/>
          <p:nvPr/>
        </p:nvSpPr>
        <p:spPr>
          <a:xfrm>
            <a:off x="569403" y="1744174"/>
            <a:ext cx="762015" cy="38421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C94E5-6C34-0C77-27B6-11508FDEF7DE}"/>
              </a:ext>
            </a:extLst>
          </p:cNvPr>
          <p:cNvSpPr txBox="1"/>
          <p:nvPr/>
        </p:nvSpPr>
        <p:spPr>
          <a:xfrm>
            <a:off x="552592" y="1282361"/>
            <a:ext cx="53482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2000" b="1" dirty="0" err="1">
                <a:solidFill>
                  <a:srgbClr val="111827"/>
                </a:solidFill>
                <a:latin typeface="+mn-ea"/>
                <a:cs typeface="Noto Sans KR" pitchFamily="34" charset="-120"/>
              </a:rPr>
              <a:t>학생별</a:t>
            </a:r>
            <a:r>
              <a:rPr lang="en-US" altLang="ko-KR" sz="20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2000" b="1" dirty="0" err="1">
                <a:solidFill>
                  <a:srgbClr val="111827"/>
                </a:solidFill>
                <a:latin typeface="+mn-ea"/>
                <a:cs typeface="Noto Sans KR" pitchFamily="34" charset="-120"/>
              </a:rPr>
              <a:t>사용량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2A06B7-EF6F-91C4-DFE3-42F06BD32F27}"/>
              </a:ext>
            </a:extLst>
          </p:cNvPr>
          <p:cNvSpPr txBox="1"/>
          <p:nvPr/>
        </p:nvSpPr>
        <p:spPr>
          <a:xfrm>
            <a:off x="569402" y="1873158"/>
            <a:ext cx="58694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100" dirty="0" err="1">
                <a:solidFill>
                  <a:srgbClr val="6B7280"/>
                </a:solidFill>
                <a:latin typeface="+mn-ea"/>
                <a:cs typeface="Noto Sans KR" pitchFamily="34" charset="-120"/>
              </a:rPr>
              <a:t>클래스별</a:t>
            </a:r>
            <a:r>
              <a:rPr lang="en-US" altLang="ko-KR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n-ea"/>
                <a:cs typeface="Noto Sans KR" pitchFamily="34" charset="-120"/>
              </a:rPr>
              <a:t>학생들의</a:t>
            </a:r>
            <a:r>
              <a:rPr lang="en-US" altLang="ko-KR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 AI </a:t>
            </a:r>
            <a:r>
              <a:rPr lang="en-US" altLang="ko-KR" sz="1100" dirty="0" err="1">
                <a:solidFill>
                  <a:srgbClr val="6B7280"/>
                </a:solidFill>
                <a:latin typeface="+mn-ea"/>
                <a:cs typeface="Noto Sans KR" pitchFamily="34" charset="-120"/>
              </a:rPr>
              <a:t>학습</a:t>
            </a:r>
            <a:r>
              <a:rPr lang="en-US" altLang="ko-KR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n-ea"/>
                <a:cs typeface="Noto Sans KR" pitchFamily="34" charset="-120"/>
              </a:rPr>
              <a:t>도구</a:t>
            </a:r>
            <a:r>
              <a:rPr lang="en-US" altLang="ko-KR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n-ea"/>
                <a:cs typeface="Noto Sans KR" pitchFamily="34" charset="-120"/>
              </a:rPr>
              <a:t>활용도를</a:t>
            </a:r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n-ea"/>
                <a:cs typeface="Noto Sans KR" pitchFamily="34" charset="-120"/>
              </a:rPr>
              <a:t>순위</a:t>
            </a:r>
            <a:r>
              <a:rPr lang="en-US" altLang="ko-KR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n-ea"/>
                <a:cs typeface="Noto Sans KR" pitchFamily="34" charset="-120"/>
              </a:rPr>
              <a:t>기반으로</a:t>
            </a:r>
            <a:r>
              <a:rPr lang="en-US" altLang="ko-KR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n-ea"/>
                <a:cs typeface="Noto Sans KR" pitchFamily="34" charset="-120"/>
              </a:rPr>
              <a:t>한눈에</a:t>
            </a:r>
            <a:r>
              <a:rPr lang="en-US" altLang="ko-KR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n-ea"/>
                <a:cs typeface="Noto Sans KR" pitchFamily="34" charset="-120"/>
              </a:rPr>
              <a:t>파악하고</a:t>
            </a:r>
            <a:r>
              <a:rPr lang="en-US" altLang="ko-KR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n-ea"/>
                <a:cs typeface="Noto Sans KR" pitchFamily="34" charset="-120"/>
              </a:rPr>
              <a:t>상세</a:t>
            </a:r>
            <a:r>
              <a:rPr lang="en-US" altLang="ko-KR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6B7280"/>
                </a:solidFill>
                <a:latin typeface="+mn-ea"/>
                <a:cs typeface="Noto Sans KR" pitchFamily="34" charset="-120"/>
              </a:rPr>
              <a:t>분석합니다</a:t>
            </a:r>
            <a:r>
              <a:rPr lang="en-US" altLang="ko-KR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.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14F6AC6E-8BEE-EB8F-B2CD-8D0352B6B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2" b="-12"/>
          <a:stretch/>
        </p:blipFill>
        <p:spPr>
          <a:xfrm>
            <a:off x="685800" y="2314270"/>
            <a:ext cx="4007815" cy="1185977"/>
          </a:xfrm>
          <a:prstGeom prst="rect">
            <a:avLst/>
          </a:prstGeom>
        </p:spPr>
      </p:pic>
      <p:sp>
        <p:nvSpPr>
          <p:cNvPr id="14" name="Shape 6">
            <a:extLst>
              <a:ext uri="{FF2B5EF4-FFF2-40B4-BE49-F238E27FC236}">
                <a16:creationId xmlns:a16="http://schemas.microsoft.com/office/drawing/2014/main" id="{C3A9714B-4201-3417-FC85-1272983074A2}"/>
              </a:ext>
            </a:extLst>
          </p:cNvPr>
          <p:cNvSpPr/>
          <p:nvPr/>
        </p:nvSpPr>
        <p:spPr>
          <a:xfrm>
            <a:off x="885139" y="2514523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81F49072-BD37-268A-FD58-A0B7585823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571" b="-571"/>
          <a:stretch/>
        </p:blipFill>
        <p:spPr>
          <a:xfrm>
            <a:off x="981151" y="2619679"/>
            <a:ext cx="190195" cy="170993"/>
          </a:xfrm>
          <a:prstGeom prst="rect">
            <a:avLst/>
          </a:prstGeom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CEAA8C2C-0F7A-C7B2-8DBD-E527C5645792}"/>
              </a:ext>
            </a:extLst>
          </p:cNvPr>
          <p:cNvSpPr txBox="1"/>
          <p:nvPr/>
        </p:nvSpPr>
        <p:spPr>
          <a:xfrm>
            <a:off x="1419149" y="2514523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참여도 기반 순위 나열</a:t>
            </a:r>
            <a:endParaRPr lang="en-US" sz="1100" dirty="0">
              <a:latin typeface="+mn-ea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08130553-1791-3DAC-4BC7-96734C9ACFBE}"/>
              </a:ext>
            </a:extLst>
          </p:cNvPr>
          <p:cNvSpPr txBox="1"/>
          <p:nvPr/>
        </p:nvSpPr>
        <p:spPr>
          <a:xfrm>
            <a:off x="1419149" y="2743123"/>
            <a:ext cx="31528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선택한 클래스 내 학생들을 </a:t>
            </a:r>
            <a:r>
              <a:rPr lang="en-US" sz="900" b="1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총 대화 건수</a:t>
            </a: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가 많은 순서대로(1등부터) 자동 정렬하여 표시합니다. 참여도가 높은 우수 학생을 직관적으로 파악할 수 있습니다. </a:t>
            </a:r>
            <a:endParaRPr lang="en-US" sz="900" dirty="0">
              <a:latin typeface="+mn-ea"/>
            </a:endParaRPr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EA34F57B-D3A4-6724-00F4-461548DB97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85800" y="3690442"/>
            <a:ext cx="4007815" cy="1028700"/>
          </a:xfrm>
          <a:prstGeom prst="rect">
            <a:avLst/>
          </a:prstGeom>
        </p:spPr>
      </p:pic>
      <p:sp>
        <p:nvSpPr>
          <p:cNvPr id="19" name="Shape 9">
            <a:extLst>
              <a:ext uri="{FF2B5EF4-FFF2-40B4-BE49-F238E27FC236}">
                <a16:creationId xmlns:a16="http://schemas.microsoft.com/office/drawing/2014/main" id="{A603AB4A-81AE-ED92-D4DF-6C38D9C3D6F2}"/>
              </a:ext>
            </a:extLst>
          </p:cNvPr>
          <p:cNvSpPr/>
          <p:nvPr/>
        </p:nvSpPr>
        <p:spPr>
          <a:xfrm>
            <a:off x="885139" y="38906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047C7D91-5AAF-5597-01C0-C417236AFC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0295" y="3995851"/>
            <a:ext cx="170993" cy="170993"/>
          </a:xfrm>
          <a:prstGeom prst="rect">
            <a:avLst/>
          </a:prstGeom>
        </p:spPr>
      </p:pic>
      <p:sp>
        <p:nvSpPr>
          <p:cNvPr id="21" name="Text 10">
            <a:extLst>
              <a:ext uri="{FF2B5EF4-FFF2-40B4-BE49-F238E27FC236}">
                <a16:creationId xmlns:a16="http://schemas.microsoft.com/office/drawing/2014/main" id="{390DD9F0-FD20-8ABF-24E9-99CB2E23F938}"/>
              </a:ext>
            </a:extLst>
          </p:cNvPr>
          <p:cNvSpPr txBox="1"/>
          <p:nvPr/>
        </p:nvSpPr>
        <p:spPr>
          <a:xfrm>
            <a:off x="1419149" y="3890695"/>
            <a:ext cx="23353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주요 데이터 컬럼</a:t>
            </a:r>
            <a:endParaRPr lang="en-US" sz="1100" dirty="0">
              <a:latin typeface="+mn-ea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84908CA7-E678-65A2-C4A0-E274901FA1D4}"/>
              </a:ext>
            </a:extLst>
          </p:cNvPr>
          <p:cNvSpPr txBox="1"/>
          <p:nvPr/>
        </p:nvSpPr>
        <p:spPr>
          <a:xfrm>
            <a:off x="1419149" y="4157700"/>
            <a:ext cx="11320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순위 (메달/숫자)</a:t>
            </a:r>
            <a:endParaRPr lang="en-US" sz="900" dirty="0">
              <a:latin typeface="+mn-ea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8BD5CFD5-DDD6-8205-5C75-8E7D613A5367}"/>
              </a:ext>
            </a:extLst>
          </p:cNvPr>
          <p:cNvSpPr txBox="1"/>
          <p:nvPr/>
        </p:nvSpPr>
        <p:spPr>
          <a:xfrm>
            <a:off x="2537460" y="4157700"/>
            <a:ext cx="11320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학생명 (아바타)</a:t>
            </a:r>
            <a:endParaRPr lang="en-US" sz="900" dirty="0">
              <a:latin typeface="+mn-ea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559A373A-755C-0CE7-9C23-BD54A7C703BC}"/>
              </a:ext>
            </a:extLst>
          </p:cNvPr>
          <p:cNvSpPr txBox="1"/>
          <p:nvPr/>
        </p:nvSpPr>
        <p:spPr>
          <a:xfrm>
            <a:off x="1419149" y="4367098"/>
            <a:ext cx="11951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총 대화 (정렬 기준)</a:t>
            </a:r>
            <a:endParaRPr lang="en-US" sz="900" dirty="0">
              <a:latin typeface="+mn-ea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47A0FF98-9324-4B15-E1A5-B7F899A32D92}"/>
              </a:ext>
            </a:extLst>
          </p:cNvPr>
          <p:cNvSpPr txBox="1"/>
          <p:nvPr/>
        </p:nvSpPr>
        <p:spPr>
          <a:xfrm>
            <a:off x="2537460" y="4367098"/>
            <a:ext cx="11320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최근 활동 일시</a:t>
            </a:r>
            <a:endParaRPr lang="en-US" sz="900" dirty="0">
              <a:latin typeface="+mn-ea"/>
            </a:endParaRPr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DBCE6CE3-6696-4F1E-05E5-1A721C6C15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685800" y="4910251"/>
            <a:ext cx="4007815" cy="1609344"/>
          </a:xfrm>
          <a:prstGeom prst="rect">
            <a:avLst/>
          </a:prstGeom>
        </p:spPr>
      </p:pic>
      <p:sp>
        <p:nvSpPr>
          <p:cNvPr id="27" name="Shape 15">
            <a:extLst>
              <a:ext uri="{FF2B5EF4-FFF2-40B4-BE49-F238E27FC236}">
                <a16:creationId xmlns:a16="http://schemas.microsoft.com/office/drawing/2014/main" id="{761183FC-EE33-4923-BFA0-30D2AF74356B}"/>
              </a:ext>
            </a:extLst>
          </p:cNvPr>
          <p:cNvSpPr/>
          <p:nvPr/>
        </p:nvSpPr>
        <p:spPr>
          <a:xfrm>
            <a:off x="914400" y="510959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28" name="Image 5" descr="preencoded.png">
            <a:extLst>
              <a:ext uri="{FF2B5EF4-FFF2-40B4-BE49-F238E27FC236}">
                <a16:creationId xmlns:a16="http://schemas.microsoft.com/office/drawing/2014/main" id="{A270B0A2-5219-28E3-E0CB-CAAB92746B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050" r="-2050"/>
          <a:stretch/>
        </p:blipFill>
        <p:spPr>
          <a:xfrm>
            <a:off x="1037844" y="5214747"/>
            <a:ext cx="133502" cy="170993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5BB9CC9B-2383-C3DC-0BC3-097190262417}"/>
              </a:ext>
            </a:extLst>
          </p:cNvPr>
          <p:cNvSpPr txBox="1"/>
          <p:nvPr/>
        </p:nvSpPr>
        <p:spPr>
          <a:xfrm>
            <a:off x="1447495" y="5109591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상세보기 및 리포트</a:t>
            </a:r>
            <a:endParaRPr lang="en-US" sz="1100" dirty="0">
              <a:latin typeface="+mn-ea"/>
            </a:endParaRPr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E42DDA3F-55F5-3F8A-0B2E-7A432ECC435B}"/>
              </a:ext>
            </a:extLst>
          </p:cNvPr>
          <p:cNvSpPr txBox="1"/>
          <p:nvPr/>
        </p:nvSpPr>
        <p:spPr>
          <a:xfrm>
            <a:off x="1447495" y="5338191"/>
            <a:ext cx="3124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우측 끝의 </a:t>
            </a:r>
            <a:r>
              <a:rPr lang="en-US" sz="9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상세보기</a:t>
            </a: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버튼을 클릭하면 개별 학생의 학습 이력을 조회할 수 있습니다. </a:t>
            </a:r>
            <a:endParaRPr lang="en-US" sz="900" dirty="0">
              <a:latin typeface="+mn-ea"/>
            </a:endParaRPr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7281BDCB-0396-E077-356D-70D12CD7F641}"/>
              </a:ext>
            </a:extLst>
          </p:cNvPr>
          <p:cNvSpPr/>
          <p:nvPr/>
        </p:nvSpPr>
        <p:spPr>
          <a:xfrm>
            <a:off x="1447495" y="5786247"/>
            <a:ext cx="3047695" cy="533095"/>
          </a:xfrm>
          <a:prstGeom prst="roundRect">
            <a:avLst>
              <a:gd name="adj" fmla="val 24504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6D274F0C-EDF5-9472-285A-F394379CF3A9}"/>
              </a:ext>
            </a:extLst>
          </p:cNvPr>
          <p:cNvSpPr txBox="1"/>
          <p:nvPr/>
        </p:nvSpPr>
        <p:spPr>
          <a:xfrm>
            <a:off x="1756562" y="5786247"/>
            <a:ext cx="2815438" cy="5340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1000" dirty="0">
                <a:latin typeface="+mn-ea"/>
                <a:cs typeface="Noto Sans KR" pitchFamily="34" charset="-120"/>
              </a:rPr>
              <a:t> 학생 상세 리포트 화면은 </a:t>
            </a:r>
            <a:r>
              <a:rPr lang="en-US" sz="1000" b="1" dirty="0">
                <a:latin typeface="+mn-ea"/>
                <a:cs typeface="Noto Sans KR" pitchFamily="34" charset="-120"/>
              </a:rPr>
              <a:t>18페이지</a:t>
            </a:r>
            <a:r>
              <a:rPr lang="en-US" sz="1000" dirty="0">
                <a:latin typeface="+mn-ea"/>
                <a:cs typeface="Noto Sans KR" pitchFamily="34" charset="-120"/>
              </a:rPr>
              <a:t>를 </a:t>
            </a:r>
          </a:p>
          <a:p>
            <a:pPr marL="0" indent="0" algn="l">
              <a:buNone/>
            </a:pPr>
            <a:r>
              <a:rPr lang="en-US" sz="1000" dirty="0">
                <a:latin typeface="+mn-ea"/>
                <a:cs typeface="Noto Sans KR" pitchFamily="34" charset="-120"/>
              </a:rPr>
              <a:t> </a:t>
            </a:r>
            <a:r>
              <a:rPr lang="en-US" sz="1000" dirty="0" err="1">
                <a:latin typeface="+mn-ea"/>
                <a:cs typeface="Noto Sans KR" pitchFamily="34" charset="-120"/>
              </a:rPr>
              <a:t>참고하세요</a:t>
            </a:r>
            <a:r>
              <a:rPr lang="en-US" sz="1000" dirty="0">
                <a:latin typeface="+mn-ea"/>
                <a:cs typeface="Noto Sans KR" pitchFamily="34" charset="-120"/>
              </a:rPr>
              <a:t>. </a:t>
            </a:r>
            <a:endParaRPr lang="en-US" sz="1000" dirty="0">
              <a:latin typeface="+mn-ea"/>
            </a:endParaRPr>
          </a:p>
        </p:txBody>
      </p:sp>
      <p:sp>
        <p:nvSpPr>
          <p:cNvPr id="118" name="Shape 21">
            <a:extLst>
              <a:ext uri="{FF2B5EF4-FFF2-40B4-BE49-F238E27FC236}">
                <a16:creationId xmlns:a16="http://schemas.microsoft.com/office/drawing/2014/main" id="{BF4B4A26-F492-D7EF-4B95-EAB94EE46914}"/>
              </a:ext>
            </a:extLst>
          </p:cNvPr>
          <p:cNvSpPr/>
          <p:nvPr/>
        </p:nvSpPr>
        <p:spPr>
          <a:xfrm>
            <a:off x="5104176" y="2600324"/>
            <a:ext cx="5286937" cy="9144"/>
          </a:xfrm>
          <a:prstGeom prst="roundRect">
            <a:avLst>
              <a:gd name="adj" fmla="val 2909091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19" name="Shape 24">
            <a:extLst>
              <a:ext uri="{FF2B5EF4-FFF2-40B4-BE49-F238E27FC236}">
                <a16:creationId xmlns:a16="http://schemas.microsoft.com/office/drawing/2014/main" id="{B6DFC601-B7FF-F599-C050-8B4C31A96E73}"/>
              </a:ext>
            </a:extLst>
          </p:cNvPr>
          <p:cNvSpPr/>
          <p:nvPr/>
        </p:nvSpPr>
        <p:spPr>
          <a:xfrm>
            <a:off x="5104176" y="2609468"/>
            <a:ext cx="5286937" cy="390449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20" name="Shape 25">
            <a:extLst>
              <a:ext uri="{FF2B5EF4-FFF2-40B4-BE49-F238E27FC236}">
                <a16:creationId xmlns:a16="http://schemas.microsoft.com/office/drawing/2014/main" id="{E3C6B5BF-DA77-2BE1-96BB-208C09814A86}"/>
              </a:ext>
            </a:extLst>
          </p:cNvPr>
          <p:cNvSpPr/>
          <p:nvPr/>
        </p:nvSpPr>
        <p:spPr>
          <a:xfrm>
            <a:off x="5104176" y="2990773"/>
            <a:ext cx="528693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21" name="Text 26">
            <a:extLst>
              <a:ext uri="{FF2B5EF4-FFF2-40B4-BE49-F238E27FC236}">
                <a16:creationId xmlns:a16="http://schemas.microsoft.com/office/drawing/2014/main" id="{1DC93E26-71AD-2E13-4226-461CC28124B5}"/>
              </a:ext>
            </a:extLst>
          </p:cNvPr>
          <p:cNvSpPr txBox="1"/>
          <p:nvPr/>
        </p:nvSpPr>
        <p:spPr>
          <a:xfrm>
            <a:off x="5180071" y="2685363"/>
            <a:ext cx="5040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순위</a:t>
            </a:r>
            <a:endParaRPr lang="en-US" sz="1100" dirty="0">
              <a:latin typeface="+mn-ea"/>
            </a:endParaRPr>
          </a:p>
        </p:txBody>
      </p:sp>
      <p:sp>
        <p:nvSpPr>
          <p:cNvPr id="122" name="Text 27">
            <a:extLst>
              <a:ext uri="{FF2B5EF4-FFF2-40B4-BE49-F238E27FC236}">
                <a16:creationId xmlns:a16="http://schemas.microsoft.com/office/drawing/2014/main" id="{7490136F-C6BA-9857-8BB3-B8836FC59B01}"/>
              </a:ext>
            </a:extLst>
          </p:cNvPr>
          <p:cNvSpPr txBox="1"/>
          <p:nvPr/>
        </p:nvSpPr>
        <p:spPr>
          <a:xfrm>
            <a:off x="5675676" y="2685363"/>
            <a:ext cx="25178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6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학생명</a:t>
            </a:r>
            <a:endParaRPr lang="en-US" sz="1100" dirty="0">
              <a:latin typeface="+mn-ea"/>
            </a:endParaRPr>
          </a:p>
        </p:txBody>
      </p:sp>
      <p:sp>
        <p:nvSpPr>
          <p:cNvPr id="123" name="Text 28">
            <a:extLst>
              <a:ext uri="{FF2B5EF4-FFF2-40B4-BE49-F238E27FC236}">
                <a16:creationId xmlns:a16="http://schemas.microsoft.com/office/drawing/2014/main" id="{8511AA3F-EB9C-AE6A-0CEF-2DE30F4220D2}"/>
              </a:ext>
            </a:extLst>
          </p:cNvPr>
          <p:cNvSpPr txBox="1"/>
          <p:nvPr/>
        </p:nvSpPr>
        <p:spPr>
          <a:xfrm>
            <a:off x="7876332" y="2685363"/>
            <a:ext cx="75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60" dirty="0">
                <a:solidFill>
                  <a:srgbClr val="6D28D9"/>
                </a:solidFill>
                <a:latin typeface="+mn-ea"/>
                <a:cs typeface="Noto Sans KR" pitchFamily="34" charset="-120"/>
              </a:rPr>
              <a:t>총 대화 </a:t>
            </a:r>
            <a:endParaRPr lang="en-US" sz="1100" dirty="0">
              <a:latin typeface="+mn-ea"/>
            </a:endParaRPr>
          </a:p>
        </p:txBody>
      </p:sp>
      <p:sp>
        <p:nvSpPr>
          <p:cNvPr id="124" name="Text 29">
            <a:extLst>
              <a:ext uri="{FF2B5EF4-FFF2-40B4-BE49-F238E27FC236}">
                <a16:creationId xmlns:a16="http://schemas.microsoft.com/office/drawing/2014/main" id="{BB3750B2-0ED5-536B-DDB2-415065B51AB9}"/>
              </a:ext>
            </a:extLst>
          </p:cNvPr>
          <p:cNvSpPr txBox="1"/>
          <p:nvPr/>
        </p:nvSpPr>
        <p:spPr>
          <a:xfrm>
            <a:off x="8563046" y="2685363"/>
            <a:ext cx="93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kern="0" spc="6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마지막</a:t>
            </a:r>
            <a:r>
              <a:rPr lang="en-US" sz="1100" b="1" kern="0" spc="6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 활동</a:t>
            </a:r>
            <a:endParaRPr lang="en-US" sz="1100" dirty="0">
              <a:latin typeface="+mn-ea"/>
            </a:endParaRPr>
          </a:p>
        </p:txBody>
      </p:sp>
      <p:sp>
        <p:nvSpPr>
          <p:cNvPr id="125" name="Text 30">
            <a:extLst>
              <a:ext uri="{FF2B5EF4-FFF2-40B4-BE49-F238E27FC236}">
                <a16:creationId xmlns:a16="http://schemas.microsoft.com/office/drawing/2014/main" id="{92D50B91-7CFC-F3BF-3F6B-B2464DCE2347}"/>
              </a:ext>
            </a:extLst>
          </p:cNvPr>
          <p:cNvSpPr txBox="1"/>
          <p:nvPr/>
        </p:nvSpPr>
        <p:spPr>
          <a:xfrm>
            <a:off x="9477447" y="2685363"/>
            <a:ext cx="791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상세보기</a:t>
            </a:r>
            <a:endParaRPr lang="en-US" sz="1100" dirty="0">
              <a:latin typeface="+mn-ea"/>
            </a:endParaRPr>
          </a:p>
        </p:txBody>
      </p:sp>
      <p:sp>
        <p:nvSpPr>
          <p:cNvPr id="126" name="Shape 32">
            <a:extLst>
              <a:ext uri="{FF2B5EF4-FFF2-40B4-BE49-F238E27FC236}">
                <a16:creationId xmlns:a16="http://schemas.microsoft.com/office/drawing/2014/main" id="{09B0F0F1-E6F2-E746-526D-FD3DDC48E83C}"/>
              </a:ext>
            </a:extLst>
          </p:cNvPr>
          <p:cNvSpPr/>
          <p:nvPr/>
        </p:nvSpPr>
        <p:spPr>
          <a:xfrm>
            <a:off x="5104176" y="4228870"/>
            <a:ext cx="528693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27" name="Shape 33">
            <a:extLst>
              <a:ext uri="{FF2B5EF4-FFF2-40B4-BE49-F238E27FC236}">
                <a16:creationId xmlns:a16="http://schemas.microsoft.com/office/drawing/2014/main" id="{B8123AC5-0D9D-8E9A-D2F2-43C717A1B7D6}"/>
              </a:ext>
            </a:extLst>
          </p:cNvPr>
          <p:cNvSpPr/>
          <p:nvPr/>
        </p:nvSpPr>
        <p:spPr>
          <a:xfrm>
            <a:off x="5332776" y="3809161"/>
            <a:ext cx="215793" cy="2286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129" name="Shape 34">
            <a:extLst>
              <a:ext uri="{FF2B5EF4-FFF2-40B4-BE49-F238E27FC236}">
                <a16:creationId xmlns:a16="http://schemas.microsoft.com/office/drawing/2014/main" id="{33F1ACA7-1906-AEA2-EA55-17E80A8F9DE2}"/>
              </a:ext>
            </a:extLst>
          </p:cNvPr>
          <p:cNvSpPr/>
          <p:nvPr/>
        </p:nvSpPr>
        <p:spPr>
          <a:xfrm>
            <a:off x="5751571" y="3771670"/>
            <a:ext cx="287437" cy="304495"/>
          </a:xfrm>
          <a:prstGeom prst="ellipse">
            <a:avLst/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30" name="Text 35">
            <a:extLst>
              <a:ext uri="{FF2B5EF4-FFF2-40B4-BE49-F238E27FC236}">
                <a16:creationId xmlns:a16="http://schemas.microsoft.com/office/drawing/2014/main" id="{0DC7BD1F-E772-E90C-46FE-60880BF74C22}"/>
              </a:ext>
            </a:extLst>
          </p:cNvPr>
          <p:cNvSpPr/>
          <p:nvPr/>
        </p:nvSpPr>
        <p:spPr>
          <a:xfrm>
            <a:off x="5713166" y="3771670"/>
            <a:ext cx="35994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+mn-ea"/>
                <a:cs typeface="Noto Sans KR" pitchFamily="34" charset="-120"/>
              </a:rPr>
              <a:t>P</a:t>
            </a:r>
            <a:endParaRPr lang="en-US" sz="1100" dirty="0">
              <a:latin typeface="+mn-ea"/>
            </a:endParaRPr>
          </a:p>
        </p:txBody>
      </p:sp>
      <p:sp>
        <p:nvSpPr>
          <p:cNvPr id="131" name="Text 36">
            <a:extLst>
              <a:ext uri="{FF2B5EF4-FFF2-40B4-BE49-F238E27FC236}">
                <a16:creationId xmlns:a16="http://schemas.microsoft.com/office/drawing/2014/main" id="{5D737B95-FEF0-8B5C-A939-D14CFB6C15F7}"/>
              </a:ext>
            </a:extLst>
          </p:cNvPr>
          <p:cNvSpPr txBox="1"/>
          <p:nvPr/>
        </p:nvSpPr>
        <p:spPr>
          <a:xfrm>
            <a:off x="6132876" y="3733266"/>
            <a:ext cx="12947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b="1" dirty="0">
                <a:solidFill>
                  <a:srgbClr val="111827"/>
                </a:solidFill>
                <a:latin typeface="+mn-ea"/>
              </a:rPr>
              <a:t>박지훈</a:t>
            </a:r>
            <a:endParaRPr lang="en-US" sz="800" dirty="0">
              <a:latin typeface="+mn-ea"/>
            </a:endParaRPr>
          </a:p>
        </p:txBody>
      </p:sp>
      <p:sp>
        <p:nvSpPr>
          <p:cNvPr id="132" name="Text 37">
            <a:extLst>
              <a:ext uri="{FF2B5EF4-FFF2-40B4-BE49-F238E27FC236}">
                <a16:creationId xmlns:a16="http://schemas.microsoft.com/office/drawing/2014/main" id="{6D13FE33-8DD8-24B5-85F7-24148E0F5172}"/>
              </a:ext>
            </a:extLst>
          </p:cNvPr>
          <p:cNvSpPr txBox="1"/>
          <p:nvPr/>
        </p:nvSpPr>
        <p:spPr>
          <a:xfrm>
            <a:off x="6132877" y="3885970"/>
            <a:ext cx="1430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p.jh@growfit.kr</a:t>
            </a:r>
            <a:endParaRPr lang="en-US" sz="1100" dirty="0">
              <a:latin typeface="+mn-ea"/>
            </a:endParaRPr>
          </a:p>
        </p:txBody>
      </p:sp>
      <p:sp>
        <p:nvSpPr>
          <p:cNvPr id="133" name="Text 38">
            <a:extLst>
              <a:ext uri="{FF2B5EF4-FFF2-40B4-BE49-F238E27FC236}">
                <a16:creationId xmlns:a16="http://schemas.microsoft.com/office/drawing/2014/main" id="{9995F39C-41CE-5563-2373-3A673BD1C042}"/>
              </a:ext>
            </a:extLst>
          </p:cNvPr>
          <p:cNvSpPr txBox="1"/>
          <p:nvPr/>
        </p:nvSpPr>
        <p:spPr>
          <a:xfrm>
            <a:off x="7801352" y="3828363"/>
            <a:ext cx="791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17</a:t>
            </a:r>
            <a:endParaRPr lang="en-US" sz="1000" dirty="0">
              <a:latin typeface="+mn-ea"/>
            </a:endParaRPr>
          </a:p>
        </p:txBody>
      </p:sp>
      <p:sp>
        <p:nvSpPr>
          <p:cNvPr id="134" name="Text 39">
            <a:extLst>
              <a:ext uri="{FF2B5EF4-FFF2-40B4-BE49-F238E27FC236}">
                <a16:creationId xmlns:a16="http://schemas.microsoft.com/office/drawing/2014/main" id="{EB09A460-B1A4-D66D-3891-D50062E7CDFC}"/>
              </a:ext>
            </a:extLst>
          </p:cNvPr>
          <p:cNvSpPr txBox="1"/>
          <p:nvPr/>
        </p:nvSpPr>
        <p:spPr>
          <a:xfrm>
            <a:off x="8537443" y="3809161"/>
            <a:ext cx="984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2026. 3. 3.</a:t>
            </a:r>
            <a:endParaRPr lang="en-US" sz="1100" dirty="0">
              <a:latin typeface="+mn-ea"/>
            </a:endParaRPr>
          </a:p>
        </p:txBody>
      </p:sp>
      <p:sp>
        <p:nvSpPr>
          <p:cNvPr id="135" name="Shape 40">
            <a:extLst>
              <a:ext uri="{FF2B5EF4-FFF2-40B4-BE49-F238E27FC236}">
                <a16:creationId xmlns:a16="http://schemas.microsoft.com/office/drawing/2014/main" id="{0DA2255F-A4A0-44DA-E267-DBE8566AEAC8}"/>
              </a:ext>
            </a:extLst>
          </p:cNvPr>
          <p:cNvSpPr/>
          <p:nvPr/>
        </p:nvSpPr>
        <p:spPr>
          <a:xfrm>
            <a:off x="5104176" y="4847919"/>
            <a:ext cx="528693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37" name="Shape 41">
            <a:extLst>
              <a:ext uri="{FF2B5EF4-FFF2-40B4-BE49-F238E27FC236}">
                <a16:creationId xmlns:a16="http://schemas.microsoft.com/office/drawing/2014/main" id="{FBDC14A4-054C-CFE9-CB94-957BAF4574B4}"/>
              </a:ext>
            </a:extLst>
          </p:cNvPr>
          <p:cNvSpPr/>
          <p:nvPr/>
        </p:nvSpPr>
        <p:spPr>
          <a:xfrm>
            <a:off x="5751571" y="4390719"/>
            <a:ext cx="287437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38" name="Text 42">
            <a:extLst>
              <a:ext uri="{FF2B5EF4-FFF2-40B4-BE49-F238E27FC236}">
                <a16:creationId xmlns:a16="http://schemas.microsoft.com/office/drawing/2014/main" id="{29855EAF-563D-2286-8F63-6A72FAB2A063}"/>
              </a:ext>
            </a:extLst>
          </p:cNvPr>
          <p:cNvSpPr/>
          <p:nvPr/>
        </p:nvSpPr>
        <p:spPr>
          <a:xfrm>
            <a:off x="5713166" y="4390719"/>
            <a:ext cx="35994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L</a:t>
            </a:r>
            <a:endParaRPr lang="en-US" sz="1100" dirty="0">
              <a:latin typeface="+mn-ea"/>
            </a:endParaRPr>
          </a:p>
        </p:txBody>
      </p:sp>
      <p:sp>
        <p:nvSpPr>
          <p:cNvPr id="139" name="Text 43">
            <a:extLst>
              <a:ext uri="{FF2B5EF4-FFF2-40B4-BE49-F238E27FC236}">
                <a16:creationId xmlns:a16="http://schemas.microsoft.com/office/drawing/2014/main" id="{FF69DFA4-2333-D56A-640E-A4FE742D1D0F}"/>
              </a:ext>
            </a:extLst>
          </p:cNvPr>
          <p:cNvSpPr txBox="1"/>
          <p:nvPr/>
        </p:nvSpPr>
        <p:spPr>
          <a:xfrm>
            <a:off x="6132876" y="4352314"/>
            <a:ext cx="12429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이서진</a:t>
            </a:r>
            <a:endParaRPr lang="en-US" sz="800" dirty="0">
              <a:latin typeface="+mn-ea"/>
            </a:endParaRPr>
          </a:p>
        </p:txBody>
      </p:sp>
      <p:sp>
        <p:nvSpPr>
          <p:cNvPr id="140" name="Text 44">
            <a:extLst>
              <a:ext uri="{FF2B5EF4-FFF2-40B4-BE49-F238E27FC236}">
                <a16:creationId xmlns:a16="http://schemas.microsoft.com/office/drawing/2014/main" id="{29F10B76-EDA0-FBB9-C953-0CDC3203D42A}"/>
              </a:ext>
            </a:extLst>
          </p:cNvPr>
          <p:cNvSpPr txBox="1"/>
          <p:nvPr/>
        </p:nvSpPr>
        <p:spPr>
          <a:xfrm>
            <a:off x="6132877" y="4505019"/>
            <a:ext cx="136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sj.lee@univ.ac.kr</a:t>
            </a:r>
            <a:endParaRPr lang="en-US" sz="1100" dirty="0">
              <a:latin typeface="+mn-ea"/>
            </a:endParaRPr>
          </a:p>
        </p:txBody>
      </p:sp>
      <p:sp>
        <p:nvSpPr>
          <p:cNvPr id="141" name="Text 45">
            <a:extLst>
              <a:ext uri="{FF2B5EF4-FFF2-40B4-BE49-F238E27FC236}">
                <a16:creationId xmlns:a16="http://schemas.microsoft.com/office/drawing/2014/main" id="{554F39BD-97F5-F6CF-AAF7-8E392E7883E0}"/>
              </a:ext>
            </a:extLst>
          </p:cNvPr>
          <p:cNvSpPr txBox="1"/>
          <p:nvPr/>
        </p:nvSpPr>
        <p:spPr>
          <a:xfrm>
            <a:off x="7801352" y="4447412"/>
            <a:ext cx="791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12</a:t>
            </a:r>
            <a:endParaRPr lang="en-US" sz="1000" dirty="0">
              <a:latin typeface="+mn-ea"/>
            </a:endParaRPr>
          </a:p>
        </p:txBody>
      </p:sp>
      <p:sp>
        <p:nvSpPr>
          <p:cNvPr id="142" name="Text 46">
            <a:extLst>
              <a:ext uri="{FF2B5EF4-FFF2-40B4-BE49-F238E27FC236}">
                <a16:creationId xmlns:a16="http://schemas.microsoft.com/office/drawing/2014/main" id="{E4DC1A62-0771-94ED-8731-6A1A60171A36}"/>
              </a:ext>
            </a:extLst>
          </p:cNvPr>
          <p:cNvSpPr txBox="1"/>
          <p:nvPr/>
        </p:nvSpPr>
        <p:spPr>
          <a:xfrm>
            <a:off x="8537443" y="4428210"/>
            <a:ext cx="984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2026. 3. 1.</a:t>
            </a:r>
            <a:endParaRPr lang="en-US" sz="1100" dirty="0">
              <a:latin typeface="+mn-ea"/>
            </a:endParaRPr>
          </a:p>
        </p:txBody>
      </p:sp>
      <p:sp>
        <p:nvSpPr>
          <p:cNvPr id="143" name="Shape 47">
            <a:extLst>
              <a:ext uri="{FF2B5EF4-FFF2-40B4-BE49-F238E27FC236}">
                <a16:creationId xmlns:a16="http://schemas.microsoft.com/office/drawing/2014/main" id="{7BE6989C-90B2-27CE-5A6D-9B88A273B9D4}"/>
              </a:ext>
            </a:extLst>
          </p:cNvPr>
          <p:cNvSpPr/>
          <p:nvPr/>
        </p:nvSpPr>
        <p:spPr>
          <a:xfrm>
            <a:off x="5104176" y="5466968"/>
            <a:ext cx="528693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44" name="Shape 48">
            <a:extLst>
              <a:ext uri="{FF2B5EF4-FFF2-40B4-BE49-F238E27FC236}">
                <a16:creationId xmlns:a16="http://schemas.microsoft.com/office/drawing/2014/main" id="{C9285C76-7D1C-96C9-CA1E-BD295A71887C}"/>
              </a:ext>
            </a:extLst>
          </p:cNvPr>
          <p:cNvSpPr/>
          <p:nvPr/>
        </p:nvSpPr>
        <p:spPr>
          <a:xfrm>
            <a:off x="5751571" y="5009768"/>
            <a:ext cx="287437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45" name="Text 49">
            <a:extLst>
              <a:ext uri="{FF2B5EF4-FFF2-40B4-BE49-F238E27FC236}">
                <a16:creationId xmlns:a16="http://schemas.microsoft.com/office/drawing/2014/main" id="{D6467B90-B813-435D-34C0-59422E96EB21}"/>
              </a:ext>
            </a:extLst>
          </p:cNvPr>
          <p:cNvSpPr/>
          <p:nvPr/>
        </p:nvSpPr>
        <p:spPr>
          <a:xfrm>
            <a:off x="5713166" y="5009768"/>
            <a:ext cx="35994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P</a:t>
            </a:r>
            <a:endParaRPr lang="en-US" sz="1100" dirty="0">
              <a:latin typeface="+mn-ea"/>
            </a:endParaRPr>
          </a:p>
        </p:txBody>
      </p:sp>
      <p:sp>
        <p:nvSpPr>
          <p:cNvPr id="146" name="Text 50">
            <a:extLst>
              <a:ext uri="{FF2B5EF4-FFF2-40B4-BE49-F238E27FC236}">
                <a16:creationId xmlns:a16="http://schemas.microsoft.com/office/drawing/2014/main" id="{7988F230-86BF-E63D-8C57-5CA8785D82FF}"/>
              </a:ext>
            </a:extLst>
          </p:cNvPr>
          <p:cNvSpPr txBox="1"/>
          <p:nvPr/>
        </p:nvSpPr>
        <p:spPr>
          <a:xfrm>
            <a:off x="6132877" y="4971363"/>
            <a:ext cx="14475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박민수</a:t>
            </a:r>
            <a:endParaRPr lang="en-US" sz="800" dirty="0">
              <a:latin typeface="+mn-ea"/>
            </a:endParaRPr>
          </a:p>
        </p:txBody>
      </p:sp>
      <p:sp>
        <p:nvSpPr>
          <p:cNvPr id="147" name="Text 51">
            <a:extLst>
              <a:ext uri="{FF2B5EF4-FFF2-40B4-BE49-F238E27FC236}">
                <a16:creationId xmlns:a16="http://schemas.microsoft.com/office/drawing/2014/main" id="{21325E02-A091-5B6A-EECE-D066D5970A0F}"/>
              </a:ext>
            </a:extLst>
          </p:cNvPr>
          <p:cNvSpPr txBox="1"/>
          <p:nvPr/>
        </p:nvSpPr>
        <p:spPr>
          <a:xfrm>
            <a:off x="6132876" y="5124068"/>
            <a:ext cx="1594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ms.park@univ.ac.kr</a:t>
            </a:r>
            <a:endParaRPr lang="en-US" sz="1100" dirty="0">
              <a:latin typeface="+mn-ea"/>
            </a:endParaRPr>
          </a:p>
        </p:txBody>
      </p:sp>
      <p:sp>
        <p:nvSpPr>
          <p:cNvPr id="148" name="Text 52">
            <a:extLst>
              <a:ext uri="{FF2B5EF4-FFF2-40B4-BE49-F238E27FC236}">
                <a16:creationId xmlns:a16="http://schemas.microsoft.com/office/drawing/2014/main" id="{9AA91E80-A0C6-7DBB-2C27-65FFF9897456}"/>
              </a:ext>
            </a:extLst>
          </p:cNvPr>
          <p:cNvSpPr txBox="1"/>
          <p:nvPr/>
        </p:nvSpPr>
        <p:spPr>
          <a:xfrm>
            <a:off x="7801352" y="5066461"/>
            <a:ext cx="791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8</a:t>
            </a:r>
            <a:endParaRPr lang="en-US" sz="1000" dirty="0">
              <a:latin typeface="+mn-ea"/>
            </a:endParaRPr>
          </a:p>
        </p:txBody>
      </p:sp>
      <p:sp>
        <p:nvSpPr>
          <p:cNvPr id="149" name="Text 53">
            <a:extLst>
              <a:ext uri="{FF2B5EF4-FFF2-40B4-BE49-F238E27FC236}">
                <a16:creationId xmlns:a16="http://schemas.microsoft.com/office/drawing/2014/main" id="{549ED85C-B333-22BF-1FA5-F113C672A15E}"/>
              </a:ext>
            </a:extLst>
          </p:cNvPr>
          <p:cNvSpPr txBox="1"/>
          <p:nvPr/>
        </p:nvSpPr>
        <p:spPr>
          <a:xfrm>
            <a:off x="8514583" y="5047258"/>
            <a:ext cx="102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2026. 2. 28.</a:t>
            </a:r>
            <a:endParaRPr lang="en-US" sz="1100" dirty="0">
              <a:latin typeface="+mn-ea"/>
            </a:endParaRPr>
          </a:p>
        </p:txBody>
      </p:sp>
      <p:sp>
        <p:nvSpPr>
          <p:cNvPr id="150" name="Shape 54">
            <a:extLst>
              <a:ext uri="{FF2B5EF4-FFF2-40B4-BE49-F238E27FC236}">
                <a16:creationId xmlns:a16="http://schemas.microsoft.com/office/drawing/2014/main" id="{669EA0FE-42B2-CFE4-46D8-FA01D7460993}"/>
              </a:ext>
            </a:extLst>
          </p:cNvPr>
          <p:cNvSpPr/>
          <p:nvPr/>
        </p:nvSpPr>
        <p:spPr>
          <a:xfrm>
            <a:off x="5104176" y="6086017"/>
            <a:ext cx="528693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51" name="Shape 55">
            <a:extLst>
              <a:ext uri="{FF2B5EF4-FFF2-40B4-BE49-F238E27FC236}">
                <a16:creationId xmlns:a16="http://schemas.microsoft.com/office/drawing/2014/main" id="{4362FD93-4D1C-5C71-84A8-9E9BB3E39C8A}"/>
              </a:ext>
            </a:extLst>
          </p:cNvPr>
          <p:cNvSpPr/>
          <p:nvPr/>
        </p:nvSpPr>
        <p:spPr>
          <a:xfrm>
            <a:off x="5751571" y="5628817"/>
            <a:ext cx="287437" cy="3044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52" name="Text 56">
            <a:extLst>
              <a:ext uri="{FF2B5EF4-FFF2-40B4-BE49-F238E27FC236}">
                <a16:creationId xmlns:a16="http://schemas.microsoft.com/office/drawing/2014/main" id="{0C7D8144-C47B-EF71-D2F5-AD1945D1D735}"/>
              </a:ext>
            </a:extLst>
          </p:cNvPr>
          <p:cNvSpPr/>
          <p:nvPr/>
        </p:nvSpPr>
        <p:spPr>
          <a:xfrm>
            <a:off x="5713166" y="5628817"/>
            <a:ext cx="35994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2777"/>
                </a:solidFill>
                <a:latin typeface="+mn-ea"/>
                <a:cs typeface="Noto Sans KR" pitchFamily="34" charset="-120"/>
              </a:rPr>
              <a:t>C</a:t>
            </a:r>
            <a:endParaRPr lang="en-US" sz="1100" dirty="0">
              <a:latin typeface="+mn-ea"/>
            </a:endParaRPr>
          </a:p>
        </p:txBody>
      </p:sp>
      <p:sp>
        <p:nvSpPr>
          <p:cNvPr id="153" name="Text 57">
            <a:extLst>
              <a:ext uri="{FF2B5EF4-FFF2-40B4-BE49-F238E27FC236}">
                <a16:creationId xmlns:a16="http://schemas.microsoft.com/office/drawing/2014/main" id="{4C2F3FC0-D126-C9D9-9BAE-D4B05BC62BC6}"/>
              </a:ext>
            </a:extLst>
          </p:cNvPr>
          <p:cNvSpPr txBox="1"/>
          <p:nvPr/>
        </p:nvSpPr>
        <p:spPr>
          <a:xfrm>
            <a:off x="6132876" y="5590412"/>
            <a:ext cx="13594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최유리</a:t>
            </a:r>
            <a:endParaRPr lang="en-US" sz="800" dirty="0">
              <a:latin typeface="+mn-ea"/>
            </a:endParaRPr>
          </a:p>
        </p:txBody>
      </p:sp>
      <p:sp>
        <p:nvSpPr>
          <p:cNvPr id="154" name="Text 58">
            <a:extLst>
              <a:ext uri="{FF2B5EF4-FFF2-40B4-BE49-F238E27FC236}">
                <a16:creationId xmlns:a16="http://schemas.microsoft.com/office/drawing/2014/main" id="{10BC2D21-517B-143E-370F-3D9ECA6DC478}"/>
              </a:ext>
            </a:extLst>
          </p:cNvPr>
          <p:cNvSpPr txBox="1"/>
          <p:nvPr/>
        </p:nvSpPr>
        <p:spPr>
          <a:xfrm>
            <a:off x="6132876" y="5743117"/>
            <a:ext cx="1498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yr.choi@univ.ac.kr</a:t>
            </a:r>
            <a:endParaRPr lang="en-US" sz="1100" dirty="0">
              <a:latin typeface="+mn-ea"/>
            </a:endParaRPr>
          </a:p>
        </p:txBody>
      </p:sp>
      <p:sp>
        <p:nvSpPr>
          <p:cNvPr id="155" name="Text 59">
            <a:extLst>
              <a:ext uri="{FF2B5EF4-FFF2-40B4-BE49-F238E27FC236}">
                <a16:creationId xmlns:a16="http://schemas.microsoft.com/office/drawing/2014/main" id="{B267BA06-8424-E0E5-F30E-30B0AD3121D2}"/>
              </a:ext>
            </a:extLst>
          </p:cNvPr>
          <p:cNvSpPr txBox="1"/>
          <p:nvPr/>
        </p:nvSpPr>
        <p:spPr>
          <a:xfrm>
            <a:off x="7801352" y="5685510"/>
            <a:ext cx="791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5</a:t>
            </a:r>
            <a:endParaRPr lang="en-US" sz="1000" dirty="0">
              <a:latin typeface="+mn-ea"/>
            </a:endParaRPr>
          </a:p>
        </p:txBody>
      </p:sp>
      <p:sp>
        <p:nvSpPr>
          <p:cNvPr id="156" name="Text 60">
            <a:extLst>
              <a:ext uri="{FF2B5EF4-FFF2-40B4-BE49-F238E27FC236}">
                <a16:creationId xmlns:a16="http://schemas.microsoft.com/office/drawing/2014/main" id="{BDDE280E-896D-257E-2D8A-D7DC18110712}"/>
              </a:ext>
            </a:extLst>
          </p:cNvPr>
          <p:cNvSpPr txBox="1"/>
          <p:nvPr/>
        </p:nvSpPr>
        <p:spPr>
          <a:xfrm>
            <a:off x="8514583" y="5667222"/>
            <a:ext cx="102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2026. 2. 25.</a:t>
            </a:r>
            <a:endParaRPr lang="en-US" sz="1100" dirty="0">
              <a:latin typeface="+mn-ea"/>
            </a:endParaRPr>
          </a:p>
        </p:txBody>
      </p:sp>
      <p:pic>
        <p:nvPicPr>
          <p:cNvPr id="157" name="Image 15" descr="preencoded.png">
            <a:extLst>
              <a:ext uri="{FF2B5EF4-FFF2-40B4-BE49-F238E27FC236}">
                <a16:creationId xmlns:a16="http://schemas.microsoft.com/office/drawing/2014/main" id="{D7E94D4A-213A-0825-17B3-0EE78501EE2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5090" r="-5090"/>
          <a:stretch/>
        </p:blipFill>
        <p:spPr>
          <a:xfrm>
            <a:off x="8458804" y="2732912"/>
            <a:ext cx="99265" cy="152705"/>
          </a:xfrm>
          <a:prstGeom prst="rect">
            <a:avLst/>
          </a:prstGeom>
        </p:spPr>
      </p:pic>
      <p:sp>
        <p:nvSpPr>
          <p:cNvPr id="158" name="Shape 66">
            <a:extLst>
              <a:ext uri="{FF2B5EF4-FFF2-40B4-BE49-F238E27FC236}">
                <a16:creationId xmlns:a16="http://schemas.microsoft.com/office/drawing/2014/main" id="{64750B3D-4D35-D26B-3275-E722EE16E5DF}"/>
              </a:ext>
            </a:extLst>
          </p:cNvPr>
          <p:cNvSpPr/>
          <p:nvPr/>
        </p:nvSpPr>
        <p:spPr>
          <a:xfrm>
            <a:off x="9575287" y="3761612"/>
            <a:ext cx="611127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59" name="Image 16" descr="preencoded.png">
            <a:extLst>
              <a:ext uri="{FF2B5EF4-FFF2-40B4-BE49-F238E27FC236}">
                <a16:creationId xmlns:a16="http://schemas.microsoft.com/office/drawing/2014/main" id="{0FD0CBCA-8ABC-7604-E682-7447C31E9FF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61241" y="3856710"/>
            <a:ext cx="144150" cy="152705"/>
          </a:xfrm>
          <a:prstGeom prst="rect">
            <a:avLst/>
          </a:prstGeom>
        </p:spPr>
      </p:pic>
      <p:sp>
        <p:nvSpPr>
          <p:cNvPr id="160" name="Text 67">
            <a:extLst>
              <a:ext uri="{FF2B5EF4-FFF2-40B4-BE49-F238E27FC236}">
                <a16:creationId xmlns:a16="http://schemas.microsoft.com/office/drawing/2014/main" id="{E307E831-7601-34CB-2F53-CCB8FEBBA387}"/>
              </a:ext>
            </a:extLst>
          </p:cNvPr>
          <p:cNvSpPr txBox="1"/>
          <p:nvPr/>
        </p:nvSpPr>
        <p:spPr>
          <a:xfrm>
            <a:off x="9813031" y="3809161"/>
            <a:ext cx="341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보기</a:t>
            </a:r>
            <a:endParaRPr lang="en-US" sz="1100" dirty="0">
              <a:latin typeface="+mn-ea"/>
            </a:endParaRPr>
          </a:p>
        </p:txBody>
      </p:sp>
      <p:sp>
        <p:nvSpPr>
          <p:cNvPr id="161" name="Shape 68">
            <a:extLst>
              <a:ext uri="{FF2B5EF4-FFF2-40B4-BE49-F238E27FC236}">
                <a16:creationId xmlns:a16="http://schemas.microsoft.com/office/drawing/2014/main" id="{F747F8B5-93D4-6B9C-ABB4-20449EC3626F}"/>
              </a:ext>
            </a:extLst>
          </p:cNvPr>
          <p:cNvSpPr/>
          <p:nvPr/>
        </p:nvSpPr>
        <p:spPr>
          <a:xfrm>
            <a:off x="9575287" y="4380661"/>
            <a:ext cx="611127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62" name="Image 17" descr="preencoded.png">
            <a:extLst>
              <a:ext uri="{FF2B5EF4-FFF2-40B4-BE49-F238E27FC236}">
                <a16:creationId xmlns:a16="http://schemas.microsoft.com/office/drawing/2014/main" id="{C3A15C55-F6E2-038A-9090-3CDC7AA74B6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61241" y="4476673"/>
            <a:ext cx="144150" cy="152705"/>
          </a:xfrm>
          <a:prstGeom prst="rect">
            <a:avLst/>
          </a:prstGeom>
        </p:spPr>
      </p:pic>
      <p:sp>
        <p:nvSpPr>
          <p:cNvPr id="163" name="Text 69">
            <a:extLst>
              <a:ext uri="{FF2B5EF4-FFF2-40B4-BE49-F238E27FC236}">
                <a16:creationId xmlns:a16="http://schemas.microsoft.com/office/drawing/2014/main" id="{A04345CB-602C-FA27-4088-D392AD9AAFD0}"/>
              </a:ext>
            </a:extLst>
          </p:cNvPr>
          <p:cNvSpPr txBox="1"/>
          <p:nvPr/>
        </p:nvSpPr>
        <p:spPr>
          <a:xfrm>
            <a:off x="9813031" y="4428210"/>
            <a:ext cx="341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보기</a:t>
            </a:r>
            <a:endParaRPr lang="en-US" sz="1100" dirty="0">
              <a:latin typeface="+mn-ea"/>
            </a:endParaRPr>
          </a:p>
        </p:txBody>
      </p:sp>
      <p:sp>
        <p:nvSpPr>
          <p:cNvPr id="164" name="Text 70">
            <a:extLst>
              <a:ext uri="{FF2B5EF4-FFF2-40B4-BE49-F238E27FC236}">
                <a16:creationId xmlns:a16="http://schemas.microsoft.com/office/drawing/2014/main" id="{1D79F1AC-4FBC-A23C-0C23-20EFD932E5AD}"/>
              </a:ext>
            </a:extLst>
          </p:cNvPr>
          <p:cNvSpPr txBox="1"/>
          <p:nvPr/>
        </p:nvSpPr>
        <p:spPr>
          <a:xfrm>
            <a:off x="5374839" y="5095722"/>
            <a:ext cx="1441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4</a:t>
            </a:r>
            <a:endParaRPr lang="en-US" sz="800" dirty="0">
              <a:latin typeface="+mn-ea"/>
            </a:endParaRPr>
          </a:p>
        </p:txBody>
      </p:sp>
      <p:sp>
        <p:nvSpPr>
          <p:cNvPr id="165" name="Shape 71">
            <a:extLst>
              <a:ext uri="{FF2B5EF4-FFF2-40B4-BE49-F238E27FC236}">
                <a16:creationId xmlns:a16="http://schemas.microsoft.com/office/drawing/2014/main" id="{0778C0FC-41DE-30FE-6ED4-EC49EFD13F96}"/>
              </a:ext>
            </a:extLst>
          </p:cNvPr>
          <p:cNvSpPr/>
          <p:nvPr/>
        </p:nvSpPr>
        <p:spPr>
          <a:xfrm>
            <a:off x="9575287" y="4999710"/>
            <a:ext cx="611127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66" name="Image 18" descr="preencoded.png">
            <a:extLst>
              <a:ext uri="{FF2B5EF4-FFF2-40B4-BE49-F238E27FC236}">
                <a16:creationId xmlns:a16="http://schemas.microsoft.com/office/drawing/2014/main" id="{61541EAE-6AC1-1C83-8E4A-5D9FE13FE23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61241" y="5095722"/>
            <a:ext cx="144150" cy="152705"/>
          </a:xfrm>
          <a:prstGeom prst="rect">
            <a:avLst/>
          </a:prstGeom>
        </p:spPr>
      </p:pic>
      <p:sp>
        <p:nvSpPr>
          <p:cNvPr id="167" name="Text 72">
            <a:extLst>
              <a:ext uri="{FF2B5EF4-FFF2-40B4-BE49-F238E27FC236}">
                <a16:creationId xmlns:a16="http://schemas.microsoft.com/office/drawing/2014/main" id="{2F4FAB1C-56ED-55DD-A590-FA8FEBAE89D6}"/>
              </a:ext>
            </a:extLst>
          </p:cNvPr>
          <p:cNvSpPr txBox="1"/>
          <p:nvPr/>
        </p:nvSpPr>
        <p:spPr>
          <a:xfrm>
            <a:off x="9813031" y="5047258"/>
            <a:ext cx="341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보기</a:t>
            </a:r>
            <a:endParaRPr lang="en-US" sz="1100" dirty="0">
              <a:latin typeface="+mn-ea"/>
            </a:endParaRPr>
          </a:p>
        </p:txBody>
      </p:sp>
      <p:sp>
        <p:nvSpPr>
          <p:cNvPr id="168" name="Text 73">
            <a:extLst>
              <a:ext uri="{FF2B5EF4-FFF2-40B4-BE49-F238E27FC236}">
                <a16:creationId xmlns:a16="http://schemas.microsoft.com/office/drawing/2014/main" id="{6F0C5DBC-1EDE-8801-82EE-1C33858305B6}"/>
              </a:ext>
            </a:extLst>
          </p:cNvPr>
          <p:cNvSpPr txBox="1"/>
          <p:nvPr/>
        </p:nvSpPr>
        <p:spPr>
          <a:xfrm>
            <a:off x="5374839" y="5714770"/>
            <a:ext cx="1441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5</a:t>
            </a:r>
            <a:endParaRPr lang="en-US" sz="800" dirty="0">
              <a:latin typeface="+mn-ea"/>
            </a:endParaRPr>
          </a:p>
        </p:txBody>
      </p:sp>
      <p:sp>
        <p:nvSpPr>
          <p:cNvPr id="169" name="Shape 74">
            <a:extLst>
              <a:ext uri="{FF2B5EF4-FFF2-40B4-BE49-F238E27FC236}">
                <a16:creationId xmlns:a16="http://schemas.microsoft.com/office/drawing/2014/main" id="{E12AA739-F227-460E-48B1-381FB04C85F7}"/>
              </a:ext>
            </a:extLst>
          </p:cNvPr>
          <p:cNvSpPr/>
          <p:nvPr/>
        </p:nvSpPr>
        <p:spPr>
          <a:xfrm>
            <a:off x="9575287" y="5618758"/>
            <a:ext cx="611127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70" name="Image 19" descr="preencoded.png">
            <a:extLst>
              <a:ext uri="{FF2B5EF4-FFF2-40B4-BE49-F238E27FC236}">
                <a16:creationId xmlns:a16="http://schemas.microsoft.com/office/drawing/2014/main" id="{BD2FABF7-3599-4EFB-00B7-D982F774E08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61241" y="5714770"/>
            <a:ext cx="144150" cy="152705"/>
          </a:xfrm>
          <a:prstGeom prst="rect">
            <a:avLst/>
          </a:prstGeom>
        </p:spPr>
      </p:pic>
      <p:sp>
        <p:nvSpPr>
          <p:cNvPr id="171" name="Text 75">
            <a:extLst>
              <a:ext uri="{FF2B5EF4-FFF2-40B4-BE49-F238E27FC236}">
                <a16:creationId xmlns:a16="http://schemas.microsoft.com/office/drawing/2014/main" id="{A402DB39-3990-DDF1-2E69-FEDAEE1DF837}"/>
              </a:ext>
            </a:extLst>
          </p:cNvPr>
          <p:cNvSpPr txBox="1"/>
          <p:nvPr/>
        </p:nvSpPr>
        <p:spPr>
          <a:xfrm>
            <a:off x="9813031" y="5667222"/>
            <a:ext cx="341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보기</a:t>
            </a:r>
            <a:endParaRPr lang="en-US" sz="1100" dirty="0">
              <a:latin typeface="+mn-ea"/>
            </a:endParaRPr>
          </a:p>
        </p:txBody>
      </p:sp>
      <p:sp>
        <p:nvSpPr>
          <p:cNvPr id="172" name="Shape 78">
            <a:extLst>
              <a:ext uri="{FF2B5EF4-FFF2-40B4-BE49-F238E27FC236}">
                <a16:creationId xmlns:a16="http://schemas.microsoft.com/office/drawing/2014/main" id="{5458F67A-F28D-E1DD-B355-EABAE362CEAF}"/>
              </a:ext>
            </a:extLst>
          </p:cNvPr>
          <p:cNvSpPr/>
          <p:nvPr/>
        </p:nvSpPr>
        <p:spPr>
          <a:xfrm>
            <a:off x="5104176" y="3609822"/>
            <a:ext cx="528693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73" name="Shape 79">
            <a:extLst>
              <a:ext uri="{FF2B5EF4-FFF2-40B4-BE49-F238E27FC236}">
                <a16:creationId xmlns:a16="http://schemas.microsoft.com/office/drawing/2014/main" id="{67813B0E-32C0-B7CB-CE04-C52AA50C8853}"/>
              </a:ext>
            </a:extLst>
          </p:cNvPr>
          <p:cNvSpPr/>
          <p:nvPr/>
        </p:nvSpPr>
        <p:spPr>
          <a:xfrm>
            <a:off x="5332776" y="3190112"/>
            <a:ext cx="215793" cy="2286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75" name="Shape 80">
            <a:extLst>
              <a:ext uri="{FF2B5EF4-FFF2-40B4-BE49-F238E27FC236}">
                <a16:creationId xmlns:a16="http://schemas.microsoft.com/office/drawing/2014/main" id="{FF1B98E8-D354-10EB-87F0-DB5B377EE152}"/>
              </a:ext>
            </a:extLst>
          </p:cNvPr>
          <p:cNvSpPr/>
          <p:nvPr/>
        </p:nvSpPr>
        <p:spPr>
          <a:xfrm>
            <a:off x="5751571" y="3152622"/>
            <a:ext cx="287437" cy="30449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76" name="Text 81">
            <a:extLst>
              <a:ext uri="{FF2B5EF4-FFF2-40B4-BE49-F238E27FC236}">
                <a16:creationId xmlns:a16="http://schemas.microsoft.com/office/drawing/2014/main" id="{A6D4C264-234C-55B5-F454-EB87F9B9C6E7}"/>
              </a:ext>
            </a:extLst>
          </p:cNvPr>
          <p:cNvSpPr/>
          <p:nvPr/>
        </p:nvSpPr>
        <p:spPr>
          <a:xfrm>
            <a:off x="5713166" y="3152622"/>
            <a:ext cx="35994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K</a:t>
            </a:r>
            <a:endParaRPr lang="en-US" sz="1100" dirty="0">
              <a:latin typeface="+mn-ea"/>
            </a:endParaRPr>
          </a:p>
        </p:txBody>
      </p:sp>
      <p:sp>
        <p:nvSpPr>
          <p:cNvPr id="177" name="Text 82">
            <a:extLst>
              <a:ext uri="{FF2B5EF4-FFF2-40B4-BE49-F238E27FC236}">
                <a16:creationId xmlns:a16="http://schemas.microsoft.com/office/drawing/2014/main" id="{C1CA4276-9508-358C-CBF3-C1ECA59C1D16}"/>
              </a:ext>
            </a:extLst>
          </p:cNvPr>
          <p:cNvSpPr txBox="1"/>
          <p:nvPr/>
        </p:nvSpPr>
        <p:spPr>
          <a:xfrm>
            <a:off x="6132877" y="3114217"/>
            <a:ext cx="1369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김</a:t>
            </a:r>
            <a:r>
              <a:rPr lang="ko-KR" altLang="en-US" sz="8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다나</a:t>
            </a:r>
            <a:endParaRPr lang="en-US" sz="800" dirty="0">
              <a:latin typeface="+mn-ea"/>
            </a:endParaRPr>
          </a:p>
        </p:txBody>
      </p:sp>
      <p:sp>
        <p:nvSpPr>
          <p:cNvPr id="178" name="Text 83">
            <a:extLst>
              <a:ext uri="{FF2B5EF4-FFF2-40B4-BE49-F238E27FC236}">
                <a16:creationId xmlns:a16="http://schemas.microsoft.com/office/drawing/2014/main" id="{3CFFE14E-93FD-FC0B-913C-0426834A0412}"/>
              </a:ext>
            </a:extLst>
          </p:cNvPr>
          <p:cNvSpPr txBox="1"/>
          <p:nvPr/>
        </p:nvSpPr>
        <p:spPr>
          <a:xfrm>
            <a:off x="6132876" y="3266922"/>
            <a:ext cx="15088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dh.kim@univ.ac.kr</a:t>
            </a:r>
            <a:endParaRPr lang="en-US" sz="1100" dirty="0">
              <a:latin typeface="+mn-ea"/>
            </a:endParaRPr>
          </a:p>
        </p:txBody>
      </p:sp>
      <p:sp>
        <p:nvSpPr>
          <p:cNvPr id="179" name="Text 84">
            <a:extLst>
              <a:ext uri="{FF2B5EF4-FFF2-40B4-BE49-F238E27FC236}">
                <a16:creationId xmlns:a16="http://schemas.microsoft.com/office/drawing/2014/main" id="{A8A5C122-601A-2DC5-1055-F0B452604685}"/>
              </a:ext>
            </a:extLst>
          </p:cNvPr>
          <p:cNvSpPr txBox="1"/>
          <p:nvPr/>
        </p:nvSpPr>
        <p:spPr>
          <a:xfrm>
            <a:off x="7801352" y="3209314"/>
            <a:ext cx="791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74</a:t>
            </a:r>
            <a:endParaRPr lang="en-US" sz="1000" dirty="0">
              <a:latin typeface="+mn-ea"/>
            </a:endParaRPr>
          </a:p>
        </p:txBody>
      </p:sp>
      <p:sp>
        <p:nvSpPr>
          <p:cNvPr id="180" name="Text 85">
            <a:extLst>
              <a:ext uri="{FF2B5EF4-FFF2-40B4-BE49-F238E27FC236}">
                <a16:creationId xmlns:a16="http://schemas.microsoft.com/office/drawing/2014/main" id="{C932133E-E1FA-80B5-83DC-248DE68351F7}"/>
              </a:ext>
            </a:extLst>
          </p:cNvPr>
          <p:cNvSpPr txBox="1"/>
          <p:nvPr/>
        </p:nvSpPr>
        <p:spPr>
          <a:xfrm>
            <a:off x="8537443" y="3190112"/>
            <a:ext cx="984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2026. 3. 5.</a:t>
            </a:r>
            <a:endParaRPr lang="en-US" sz="1100" dirty="0">
              <a:latin typeface="+mn-ea"/>
            </a:endParaRPr>
          </a:p>
        </p:txBody>
      </p:sp>
      <p:sp>
        <p:nvSpPr>
          <p:cNvPr id="181" name="Shape 86">
            <a:extLst>
              <a:ext uri="{FF2B5EF4-FFF2-40B4-BE49-F238E27FC236}">
                <a16:creationId xmlns:a16="http://schemas.microsoft.com/office/drawing/2014/main" id="{7232959C-BAE3-8924-5944-A80871A9B567}"/>
              </a:ext>
            </a:extLst>
          </p:cNvPr>
          <p:cNvSpPr/>
          <p:nvPr/>
        </p:nvSpPr>
        <p:spPr>
          <a:xfrm>
            <a:off x="9575287" y="3142563"/>
            <a:ext cx="611127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82" name="Image 22" descr="preencoded.png">
            <a:extLst>
              <a:ext uri="{FF2B5EF4-FFF2-40B4-BE49-F238E27FC236}">
                <a16:creationId xmlns:a16="http://schemas.microsoft.com/office/drawing/2014/main" id="{CAEBB954-91AF-A3F1-D730-90211B8C973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61241" y="3237661"/>
            <a:ext cx="144150" cy="152705"/>
          </a:xfrm>
          <a:prstGeom prst="rect">
            <a:avLst/>
          </a:prstGeom>
        </p:spPr>
      </p:pic>
      <p:sp>
        <p:nvSpPr>
          <p:cNvPr id="183" name="Text 87">
            <a:extLst>
              <a:ext uri="{FF2B5EF4-FFF2-40B4-BE49-F238E27FC236}">
                <a16:creationId xmlns:a16="http://schemas.microsoft.com/office/drawing/2014/main" id="{171545A2-0CCF-DCE5-1DD3-BEB4511C4D4A}"/>
              </a:ext>
            </a:extLst>
          </p:cNvPr>
          <p:cNvSpPr txBox="1"/>
          <p:nvPr/>
        </p:nvSpPr>
        <p:spPr>
          <a:xfrm>
            <a:off x="9813031" y="3190112"/>
            <a:ext cx="341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보기</a:t>
            </a:r>
            <a:endParaRPr lang="en-US" sz="1100" dirty="0">
              <a:latin typeface="+mn-ea"/>
            </a:endParaRP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75E8560B-6940-BF1F-8A79-1018DC39F7B1}"/>
              </a:ext>
            </a:extLst>
          </p:cNvPr>
          <p:cNvGrpSpPr/>
          <p:nvPr/>
        </p:nvGrpSpPr>
        <p:grpSpPr>
          <a:xfrm>
            <a:off x="1578403" y="5839053"/>
            <a:ext cx="236784" cy="242045"/>
            <a:chOff x="218888" y="6407302"/>
            <a:chExt cx="236784" cy="242045"/>
          </a:xfrm>
        </p:grpSpPr>
        <p:sp>
          <p:nvSpPr>
            <p:cNvPr id="185" name="Shape 30">
              <a:extLst>
                <a:ext uri="{FF2B5EF4-FFF2-40B4-BE49-F238E27FC236}">
                  <a16:creationId xmlns:a16="http://schemas.microsoft.com/office/drawing/2014/main" id="{71850159-F4E5-FDE3-94FF-BDB5371FFD76}"/>
                </a:ext>
              </a:extLst>
            </p:cNvPr>
            <p:cNvSpPr/>
            <p:nvPr/>
          </p:nvSpPr>
          <p:spPr>
            <a:xfrm>
              <a:off x="218888" y="6407302"/>
              <a:ext cx="236784" cy="242045"/>
            </a:xfrm>
            <a:prstGeom prst="roundRect">
              <a:avLst>
                <a:gd name="adj" fmla="val 59259"/>
              </a:avLst>
            </a:prstGeom>
            <a:solidFill>
              <a:srgbClr val="ECFEFF"/>
            </a:solidFill>
            <a:ln/>
          </p:spPr>
          <p:txBody>
            <a:bodyPr/>
            <a:lstStyle/>
            <a:p>
              <a:endParaRPr lang="ko-KR" altLang="en-US" sz="1462" dirty="0">
                <a:latin typeface="+mn-ea"/>
              </a:endParaRPr>
            </a:p>
          </p:txBody>
        </p:sp>
        <p:pic>
          <p:nvPicPr>
            <p:cNvPr id="186" name="Image 6" descr="preencoded.png">
              <a:extLst>
                <a:ext uri="{FF2B5EF4-FFF2-40B4-BE49-F238E27FC236}">
                  <a16:creationId xmlns:a16="http://schemas.microsoft.com/office/drawing/2014/main" id="{7E9DE2D1-97C4-60B0-87A0-E6BE34C23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271330" y="6465006"/>
              <a:ext cx="115248" cy="115248"/>
            </a:xfrm>
            <a:prstGeom prst="rect">
              <a:avLst/>
            </a:prstGeom>
          </p:spPr>
        </p:pic>
      </p:grpSp>
      <p:sp>
        <p:nvSpPr>
          <p:cNvPr id="187" name="Text 70">
            <a:extLst>
              <a:ext uri="{FF2B5EF4-FFF2-40B4-BE49-F238E27FC236}">
                <a16:creationId xmlns:a16="http://schemas.microsoft.com/office/drawing/2014/main" id="{3F26AEB8-5971-9DE7-08DB-E9C6FEA0EA22}"/>
              </a:ext>
            </a:extLst>
          </p:cNvPr>
          <p:cNvSpPr txBox="1"/>
          <p:nvPr/>
        </p:nvSpPr>
        <p:spPr>
          <a:xfrm>
            <a:off x="5394668" y="4456893"/>
            <a:ext cx="1441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CA3AF"/>
                </a:solidFill>
                <a:latin typeface="+mn-ea"/>
              </a:rPr>
              <a:t>3</a:t>
            </a:r>
            <a:endParaRPr lang="en-US" sz="800" dirty="0">
              <a:latin typeface="+mn-ea"/>
            </a:endParaRPr>
          </a:p>
        </p:txBody>
      </p:sp>
      <p:sp>
        <p:nvSpPr>
          <p:cNvPr id="188" name="Text 70">
            <a:extLst>
              <a:ext uri="{FF2B5EF4-FFF2-40B4-BE49-F238E27FC236}">
                <a16:creationId xmlns:a16="http://schemas.microsoft.com/office/drawing/2014/main" id="{8F393387-6360-AA2E-18DB-617404EE08BF}"/>
              </a:ext>
            </a:extLst>
          </p:cNvPr>
          <p:cNvSpPr txBox="1"/>
          <p:nvPr/>
        </p:nvSpPr>
        <p:spPr>
          <a:xfrm>
            <a:off x="5374839" y="3865168"/>
            <a:ext cx="1441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9" name="Text 70">
            <a:extLst>
              <a:ext uri="{FF2B5EF4-FFF2-40B4-BE49-F238E27FC236}">
                <a16:creationId xmlns:a16="http://schemas.microsoft.com/office/drawing/2014/main" id="{80420B2B-BC21-1587-7056-105FE05CA94F}"/>
              </a:ext>
            </a:extLst>
          </p:cNvPr>
          <p:cNvSpPr txBox="1"/>
          <p:nvPr/>
        </p:nvSpPr>
        <p:spPr>
          <a:xfrm>
            <a:off x="5374839" y="3227603"/>
            <a:ext cx="1441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000"/>
                </a:solidFill>
                <a:latin typeface="+mn-ea"/>
              </a:rPr>
              <a:t>1</a:t>
            </a:r>
            <a:endParaRPr lang="en-US" sz="800" dirty="0">
              <a:solidFill>
                <a:srgbClr val="FFC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4329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4" y="1"/>
            <a:ext cx="10696412" cy="7562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18289" y="-1050736"/>
            <a:ext cx="5014069" cy="6302400"/>
          </a:xfrm>
          <a:prstGeom prst="ellipse">
            <a:avLst/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-1253918" y="3886312"/>
            <a:ext cx="4178123" cy="5251664"/>
          </a:xfrm>
          <a:prstGeom prst="ellips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796204" y="4220090"/>
            <a:ext cx="2976427" cy="2404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0" b="1" kern="0" spc="-1125" dirty="0">
                <a:solidFill>
                  <a:srgbClr val="1E293B">
                    <a:alpha val="50000"/>
                  </a:srgbClr>
                </a:solidFill>
                <a:latin typeface="+mn-ea"/>
                <a:cs typeface="Noto Sans KR" pitchFamily="34" charset="-120"/>
              </a:rPr>
              <a:t>06</a:t>
            </a:r>
            <a:endParaRPr lang="en-US" sz="18000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35103" y="504195"/>
            <a:ext cx="9727293" cy="25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24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GrowFit </a:t>
            </a:r>
            <a:r>
              <a:rPr lang="en-US" sz="1100" kern="0" spc="24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en-US" sz="1100" kern="0" spc="24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AI 실습 </a:t>
            </a:r>
            <a:r>
              <a:rPr lang="en-US" sz="1100" kern="0" spc="24" dirty="0" err="1">
                <a:solidFill>
                  <a:srgbClr val="94A3B8"/>
                </a:solidFill>
                <a:latin typeface="+mn-ea"/>
                <a:cs typeface="Noto Sans KR" pitchFamily="34" charset="-120"/>
              </a:rPr>
              <a:t>플랫폼</a:t>
            </a:r>
            <a:r>
              <a:rPr lang="en-US" sz="1100" kern="0" spc="24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100" kern="0" spc="24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강사</a:t>
            </a:r>
            <a:r>
              <a:rPr lang="en-US" sz="1100" kern="0" spc="24" dirty="0" err="1">
                <a:solidFill>
                  <a:srgbClr val="94A3B8"/>
                </a:solidFill>
                <a:latin typeface="+mn-ea"/>
                <a:cs typeface="Noto Sans KR" pitchFamily="34" charset="-120"/>
              </a:rPr>
              <a:t>매뉴얼</a:t>
            </a:r>
            <a:endParaRPr lang="en-US" sz="1100" dirty="0">
              <a:latin typeface="+mn-e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35103" y="1678967"/>
            <a:ext cx="9727293" cy="44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kern="0" spc="105" dirty="0">
                <a:solidFill>
                  <a:srgbClr val="818CF8"/>
                </a:solidFill>
                <a:latin typeface="+mn-ea"/>
                <a:cs typeface="Noto Sans KR" pitchFamily="34" charset="-120"/>
              </a:rPr>
              <a:t>PART 06</a:t>
            </a:r>
            <a:endParaRPr lang="en-US" sz="2100" dirty="0">
              <a:latin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35106" y="2245679"/>
            <a:ext cx="9777835" cy="141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kern="0" spc="-84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학습 자료 &amp;</a:t>
            </a:r>
            <a:endParaRPr lang="en-US" sz="4800" dirty="0">
              <a:latin typeface="+mn-ea"/>
            </a:endParaRPr>
          </a:p>
          <a:p>
            <a:r>
              <a:rPr lang="en-US" sz="4800" b="1" kern="0" spc="-84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교육 콘텐츠</a:t>
            </a:r>
            <a:endParaRPr lang="en-US" sz="4800" dirty="0">
              <a:latin typeface="+mn-ea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535103" y="3909508"/>
            <a:ext cx="501407" cy="423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5107" y="6386096"/>
            <a:ext cx="9627013" cy="10084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535102" y="6606934"/>
            <a:ext cx="1278789" cy="210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BCT ONE Inc.</a:t>
            </a:r>
            <a:endParaRPr lang="en-US" sz="900" dirty="0">
              <a:latin typeface="+mn-ea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535105" y="6853991"/>
            <a:ext cx="1442447" cy="210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Learn · Connect · Apply</a:t>
            </a:r>
            <a:endParaRPr lang="en-US" sz="900" dirty="0">
              <a:latin typeface="+mn-ea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9605352" y="6853991"/>
            <a:ext cx="666671" cy="210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Version 2.0</a:t>
            </a:r>
            <a:endParaRPr lang="en-US" sz="900" dirty="0">
              <a:latin typeface="+mn-ea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535105" y="4287649"/>
            <a:ext cx="9702425" cy="7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"</a:t>
            </a:r>
            <a:r>
              <a:rPr lang="en-US" dirty="0" err="1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프롬프트</a:t>
            </a:r>
            <a:r>
              <a:rPr lang="en-US" altLang="ko-KR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· Few-shot · </a:t>
            </a:r>
            <a:r>
              <a:rPr lang="en-US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MCP · </a:t>
            </a:r>
            <a:r>
              <a:rPr lang="en-US" dirty="0" err="1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에이전트</a:t>
            </a:r>
            <a:r>
              <a:rPr lang="en-US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빌더를 활용해</a:t>
            </a:r>
            <a:endParaRPr lang="en-US" dirty="0">
              <a:latin typeface="+mn-ea"/>
            </a:endParaRPr>
          </a:p>
          <a:p>
            <a:r>
              <a:rPr lang="en-US" dirty="0">
                <a:solidFill>
                  <a:srgbClr val="E2E8F0">
                    <a:alpha val="90000"/>
                  </a:srgbClr>
                </a:solidFill>
                <a:latin typeface="+mn-ea"/>
                <a:cs typeface="Noto Sans KR" pitchFamily="34" charset="-120"/>
              </a:rPr>
              <a:t> 수업 자료를 구축합니다." </a:t>
            </a:r>
            <a:endParaRPr lang="en-US" dirty="0">
              <a:latin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>
            <a:extLst>
              <a:ext uri="{FF2B5EF4-FFF2-40B4-BE49-F238E27FC236}">
                <a16:creationId xmlns:a16="http://schemas.microsoft.com/office/drawing/2014/main" id="{5E4D4CA0-9C6A-FB37-B4E7-782327433149}"/>
              </a:ext>
            </a:extLst>
          </p:cNvPr>
          <p:cNvSpPr txBox="1"/>
          <p:nvPr/>
        </p:nvSpPr>
        <p:spPr>
          <a:xfrm>
            <a:off x="6358488" y="523531"/>
            <a:ext cx="3902785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프롬프트 공유</a:t>
            </a:r>
            <a:endParaRPr lang="en-US" altLang="ko-KR" sz="1401" dirty="0">
              <a:latin typeface="+mn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9BD6427-8746-2D83-21C7-1639A073FF42}"/>
              </a:ext>
            </a:extLst>
          </p:cNvPr>
          <p:cNvSpPr/>
          <p:nvPr/>
        </p:nvSpPr>
        <p:spPr>
          <a:xfrm>
            <a:off x="362982" y="1060895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38C6B-831A-8661-2C5F-85E34FE63232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sp>
        <p:nvSpPr>
          <p:cNvPr id="5" name="Shape 58">
            <a:extLst>
              <a:ext uri="{FF2B5EF4-FFF2-40B4-BE49-F238E27FC236}">
                <a16:creationId xmlns:a16="http://schemas.microsoft.com/office/drawing/2014/main" id="{06004E30-7E77-D4BF-15C1-02B957E84859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6" name="Text 59">
            <a:extLst>
              <a:ext uri="{FF2B5EF4-FFF2-40B4-BE49-F238E27FC236}">
                <a16:creationId xmlns:a16="http://schemas.microsoft.com/office/drawing/2014/main" id="{240D86F5-2E35-4504-A8DF-D9C62DEA193F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+mn-ea"/>
              </a:rPr>
              <a:t>24</a:t>
            </a:r>
            <a:endParaRPr lang="en-US" sz="1000" dirty="0">
              <a:latin typeface="+mn-ea"/>
            </a:endParaRPr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AD0FD8F2-29DA-9DEF-A2DA-066D45DEA4AC}"/>
              </a:ext>
            </a:extLst>
          </p:cNvPr>
          <p:cNvSpPr/>
          <p:nvPr/>
        </p:nvSpPr>
        <p:spPr>
          <a:xfrm>
            <a:off x="569403" y="1744174"/>
            <a:ext cx="762015" cy="38421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A3975-7CF8-5FDE-8B71-2CD7B2690877}"/>
              </a:ext>
            </a:extLst>
          </p:cNvPr>
          <p:cNvSpPr txBox="1"/>
          <p:nvPr/>
        </p:nvSpPr>
        <p:spPr>
          <a:xfrm>
            <a:off x="552592" y="1252652"/>
            <a:ext cx="535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2000" b="1" dirty="0" err="1">
                <a:latin typeface="+mn-ea"/>
                <a:cs typeface="Noto Sans KR" pitchFamily="34" charset="-120"/>
              </a:rPr>
              <a:t>학습</a:t>
            </a:r>
            <a:r>
              <a:rPr lang="en-US" altLang="ko-KR" sz="2000" b="1" dirty="0">
                <a:latin typeface="+mn-ea"/>
                <a:cs typeface="Noto Sans KR" pitchFamily="34" charset="-120"/>
              </a:rPr>
              <a:t> </a:t>
            </a:r>
            <a:r>
              <a:rPr lang="en-US" altLang="ko-KR" sz="2000" b="1" dirty="0" err="1">
                <a:latin typeface="+mn-ea"/>
                <a:cs typeface="Noto Sans KR" pitchFamily="34" charset="-120"/>
              </a:rPr>
              <a:t>자료</a:t>
            </a:r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b="1" dirty="0" err="1">
                <a:latin typeface="+mn-ea"/>
                <a:cs typeface="Noto Sans KR" pitchFamily="34" charset="-120"/>
              </a:rPr>
              <a:t>프롬프트</a:t>
            </a:r>
            <a:r>
              <a:rPr lang="en-US" altLang="ko-KR" sz="2000" b="1" dirty="0">
                <a:latin typeface="+mn-ea"/>
                <a:cs typeface="Noto Sans KR" pitchFamily="34" charset="-120"/>
              </a:rPr>
              <a:t> </a:t>
            </a:r>
            <a:r>
              <a:rPr lang="en-US" altLang="ko-KR" sz="2000" b="1" dirty="0" err="1">
                <a:latin typeface="+mn-ea"/>
                <a:cs typeface="Noto Sans KR" pitchFamily="34" charset="-120"/>
              </a:rPr>
              <a:t>템플릿</a:t>
            </a:r>
            <a:r>
              <a:rPr lang="en-US" altLang="ko-KR" sz="2000" b="1" dirty="0">
                <a:latin typeface="+mn-ea"/>
                <a:cs typeface="Noto Sans KR" pitchFamily="34" charset="-120"/>
              </a:rPr>
              <a:t> </a:t>
            </a:r>
            <a:r>
              <a:rPr lang="en-US" altLang="ko-KR" sz="2000" b="1" dirty="0" err="1">
                <a:latin typeface="+mn-ea"/>
                <a:cs typeface="Noto Sans KR" pitchFamily="34" charset="-120"/>
              </a:rPr>
              <a:t>공유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8650C-25F3-06CB-4916-7C9B32206E8C}"/>
              </a:ext>
            </a:extLst>
          </p:cNvPr>
          <p:cNvSpPr txBox="1"/>
          <p:nvPr/>
        </p:nvSpPr>
        <p:spPr>
          <a:xfrm>
            <a:off x="552591" y="1874405"/>
            <a:ext cx="87567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과제나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실습에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필요한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공통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프롬프트를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템플릿으로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제작하고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,</a:t>
            </a:r>
            <a:endParaRPr lang="en-US" altLang="ko-KR" sz="1100" dirty="0">
              <a:latin typeface="+mn-ea"/>
            </a:endParaRPr>
          </a:p>
          <a:p>
            <a:pPr marL="0" indent="0" algn="l">
              <a:buNone/>
            </a:pP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특정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강의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수강생들에게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손쉽게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배포하세요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. 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8E8D47D8-AC93-56D2-E349-023F1B386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8665" y="2847656"/>
            <a:ext cx="418453" cy="418453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9A31ACB3-E525-C743-BC64-25BDE60CB3C7}"/>
              </a:ext>
            </a:extLst>
          </p:cNvPr>
          <p:cNvSpPr txBox="1"/>
          <p:nvPr/>
        </p:nvSpPr>
        <p:spPr>
          <a:xfrm>
            <a:off x="569403" y="2847656"/>
            <a:ext cx="4864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1</a:t>
            </a:r>
            <a:endParaRPr lang="en-US" sz="1000" dirty="0">
              <a:latin typeface="+mn-ea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EB138D3F-5ACC-251F-C863-E190FFE0B9E0}"/>
              </a:ext>
            </a:extLst>
          </p:cNvPr>
          <p:cNvSpPr txBox="1"/>
          <p:nvPr/>
        </p:nvSpPr>
        <p:spPr>
          <a:xfrm>
            <a:off x="1085127" y="2897184"/>
            <a:ext cx="3715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목록 탭 전환</a:t>
            </a:r>
            <a:endParaRPr lang="en-US" sz="1050" dirty="0">
              <a:latin typeface="+mn-ea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0CE5224-1E46-06EF-4B2B-7E6412A5BD4B}"/>
              </a:ext>
            </a:extLst>
          </p:cNvPr>
          <p:cNvSpPr txBox="1"/>
          <p:nvPr/>
        </p:nvSpPr>
        <p:spPr>
          <a:xfrm>
            <a:off x="1114388" y="3107394"/>
            <a:ext cx="4069186" cy="31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프롬프트 템플릿과 Few-shot 예시 목록을 탭으로 전환하여 관리할 수 있습니다.</a:t>
            </a:r>
            <a:endParaRPr lang="en-US" sz="900" dirty="0">
              <a:latin typeface="+mn-ea"/>
            </a:endParaRPr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08348E52-0F8D-15C7-522E-74F3F5031B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8665" y="3600208"/>
            <a:ext cx="418453" cy="418453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DEBFDA0D-942E-6721-1B55-FE5C2EF05A12}"/>
              </a:ext>
            </a:extLst>
          </p:cNvPr>
          <p:cNvSpPr txBox="1"/>
          <p:nvPr/>
        </p:nvSpPr>
        <p:spPr>
          <a:xfrm>
            <a:off x="569403" y="3600208"/>
            <a:ext cx="4864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2</a:t>
            </a:r>
            <a:endParaRPr lang="en-US" sz="1000" dirty="0">
              <a:latin typeface="+mn-ea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B4D14783-7246-0451-0CFB-2226AB646A56}"/>
              </a:ext>
            </a:extLst>
          </p:cNvPr>
          <p:cNvSpPr txBox="1"/>
          <p:nvPr/>
        </p:nvSpPr>
        <p:spPr>
          <a:xfrm>
            <a:off x="1085127" y="3649736"/>
            <a:ext cx="3629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템플릿 작성 및 설정</a:t>
            </a:r>
            <a:endParaRPr lang="en-US" sz="1000" dirty="0">
              <a:latin typeface="+mn-ea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14DE872-AB60-3CC5-6788-30A750BDDE28}"/>
              </a:ext>
            </a:extLst>
          </p:cNvPr>
          <p:cNvSpPr txBox="1"/>
          <p:nvPr/>
        </p:nvSpPr>
        <p:spPr>
          <a:xfrm>
            <a:off x="1068313" y="3924279"/>
            <a:ext cx="4709995" cy="164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이름, 설명, 그리고 </a:t>
            </a:r>
            <a:r>
              <a:rPr lang="en-US" sz="900" b="1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변수([변수명])</a:t>
            </a: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를 포함한 프롬프트 본문을 작성합니다.</a:t>
            </a:r>
            <a:endParaRPr lang="en-US" sz="900" dirty="0">
              <a:latin typeface="+mn-ea"/>
            </a:endParaRPr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60A1DB61-43A4-C8DF-3A89-AFE0EACD41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8665" y="4351503"/>
            <a:ext cx="418453" cy="418453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6247B502-FD81-1481-76CE-4B1DB46ABFCE}"/>
              </a:ext>
            </a:extLst>
          </p:cNvPr>
          <p:cNvSpPr txBox="1"/>
          <p:nvPr/>
        </p:nvSpPr>
        <p:spPr>
          <a:xfrm>
            <a:off x="569403" y="4351503"/>
            <a:ext cx="4864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3</a:t>
            </a:r>
            <a:endParaRPr lang="en-US" sz="1000" dirty="0">
              <a:latin typeface="+mn-ea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A29B9ECD-37C6-7507-4FBA-422327A1D30E}"/>
              </a:ext>
            </a:extLst>
          </p:cNvPr>
          <p:cNvSpPr txBox="1"/>
          <p:nvPr/>
        </p:nvSpPr>
        <p:spPr>
          <a:xfrm>
            <a:off x="1085127" y="4401031"/>
            <a:ext cx="3715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공유 대상 강의 선택</a:t>
            </a:r>
            <a:endParaRPr lang="en-US" sz="1050" dirty="0">
              <a:latin typeface="+mn-ea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573CF7F5-0D85-977A-0D1D-D50F53A3A9F2}"/>
              </a:ext>
            </a:extLst>
          </p:cNvPr>
          <p:cNvSpPr txBox="1"/>
          <p:nvPr/>
        </p:nvSpPr>
        <p:spPr>
          <a:xfrm>
            <a:off x="1085126" y="4629632"/>
            <a:ext cx="4098447" cy="31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체크박스로 강의를 선택하면, 해당 강의의 학생들에게 템플릿이 즉시 노출됩니다.</a:t>
            </a:r>
            <a:endParaRPr lang="en-US" sz="900" dirty="0">
              <a:latin typeface="+mn-ea"/>
            </a:endParaRPr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D4109F71-37DC-742B-C56E-107F5464CB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8665" y="5104054"/>
            <a:ext cx="418453" cy="418453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9127D351-D097-C513-CB00-8360E262C358}"/>
              </a:ext>
            </a:extLst>
          </p:cNvPr>
          <p:cNvSpPr txBox="1"/>
          <p:nvPr/>
        </p:nvSpPr>
        <p:spPr>
          <a:xfrm>
            <a:off x="569403" y="5104054"/>
            <a:ext cx="4864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4</a:t>
            </a:r>
            <a:endParaRPr lang="en-US" sz="1000" dirty="0">
              <a:latin typeface="+mn-ea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EB502FA8-4EDF-00A5-DADE-AFE1820CCD26}"/>
              </a:ext>
            </a:extLst>
          </p:cNvPr>
          <p:cNvSpPr txBox="1"/>
          <p:nvPr/>
        </p:nvSpPr>
        <p:spPr>
          <a:xfrm>
            <a:off x="1085127" y="5153582"/>
            <a:ext cx="3495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카드 관리 액션</a:t>
            </a:r>
            <a:endParaRPr lang="en-US" sz="1050" dirty="0">
              <a:latin typeface="+mn-ea"/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71DBD44F-6DA9-DC55-1ED9-80AF3CED162F}"/>
              </a:ext>
            </a:extLst>
          </p:cNvPr>
          <p:cNvSpPr txBox="1"/>
          <p:nvPr/>
        </p:nvSpPr>
        <p:spPr>
          <a:xfrm>
            <a:off x="1068313" y="5428125"/>
            <a:ext cx="4408973" cy="164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작성된 템플릿은 카드로 관리되며 복제, 수정, 삭제 기능을 제공합니다.</a:t>
            </a:r>
            <a:endParaRPr lang="en-US" sz="900" dirty="0">
              <a:latin typeface="+mn-ea"/>
            </a:endParaRPr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EB8B3F91-3484-D2D7-EF10-F976E262392D}"/>
              </a:ext>
            </a:extLst>
          </p:cNvPr>
          <p:cNvSpPr/>
          <p:nvPr/>
        </p:nvSpPr>
        <p:spPr>
          <a:xfrm>
            <a:off x="5546704" y="1753270"/>
            <a:ext cx="1139385" cy="276149"/>
          </a:xfrm>
          <a:prstGeom prst="roundRect">
            <a:avLst>
              <a:gd name="adj" fmla="val 137017"/>
            </a:avLst>
          </a:prstGeom>
          <a:solidFill>
            <a:srgbClr val="EFF6FF">
              <a:alpha val="30000"/>
            </a:srgbClr>
          </a:solidFill>
          <a:ln w="12699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CFA20E3-2052-BAB9-0484-95410CAA2B2C}"/>
              </a:ext>
            </a:extLst>
          </p:cNvPr>
          <p:cNvSpPr txBox="1"/>
          <p:nvPr/>
        </p:nvSpPr>
        <p:spPr>
          <a:xfrm>
            <a:off x="5546704" y="1753270"/>
            <a:ext cx="119542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>
                    <a:alpha val="30000"/>
                  </a:srgbClr>
                </a:solidFill>
                <a:latin typeface="+mn-ea"/>
                <a:cs typeface="Noto Sans KR" pitchFamily="34" charset="-120"/>
              </a:rPr>
              <a:t>프롬프트 템플릿 </a:t>
            </a:r>
            <a:r>
              <a:rPr lang="en-US" sz="800" b="1" dirty="0">
                <a:solidFill>
                  <a:srgbClr val="1D4ED8">
                    <a:alpha val="30000"/>
                  </a:srgbClr>
                </a:solidFill>
                <a:latin typeface="+mn-ea"/>
                <a:cs typeface="Noto Sans KR" pitchFamily="34" charset="-120"/>
              </a:rPr>
              <a:t>3</a:t>
            </a:r>
            <a:endParaRPr lang="en-US" sz="800" dirty="0">
              <a:latin typeface="+mn-ea"/>
            </a:endParaRP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7B32E6B7-76B3-763E-9611-973BF7B7D290}"/>
              </a:ext>
            </a:extLst>
          </p:cNvPr>
          <p:cNvSpPr txBox="1"/>
          <p:nvPr/>
        </p:nvSpPr>
        <p:spPr>
          <a:xfrm>
            <a:off x="6859782" y="1753270"/>
            <a:ext cx="121409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>
                    <a:alpha val="30000"/>
                  </a:srgbClr>
                </a:solidFill>
                <a:latin typeface="+mn-ea"/>
                <a:cs typeface="Noto Sans KR" pitchFamily="34" charset="-120"/>
              </a:rPr>
              <a:t>Few-shot 예시 13</a:t>
            </a:r>
            <a:endParaRPr lang="en-US" sz="800" dirty="0">
              <a:latin typeface="+mn-ea"/>
            </a:endParaRPr>
          </a:p>
        </p:txBody>
      </p:sp>
      <p:pic>
        <p:nvPicPr>
          <p:cNvPr id="33" name="Image 6" descr="preencoded.png">
            <a:extLst>
              <a:ext uri="{FF2B5EF4-FFF2-40B4-BE49-F238E27FC236}">
                <a16:creationId xmlns:a16="http://schemas.microsoft.com/office/drawing/2014/main" id="{C0A42DCD-4ED7-49E8-E69C-C1D8A8A14A6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-1" r="-1"/>
          <a:stretch/>
        </p:blipFill>
        <p:spPr>
          <a:xfrm>
            <a:off x="5546704" y="2364089"/>
            <a:ext cx="2281438" cy="1447495"/>
          </a:xfrm>
          <a:prstGeom prst="rect">
            <a:avLst/>
          </a:prstGeom>
        </p:spPr>
      </p:pic>
      <p:pic>
        <p:nvPicPr>
          <p:cNvPr id="34" name="Image 7" descr="preencoded.png">
            <a:extLst>
              <a:ext uri="{FF2B5EF4-FFF2-40B4-BE49-F238E27FC236}">
                <a16:creationId xmlns:a16="http://schemas.microsoft.com/office/drawing/2014/main" id="{351DD363-72A0-79B4-1D32-E41FCC0BE3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-1" r="-1"/>
          <a:stretch/>
        </p:blipFill>
        <p:spPr>
          <a:xfrm>
            <a:off x="8036615" y="2364089"/>
            <a:ext cx="2281438" cy="1447495"/>
          </a:xfrm>
          <a:prstGeom prst="rect">
            <a:avLst/>
          </a:prstGeom>
        </p:spPr>
      </p:pic>
      <p:sp>
        <p:nvSpPr>
          <p:cNvPr id="35" name="Shape 28">
            <a:extLst>
              <a:ext uri="{FF2B5EF4-FFF2-40B4-BE49-F238E27FC236}">
                <a16:creationId xmlns:a16="http://schemas.microsoft.com/office/drawing/2014/main" id="{B4260A0D-6154-1707-A17D-18A5974E238F}"/>
              </a:ext>
            </a:extLst>
          </p:cNvPr>
          <p:cNvSpPr/>
          <p:nvPr/>
        </p:nvSpPr>
        <p:spPr>
          <a:xfrm>
            <a:off x="6460189" y="1807219"/>
            <a:ext cx="138754" cy="161849"/>
          </a:xfrm>
          <a:prstGeom prst="roundRect">
            <a:avLst>
              <a:gd name="adj" fmla="val 641027"/>
            </a:avLst>
          </a:prstGeom>
          <a:solidFill>
            <a:srgbClr val="BFDBFE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DE74F36B-D813-4AC4-0F7F-37232DED3B3B}"/>
              </a:ext>
            </a:extLst>
          </p:cNvPr>
          <p:cNvSpPr/>
          <p:nvPr/>
        </p:nvSpPr>
        <p:spPr>
          <a:xfrm>
            <a:off x="6422699" y="1807219"/>
            <a:ext cx="213468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>
                    <a:alpha val="30000"/>
                  </a:srgbClr>
                </a:solidFill>
                <a:latin typeface="+mn-ea"/>
                <a:cs typeface="Noto Sans KR" pitchFamily="34" charset="-120"/>
              </a:rPr>
              <a:t>3</a:t>
            </a:r>
            <a:endParaRPr lang="en-US" sz="800" dirty="0">
              <a:latin typeface="+mn-ea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849B19E1-A991-5776-F281-29CD7DAF1F2F}"/>
              </a:ext>
            </a:extLst>
          </p:cNvPr>
          <p:cNvSpPr/>
          <p:nvPr/>
        </p:nvSpPr>
        <p:spPr>
          <a:xfrm>
            <a:off x="7740349" y="1798075"/>
            <a:ext cx="194790" cy="161849"/>
          </a:xfrm>
          <a:prstGeom prst="roundRect">
            <a:avLst>
              <a:gd name="adj" fmla="val 564971"/>
            </a:avLst>
          </a:prstGeom>
          <a:solidFill>
            <a:srgbClr val="F3F4F6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CF725460-2B54-BD26-CCE4-4102123BD0F6}"/>
              </a:ext>
            </a:extLst>
          </p:cNvPr>
          <p:cNvSpPr/>
          <p:nvPr/>
        </p:nvSpPr>
        <p:spPr>
          <a:xfrm>
            <a:off x="7701945" y="1798075"/>
            <a:ext cx="26950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>
                    <a:alpha val="30000"/>
                  </a:srgbClr>
                </a:solidFill>
                <a:latin typeface="+mn-ea"/>
                <a:cs typeface="Noto Sans KR" pitchFamily="34" charset="-120"/>
              </a:rPr>
              <a:t>13</a:t>
            </a:r>
            <a:endParaRPr lang="en-US" sz="800" dirty="0">
              <a:latin typeface="+mn-ea"/>
            </a:endParaRPr>
          </a:p>
        </p:txBody>
      </p:sp>
      <p:pic>
        <p:nvPicPr>
          <p:cNvPr id="39" name="Image 8" descr="preencoded.png">
            <a:extLst>
              <a:ext uri="{FF2B5EF4-FFF2-40B4-BE49-F238E27FC236}">
                <a16:creationId xmlns:a16="http://schemas.microsoft.com/office/drawing/2014/main" id="{B4102136-E953-23F8-68D1-5A8897CFF8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5529707" y="1555634"/>
            <a:ext cx="4743435" cy="5275029"/>
          </a:xfrm>
          <a:prstGeom prst="rect">
            <a:avLst/>
          </a:prstGeom>
        </p:spPr>
      </p:pic>
      <p:sp>
        <p:nvSpPr>
          <p:cNvPr id="41" name="Shape 33">
            <a:extLst>
              <a:ext uri="{FF2B5EF4-FFF2-40B4-BE49-F238E27FC236}">
                <a16:creationId xmlns:a16="http://schemas.microsoft.com/office/drawing/2014/main" id="{B2C8722B-8884-E913-4876-6734699E998F}"/>
              </a:ext>
            </a:extLst>
          </p:cNvPr>
          <p:cNvSpPr/>
          <p:nvPr/>
        </p:nvSpPr>
        <p:spPr>
          <a:xfrm>
            <a:off x="5535731" y="2068738"/>
            <a:ext cx="4724757" cy="9144"/>
          </a:xfrm>
          <a:prstGeom prst="roundRect">
            <a:avLst>
              <a:gd name="adj" fmla="val 4528302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42" name="Image 9" descr="preencoded.png">
            <a:extLst>
              <a:ext uri="{FF2B5EF4-FFF2-40B4-BE49-F238E27FC236}">
                <a16:creationId xmlns:a16="http://schemas.microsoft.com/office/drawing/2014/main" id="{944718F3-F8BA-B683-F7CC-AC9E7FE43B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5725926" y="1745040"/>
            <a:ext cx="111181" cy="152705"/>
          </a:xfrm>
          <a:prstGeom prst="rect">
            <a:avLst/>
          </a:prstGeom>
        </p:spPr>
      </p:pic>
      <p:sp>
        <p:nvSpPr>
          <p:cNvPr id="43" name="Text 34">
            <a:extLst>
              <a:ext uri="{FF2B5EF4-FFF2-40B4-BE49-F238E27FC236}">
                <a16:creationId xmlns:a16="http://schemas.microsoft.com/office/drawing/2014/main" id="{3F426F52-F294-7A03-AA00-9913A46D6AD8}"/>
              </a:ext>
            </a:extLst>
          </p:cNvPr>
          <p:cNvSpPr txBox="1"/>
          <p:nvPr/>
        </p:nvSpPr>
        <p:spPr>
          <a:xfrm>
            <a:off x="5917036" y="1725838"/>
            <a:ext cx="11349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새 템플릿 만들기</a:t>
            </a:r>
            <a:endParaRPr lang="en-US" sz="1000" dirty="0">
              <a:latin typeface="+mn-ea"/>
            </a:endParaRPr>
          </a:p>
        </p:txBody>
      </p:sp>
      <p:pic>
        <p:nvPicPr>
          <p:cNvPr id="44" name="Image 10" descr="preencoded.png">
            <a:extLst>
              <a:ext uri="{FF2B5EF4-FFF2-40B4-BE49-F238E27FC236}">
                <a16:creationId xmlns:a16="http://schemas.microsoft.com/office/drawing/2014/main" id="{F5041470-5639-E706-834F-4B295CB787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0088529" y="1745040"/>
            <a:ext cx="111181" cy="152705"/>
          </a:xfrm>
          <a:prstGeom prst="rect">
            <a:avLst/>
          </a:prstGeom>
        </p:spPr>
      </p:pic>
      <p:sp>
        <p:nvSpPr>
          <p:cNvPr id="45" name="Shape 35">
            <a:extLst>
              <a:ext uri="{FF2B5EF4-FFF2-40B4-BE49-F238E27FC236}">
                <a16:creationId xmlns:a16="http://schemas.microsoft.com/office/drawing/2014/main" id="{102ABABB-3625-4FB0-7A6F-EFA0F7F44EAB}"/>
              </a:ext>
            </a:extLst>
          </p:cNvPr>
          <p:cNvSpPr/>
          <p:nvPr/>
        </p:nvSpPr>
        <p:spPr>
          <a:xfrm>
            <a:off x="5535731" y="2077882"/>
            <a:ext cx="4724757" cy="4533595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B734D7BD-5675-03A1-ECBA-C4F42F6DB0A6}"/>
              </a:ext>
            </a:extLst>
          </p:cNvPr>
          <p:cNvSpPr/>
          <p:nvPr/>
        </p:nvSpPr>
        <p:spPr>
          <a:xfrm>
            <a:off x="5725926" y="2459187"/>
            <a:ext cx="4354745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699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FD8416D5-07A0-AA3F-0A58-2D3AD85AAF84}"/>
              </a:ext>
            </a:extLst>
          </p:cNvPr>
          <p:cNvSpPr txBox="1"/>
          <p:nvPr/>
        </p:nvSpPr>
        <p:spPr>
          <a:xfrm>
            <a:off x="5850285" y="2545140"/>
            <a:ext cx="4299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예: 코딩 튜터, 마케팅 전문가</a:t>
            </a:r>
            <a:endParaRPr lang="en-US" sz="800" dirty="0">
              <a:latin typeface="+mn-ea"/>
            </a:endParaRPr>
          </a:p>
        </p:txBody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063A046F-E142-E2AF-B8AD-9DFE1B3010FC}"/>
              </a:ext>
            </a:extLst>
          </p:cNvPr>
          <p:cNvSpPr/>
          <p:nvPr/>
        </p:nvSpPr>
        <p:spPr>
          <a:xfrm>
            <a:off x="5725926" y="3125784"/>
            <a:ext cx="4354745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699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9" name="Text 39">
            <a:extLst>
              <a:ext uri="{FF2B5EF4-FFF2-40B4-BE49-F238E27FC236}">
                <a16:creationId xmlns:a16="http://schemas.microsoft.com/office/drawing/2014/main" id="{50EB4E35-157C-0F97-DCFB-C395005AD4C0}"/>
              </a:ext>
            </a:extLst>
          </p:cNvPr>
          <p:cNvSpPr txBox="1"/>
          <p:nvPr/>
        </p:nvSpPr>
        <p:spPr>
          <a:xfrm>
            <a:off x="5850285" y="3211738"/>
            <a:ext cx="4299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프롬프트가 어떤 일을 하는지 간단히 설명하세요</a:t>
            </a:r>
            <a:endParaRPr lang="en-US" sz="800" dirty="0">
              <a:latin typeface="+mn-ea"/>
            </a:endParaRPr>
          </a:p>
        </p:txBody>
      </p:sp>
      <p:sp>
        <p:nvSpPr>
          <p:cNvPr id="50" name="Text 40">
            <a:extLst>
              <a:ext uri="{FF2B5EF4-FFF2-40B4-BE49-F238E27FC236}">
                <a16:creationId xmlns:a16="http://schemas.microsoft.com/office/drawing/2014/main" id="{A010A6CD-EE81-5AC8-9215-7A43A6078859}"/>
              </a:ext>
            </a:extLst>
          </p:cNvPr>
          <p:cNvSpPr txBox="1"/>
          <p:nvPr/>
        </p:nvSpPr>
        <p:spPr>
          <a:xfrm>
            <a:off x="5725926" y="5049682"/>
            <a:ext cx="4539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예: 당신은 [역할]입니다.</a:t>
            </a:r>
            <a:endParaRPr lang="en-US" sz="1100" dirty="0">
              <a:latin typeface="+mn-ea"/>
            </a:endParaRPr>
          </a:p>
        </p:txBody>
      </p:sp>
      <p:sp>
        <p:nvSpPr>
          <p:cNvPr id="55" name="Shape 45">
            <a:extLst>
              <a:ext uri="{FF2B5EF4-FFF2-40B4-BE49-F238E27FC236}">
                <a16:creationId xmlns:a16="http://schemas.microsoft.com/office/drawing/2014/main" id="{CFC8605A-A091-B8F0-6A07-6323C8BE19EB}"/>
              </a:ext>
            </a:extLst>
          </p:cNvPr>
          <p:cNvSpPr/>
          <p:nvPr/>
        </p:nvSpPr>
        <p:spPr>
          <a:xfrm>
            <a:off x="5702152" y="5674897"/>
            <a:ext cx="4354745" cy="552298"/>
          </a:xfrm>
          <a:prstGeom prst="roundRect">
            <a:avLst>
              <a:gd name="adj" fmla="val 22836"/>
            </a:avLst>
          </a:prstGeom>
          <a:solidFill>
            <a:srgbClr val="F5F3FF"/>
          </a:solidFill>
          <a:ln w="12699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6" name="Shape 46">
            <a:extLst>
              <a:ext uri="{FF2B5EF4-FFF2-40B4-BE49-F238E27FC236}">
                <a16:creationId xmlns:a16="http://schemas.microsoft.com/office/drawing/2014/main" id="{0563CD18-1614-8ECB-EE68-90AEB7F24A01}"/>
              </a:ext>
            </a:extLst>
          </p:cNvPr>
          <p:cNvSpPr/>
          <p:nvPr/>
        </p:nvSpPr>
        <p:spPr>
          <a:xfrm>
            <a:off x="5772134" y="5856120"/>
            <a:ext cx="148538" cy="152705"/>
          </a:xfrm>
          <a:prstGeom prst="roundRect">
            <a:avLst>
              <a:gd name="adj" fmla="val 299401"/>
            </a:avLst>
          </a:prstGeom>
          <a:solidFill>
            <a:srgbClr val="8B5CF6"/>
          </a:solidFill>
          <a:ln w="12699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57" name="Image 11" descr="preencoded.png">
            <a:extLst>
              <a:ext uri="{FF2B5EF4-FFF2-40B4-BE49-F238E27FC236}">
                <a16:creationId xmlns:a16="http://schemas.microsoft.com/office/drawing/2014/main" id="{0D8DE535-868C-7DEF-97A7-A8EDACB7F0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5798164" y="5875151"/>
            <a:ext cx="129859" cy="152705"/>
          </a:xfrm>
          <a:prstGeom prst="rect">
            <a:avLst/>
          </a:prstGeom>
        </p:spPr>
      </p:pic>
      <p:sp>
        <p:nvSpPr>
          <p:cNvPr id="58" name="Text 47">
            <a:extLst>
              <a:ext uri="{FF2B5EF4-FFF2-40B4-BE49-F238E27FC236}">
                <a16:creationId xmlns:a16="http://schemas.microsoft.com/office/drawing/2014/main" id="{C3F2A137-A5D6-7E68-36CB-4B80616B704C}"/>
              </a:ext>
            </a:extLst>
          </p:cNvPr>
          <p:cNvSpPr txBox="1"/>
          <p:nvPr/>
        </p:nvSpPr>
        <p:spPr>
          <a:xfrm>
            <a:off x="6055111" y="5760851"/>
            <a:ext cx="13999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C1D95"/>
                </a:solidFill>
                <a:latin typeface="+mn-ea"/>
                <a:cs typeface="Noto Sans KR" pitchFamily="34" charset="-120"/>
              </a:rPr>
              <a:t>이미지 생성 모델 테스트</a:t>
            </a:r>
            <a:endParaRPr lang="en-US" sz="800" dirty="0">
              <a:latin typeface="+mn-ea"/>
            </a:endParaRPr>
          </a:p>
        </p:txBody>
      </p:sp>
      <p:sp>
        <p:nvSpPr>
          <p:cNvPr id="59" name="Text 48">
            <a:extLst>
              <a:ext uri="{FF2B5EF4-FFF2-40B4-BE49-F238E27FC236}">
                <a16:creationId xmlns:a16="http://schemas.microsoft.com/office/drawing/2014/main" id="{A1CDE6F8-D888-C57D-FDE4-E13D11EBDF55}"/>
              </a:ext>
            </a:extLst>
          </p:cNvPr>
          <p:cNvSpPr txBox="1"/>
          <p:nvPr/>
        </p:nvSpPr>
        <p:spPr>
          <a:xfrm>
            <a:off x="6055111" y="5913556"/>
            <a:ext cx="11954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78BFA"/>
                </a:solidFill>
                <a:latin typeface="+mn-ea"/>
                <a:cs typeface="Noto Sans KR" pitchFamily="34" charset="-120"/>
              </a:rPr>
              <a:t>정원: 20명</a:t>
            </a:r>
            <a:endParaRPr lang="en-US" sz="1100" dirty="0">
              <a:latin typeface="+mn-ea"/>
            </a:endParaRPr>
          </a:p>
        </p:txBody>
      </p:sp>
      <p:sp>
        <p:nvSpPr>
          <p:cNvPr id="60" name="Text 51">
            <a:extLst>
              <a:ext uri="{FF2B5EF4-FFF2-40B4-BE49-F238E27FC236}">
                <a16:creationId xmlns:a16="http://schemas.microsoft.com/office/drawing/2014/main" id="{B444953E-53C0-16F5-E268-B1BCCD22D921}"/>
              </a:ext>
            </a:extLst>
          </p:cNvPr>
          <p:cNvSpPr txBox="1"/>
          <p:nvPr/>
        </p:nvSpPr>
        <p:spPr>
          <a:xfrm>
            <a:off x="6098087" y="6634537"/>
            <a:ext cx="16365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다중모델 테스트 강의 입니다</a:t>
            </a:r>
            <a:endParaRPr lang="en-US" sz="800" dirty="0">
              <a:latin typeface="+mn-ea"/>
            </a:endParaRPr>
          </a:p>
        </p:txBody>
      </p:sp>
      <p:sp>
        <p:nvSpPr>
          <p:cNvPr id="61" name="Shape 53">
            <a:extLst>
              <a:ext uri="{FF2B5EF4-FFF2-40B4-BE49-F238E27FC236}">
                <a16:creationId xmlns:a16="http://schemas.microsoft.com/office/drawing/2014/main" id="{92AA5FDB-C462-A911-5D3F-05DAB71C3D90}"/>
              </a:ext>
            </a:extLst>
          </p:cNvPr>
          <p:cNvSpPr/>
          <p:nvPr/>
        </p:nvSpPr>
        <p:spPr>
          <a:xfrm>
            <a:off x="5554934" y="6253232"/>
            <a:ext cx="4695405" cy="537398"/>
          </a:xfrm>
          <a:prstGeom prst="roundRect">
            <a:avLst>
              <a:gd name="adj" fmla="val 144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2" name="Shape 54">
            <a:extLst>
              <a:ext uri="{FF2B5EF4-FFF2-40B4-BE49-F238E27FC236}">
                <a16:creationId xmlns:a16="http://schemas.microsoft.com/office/drawing/2014/main" id="{5FACEC00-5680-11CF-6177-EC562FEC1284}"/>
              </a:ext>
            </a:extLst>
          </p:cNvPr>
          <p:cNvSpPr/>
          <p:nvPr/>
        </p:nvSpPr>
        <p:spPr>
          <a:xfrm>
            <a:off x="5554933" y="6244088"/>
            <a:ext cx="4724757" cy="9144"/>
          </a:xfrm>
          <a:prstGeom prst="roundRect">
            <a:avLst>
              <a:gd name="adj" fmla="val 4363636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46622C7E-A9DA-1658-765F-5A8017A5F451}"/>
              </a:ext>
            </a:extLst>
          </p:cNvPr>
          <p:cNvSpPr/>
          <p:nvPr/>
        </p:nvSpPr>
        <p:spPr>
          <a:xfrm>
            <a:off x="9105548" y="6434998"/>
            <a:ext cx="453619" cy="285293"/>
          </a:xfrm>
          <a:prstGeom prst="roundRect">
            <a:avLst>
              <a:gd name="adj" fmla="val 85470"/>
            </a:avLst>
          </a:prstGeom>
          <a:noFill/>
          <a:ln w="12699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64" name="Image 12" descr="preencoded.png">
            <a:extLst>
              <a:ext uri="{FF2B5EF4-FFF2-40B4-BE49-F238E27FC236}">
                <a16:creationId xmlns:a16="http://schemas.microsoft.com/office/drawing/2014/main" id="{2E4D418A-6092-B5C3-0A66-F9A748AD575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49" r="-49"/>
          <a:stretch/>
        </p:blipFill>
        <p:spPr>
          <a:xfrm>
            <a:off x="9640472" y="6434998"/>
            <a:ext cx="565690" cy="285293"/>
          </a:xfrm>
          <a:prstGeom prst="rect">
            <a:avLst/>
          </a:prstGeom>
        </p:spPr>
      </p:pic>
      <p:pic>
        <p:nvPicPr>
          <p:cNvPr id="65" name="Image 13" descr="preencoded.png">
            <a:extLst>
              <a:ext uri="{FF2B5EF4-FFF2-40B4-BE49-F238E27FC236}">
                <a16:creationId xmlns:a16="http://schemas.microsoft.com/office/drawing/2014/main" id="{7D8EB842-D864-8FAE-3EFC-6FA940D0D62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9754772" y="6520952"/>
            <a:ext cx="102287" cy="114300"/>
          </a:xfrm>
          <a:prstGeom prst="rect">
            <a:avLst/>
          </a:prstGeom>
        </p:spPr>
      </p:pic>
      <p:sp>
        <p:nvSpPr>
          <p:cNvPr id="66" name="Text 56">
            <a:extLst>
              <a:ext uri="{FF2B5EF4-FFF2-40B4-BE49-F238E27FC236}">
                <a16:creationId xmlns:a16="http://schemas.microsoft.com/office/drawing/2014/main" id="{161097D3-A5F4-560D-750C-676B15E3060B}"/>
              </a:ext>
            </a:extLst>
          </p:cNvPr>
          <p:cNvSpPr txBox="1"/>
          <p:nvPr/>
        </p:nvSpPr>
        <p:spPr>
          <a:xfrm>
            <a:off x="9869072" y="6434998"/>
            <a:ext cx="26950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저장</a:t>
            </a:r>
            <a:endParaRPr lang="en-US" sz="800" dirty="0">
              <a:latin typeface="+mn-ea"/>
            </a:endParaRPr>
          </a:p>
        </p:txBody>
      </p:sp>
      <p:sp>
        <p:nvSpPr>
          <p:cNvPr id="67" name="Text 57">
            <a:extLst>
              <a:ext uri="{FF2B5EF4-FFF2-40B4-BE49-F238E27FC236}">
                <a16:creationId xmlns:a16="http://schemas.microsoft.com/office/drawing/2014/main" id="{6CEBD1FB-1E39-9742-6D5B-85B1A77B8E2C}"/>
              </a:ext>
            </a:extLst>
          </p:cNvPr>
          <p:cNvSpPr txBox="1"/>
          <p:nvPr/>
        </p:nvSpPr>
        <p:spPr>
          <a:xfrm>
            <a:off x="5725926" y="2258933"/>
            <a:ext cx="66708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템플릿 이름</a:t>
            </a:r>
            <a:endParaRPr lang="en-US" sz="800" dirty="0">
              <a:latin typeface="+mn-ea"/>
            </a:endParaRPr>
          </a:p>
        </p:txBody>
      </p:sp>
      <p:sp>
        <p:nvSpPr>
          <p:cNvPr id="68" name="Text 58">
            <a:extLst>
              <a:ext uri="{FF2B5EF4-FFF2-40B4-BE49-F238E27FC236}">
                <a16:creationId xmlns:a16="http://schemas.microsoft.com/office/drawing/2014/main" id="{0E01E55D-EA17-A8BA-6DFA-F68AF1AAE316}"/>
              </a:ext>
            </a:extLst>
          </p:cNvPr>
          <p:cNvSpPr txBox="1"/>
          <p:nvPr/>
        </p:nvSpPr>
        <p:spPr>
          <a:xfrm>
            <a:off x="6315715" y="2258933"/>
            <a:ext cx="13964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+mn-ea"/>
                <a:cs typeface="Noto Sans KR" pitchFamily="34" charset="-120"/>
              </a:rPr>
              <a:t>*</a:t>
            </a:r>
            <a:endParaRPr lang="en-US" sz="800" dirty="0">
              <a:latin typeface="+mn-ea"/>
            </a:endParaRPr>
          </a:p>
        </p:txBody>
      </p:sp>
      <p:sp>
        <p:nvSpPr>
          <p:cNvPr id="69" name="Text 59">
            <a:extLst>
              <a:ext uri="{FF2B5EF4-FFF2-40B4-BE49-F238E27FC236}">
                <a16:creationId xmlns:a16="http://schemas.microsoft.com/office/drawing/2014/main" id="{3417CC62-5646-A8A8-8AF2-5018FFF53906}"/>
              </a:ext>
            </a:extLst>
          </p:cNvPr>
          <p:cNvSpPr txBox="1"/>
          <p:nvPr/>
        </p:nvSpPr>
        <p:spPr>
          <a:xfrm>
            <a:off x="5725926" y="2925531"/>
            <a:ext cx="66441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간단한 설명</a:t>
            </a:r>
            <a:endParaRPr lang="en-US" sz="800" dirty="0">
              <a:latin typeface="+mn-ea"/>
            </a:endParaRPr>
          </a:p>
        </p:txBody>
      </p:sp>
      <p:sp>
        <p:nvSpPr>
          <p:cNvPr id="70" name="Text 60">
            <a:extLst>
              <a:ext uri="{FF2B5EF4-FFF2-40B4-BE49-F238E27FC236}">
                <a16:creationId xmlns:a16="http://schemas.microsoft.com/office/drawing/2014/main" id="{254E1658-98D5-D43F-A3B2-5F3B184F0AFF}"/>
              </a:ext>
            </a:extLst>
          </p:cNvPr>
          <p:cNvSpPr txBox="1"/>
          <p:nvPr/>
        </p:nvSpPr>
        <p:spPr>
          <a:xfrm>
            <a:off x="5725926" y="3593043"/>
            <a:ext cx="9045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프롬프트 템플릿</a:t>
            </a:r>
            <a:endParaRPr lang="en-US" sz="800" dirty="0">
              <a:latin typeface="+mn-ea"/>
            </a:endParaRPr>
          </a:p>
        </p:txBody>
      </p:sp>
      <p:sp>
        <p:nvSpPr>
          <p:cNvPr id="71" name="Text 61">
            <a:extLst>
              <a:ext uri="{FF2B5EF4-FFF2-40B4-BE49-F238E27FC236}">
                <a16:creationId xmlns:a16="http://schemas.microsoft.com/office/drawing/2014/main" id="{C9D0A041-2E96-7209-8E32-60D6EA2190A1}"/>
              </a:ext>
            </a:extLst>
          </p:cNvPr>
          <p:cNvSpPr txBox="1"/>
          <p:nvPr/>
        </p:nvSpPr>
        <p:spPr>
          <a:xfrm>
            <a:off x="6526942" y="3593043"/>
            <a:ext cx="13964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+mn-ea"/>
                <a:cs typeface="Noto Sans KR" pitchFamily="34" charset="-120"/>
              </a:rPr>
              <a:t>*</a:t>
            </a:r>
            <a:endParaRPr lang="en-US" sz="800" dirty="0">
              <a:latin typeface="+mn-ea"/>
            </a:endParaRPr>
          </a:p>
        </p:txBody>
      </p:sp>
      <p:sp>
        <p:nvSpPr>
          <p:cNvPr id="72" name="Text 62">
            <a:extLst>
              <a:ext uri="{FF2B5EF4-FFF2-40B4-BE49-F238E27FC236}">
                <a16:creationId xmlns:a16="http://schemas.microsoft.com/office/drawing/2014/main" id="{40D2FA1D-C35D-F8DA-F85C-F39E3566237D}"/>
              </a:ext>
            </a:extLst>
          </p:cNvPr>
          <p:cNvSpPr txBox="1"/>
          <p:nvPr/>
        </p:nvSpPr>
        <p:spPr>
          <a:xfrm>
            <a:off x="5725926" y="5421843"/>
            <a:ext cx="66441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공유할 강의</a:t>
            </a:r>
            <a:endParaRPr lang="en-US" sz="800" dirty="0">
              <a:latin typeface="+mn-ea"/>
            </a:endParaRPr>
          </a:p>
        </p:txBody>
      </p:sp>
      <p:sp>
        <p:nvSpPr>
          <p:cNvPr id="73" name="Text 63">
            <a:extLst>
              <a:ext uri="{FF2B5EF4-FFF2-40B4-BE49-F238E27FC236}">
                <a16:creationId xmlns:a16="http://schemas.microsoft.com/office/drawing/2014/main" id="{66A8C4F4-069B-078A-AB7A-A2289530DEAC}"/>
              </a:ext>
            </a:extLst>
          </p:cNvPr>
          <p:cNvSpPr txBox="1"/>
          <p:nvPr/>
        </p:nvSpPr>
        <p:spPr>
          <a:xfrm>
            <a:off x="9191503" y="6491691"/>
            <a:ext cx="28729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취소</a:t>
            </a:r>
            <a:endParaRPr lang="en-US" sz="800" dirty="0">
              <a:latin typeface="+mn-ea"/>
            </a:endParaRPr>
          </a:p>
        </p:txBody>
      </p:sp>
      <p:sp>
        <p:nvSpPr>
          <p:cNvPr id="74" name="Shape 64">
            <a:extLst>
              <a:ext uri="{FF2B5EF4-FFF2-40B4-BE49-F238E27FC236}">
                <a16:creationId xmlns:a16="http://schemas.microsoft.com/office/drawing/2014/main" id="{681B2248-7F83-2CA5-CFF8-C0DD7866BA52}"/>
              </a:ext>
            </a:extLst>
          </p:cNvPr>
          <p:cNvSpPr/>
          <p:nvPr/>
        </p:nvSpPr>
        <p:spPr>
          <a:xfrm>
            <a:off x="5725926" y="3792382"/>
            <a:ext cx="4354745" cy="1218895"/>
          </a:xfrm>
          <a:prstGeom prst="roundRect">
            <a:avLst>
              <a:gd name="adj" fmla="val 9377"/>
            </a:avLst>
          </a:prstGeom>
          <a:solidFill>
            <a:srgbClr val="111827"/>
          </a:solidFill>
          <a:ln w="12699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75" name="Text 65">
            <a:extLst>
              <a:ext uri="{FF2B5EF4-FFF2-40B4-BE49-F238E27FC236}">
                <a16:creationId xmlns:a16="http://schemas.microsoft.com/office/drawing/2014/main" id="{D67C45FB-8F2F-FF43-F80C-EB61ECE9DC47}"/>
              </a:ext>
            </a:extLst>
          </p:cNvPr>
          <p:cNvSpPr txBox="1"/>
          <p:nvPr/>
        </p:nvSpPr>
        <p:spPr>
          <a:xfrm>
            <a:off x="5850285" y="3916740"/>
            <a:ext cx="4188419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A5FA"/>
                </a:solidFill>
                <a:latin typeface="+mn-ea"/>
                <a:cs typeface="ui-monospace" pitchFamily="34" charset="-120"/>
              </a:rPr>
              <a:t>당신은</a:t>
            </a:r>
            <a:r>
              <a:rPr lang="en-US" sz="800" dirty="0">
                <a:solidFill>
                  <a:srgbClr val="D1D5DB"/>
                </a:solidFill>
                <a:latin typeface="+mn-ea"/>
                <a:cs typeface="ui-monospace" pitchFamily="34" charset="-120"/>
              </a:rPr>
              <a:t> 노련한 프로젝트 매니저입니다.</a:t>
            </a:r>
            <a:endParaRPr lang="en-US" sz="800" dirty="0">
              <a:latin typeface="+mn-ea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D1D5DB"/>
                </a:solidFill>
                <a:latin typeface="+mn-ea"/>
                <a:cs typeface="ui-monospace" pitchFamily="34" charset="-120"/>
              </a:rPr>
              <a:t> 사용자가 입력한 요구사항을 바탕으로</a:t>
            </a:r>
            <a:endParaRPr lang="en-US" sz="800" dirty="0">
              <a:latin typeface="+mn-ea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FBBF24"/>
                </a:solidFill>
                <a:latin typeface="+mn-ea"/>
                <a:cs typeface="ui-monospace" pitchFamily="34" charset="-120"/>
              </a:rPr>
              <a:t>[프로젝트_개요]</a:t>
            </a:r>
            <a:r>
              <a:rPr lang="en-US" sz="800" dirty="0">
                <a:solidFill>
                  <a:srgbClr val="D1D5DB"/>
                </a:solidFill>
                <a:latin typeface="+mn-ea"/>
                <a:cs typeface="ui-monospace" pitchFamily="34" charset="-120"/>
              </a:rPr>
              <a:t>를 작성해주세요.</a:t>
            </a:r>
            <a:endParaRPr lang="en-US" sz="800" dirty="0">
              <a:latin typeface="+mn-ea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D1D5DB"/>
                </a:solidFill>
                <a:latin typeface="+mn-ea"/>
                <a:cs typeface="ui-monospace" pitchFamily="34" charset="-120"/>
              </a:rPr>
              <a:t> ... </a:t>
            </a:r>
            <a:endParaRPr lang="en-US" sz="800" dirty="0">
              <a:latin typeface="+mn-ea"/>
            </a:endParaRPr>
          </a:p>
        </p:txBody>
      </p:sp>
      <p:sp>
        <p:nvSpPr>
          <p:cNvPr id="76" name="Text 66">
            <a:extLst>
              <a:ext uri="{FF2B5EF4-FFF2-40B4-BE49-F238E27FC236}">
                <a16:creationId xmlns:a16="http://schemas.microsoft.com/office/drawing/2014/main" id="{D187F415-5389-63B5-5E14-33D01963D129}"/>
              </a:ext>
            </a:extLst>
          </p:cNvPr>
          <p:cNvSpPr txBox="1"/>
          <p:nvPr/>
        </p:nvSpPr>
        <p:spPr>
          <a:xfrm>
            <a:off x="8666637" y="4697638"/>
            <a:ext cx="1750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변수는 [변수명] 형태로</a:t>
            </a:r>
            <a:endParaRPr lang="en-US" sz="1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6903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C2BE6-E71A-BB9A-574E-A7693BD2D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>
            <a:extLst>
              <a:ext uri="{FF2B5EF4-FFF2-40B4-BE49-F238E27FC236}">
                <a16:creationId xmlns:a16="http://schemas.microsoft.com/office/drawing/2014/main" id="{D318830C-580C-D536-0931-4416D603B188}"/>
              </a:ext>
            </a:extLst>
          </p:cNvPr>
          <p:cNvSpPr txBox="1"/>
          <p:nvPr/>
        </p:nvSpPr>
        <p:spPr>
          <a:xfrm>
            <a:off x="6358488" y="523531"/>
            <a:ext cx="3902785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프롬프트 공유</a:t>
            </a:r>
            <a:endParaRPr lang="en-US" altLang="ko-KR" sz="1401" dirty="0">
              <a:latin typeface="+mn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AAB64172-D6F9-F10C-35FB-F2335FFC9C88}"/>
              </a:ext>
            </a:extLst>
          </p:cNvPr>
          <p:cNvSpPr/>
          <p:nvPr/>
        </p:nvSpPr>
        <p:spPr>
          <a:xfrm>
            <a:off x="362982" y="1060895"/>
            <a:ext cx="9910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9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6871F-A7F2-028C-994F-31943EE574FA}"/>
              </a:ext>
            </a:extLst>
          </p:cNvPr>
          <p:cNvSpPr txBox="1"/>
          <p:nvPr/>
        </p:nvSpPr>
        <p:spPr>
          <a:xfrm>
            <a:off x="552592" y="386190"/>
            <a:ext cx="4958696" cy="40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1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8" dirty="0">
              <a:latin typeface="+mn-ea"/>
            </a:endParaRPr>
          </a:p>
        </p:txBody>
      </p:sp>
      <p:sp>
        <p:nvSpPr>
          <p:cNvPr id="5" name="Shape 58">
            <a:extLst>
              <a:ext uri="{FF2B5EF4-FFF2-40B4-BE49-F238E27FC236}">
                <a16:creationId xmlns:a16="http://schemas.microsoft.com/office/drawing/2014/main" id="{C0FC1AAA-7E29-CEA1-6229-78054CEFF9D8}"/>
              </a:ext>
            </a:extLst>
          </p:cNvPr>
          <p:cNvSpPr/>
          <p:nvPr/>
        </p:nvSpPr>
        <p:spPr>
          <a:xfrm>
            <a:off x="304624" y="7019042"/>
            <a:ext cx="1008648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6" name="Text 59">
            <a:extLst>
              <a:ext uri="{FF2B5EF4-FFF2-40B4-BE49-F238E27FC236}">
                <a16:creationId xmlns:a16="http://schemas.microsoft.com/office/drawing/2014/main" id="{E4CCBC8A-F5DD-EF67-DDF9-D09AFE19FB32}"/>
              </a:ext>
            </a:extLst>
          </p:cNvPr>
          <p:cNvSpPr txBox="1"/>
          <p:nvPr/>
        </p:nvSpPr>
        <p:spPr>
          <a:xfrm>
            <a:off x="10261273" y="7104996"/>
            <a:ext cx="210306" cy="152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25</a:t>
            </a:r>
            <a:endParaRPr lang="en-US" sz="1000" dirty="0">
              <a:latin typeface="+mn-ea"/>
            </a:endParaRPr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F82F9236-E242-FA1C-40DD-DE70BDA279CE}"/>
              </a:ext>
            </a:extLst>
          </p:cNvPr>
          <p:cNvSpPr/>
          <p:nvPr/>
        </p:nvSpPr>
        <p:spPr>
          <a:xfrm>
            <a:off x="569403" y="1744174"/>
            <a:ext cx="762015" cy="38421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1B14FFCD-B088-D447-B640-8B647F231959}"/>
              </a:ext>
            </a:extLst>
          </p:cNvPr>
          <p:cNvSpPr txBox="1"/>
          <p:nvPr/>
        </p:nvSpPr>
        <p:spPr>
          <a:xfrm>
            <a:off x="643952" y="1067534"/>
            <a:ext cx="408919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 err="1">
                <a:latin typeface="+mn-ea"/>
                <a:cs typeface="Noto Sans KR" pitchFamily="34" charset="-120"/>
              </a:rPr>
              <a:t>학습</a:t>
            </a:r>
            <a:r>
              <a:rPr lang="en-US" sz="2000" b="1" dirty="0">
                <a:latin typeface="+mn-ea"/>
                <a:cs typeface="Noto Sans KR" pitchFamily="34" charset="-120"/>
              </a:rPr>
              <a:t> </a:t>
            </a:r>
            <a:r>
              <a:rPr lang="en-US" sz="2000" b="1" dirty="0" err="1">
                <a:latin typeface="+mn-ea"/>
                <a:cs typeface="Noto Sans KR" pitchFamily="34" charset="-120"/>
              </a:rPr>
              <a:t>자료</a:t>
            </a:r>
            <a:r>
              <a:rPr lang="en-US" sz="2000" b="1" dirty="0">
                <a:latin typeface="+mn-ea"/>
                <a:cs typeface="Noto Sans KR" pitchFamily="34" charset="-120"/>
              </a:rPr>
              <a:t>- Few-shot 예시 공유</a:t>
            </a:r>
            <a:endParaRPr lang="en-US" sz="2000" dirty="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DB0AB9-208E-FFCF-73BC-FEC49C3C0621}"/>
              </a:ext>
            </a:extLst>
          </p:cNvPr>
          <p:cNvSpPr txBox="1"/>
          <p:nvPr/>
        </p:nvSpPr>
        <p:spPr>
          <a:xfrm>
            <a:off x="526878" y="1889964"/>
            <a:ext cx="53502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모델의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답변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일관성과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성능을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높이기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위해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,</a:t>
            </a:r>
            <a:endParaRPr lang="en-US" altLang="ko-KR" sz="1100" dirty="0">
              <a:latin typeface="+mn-ea"/>
            </a:endParaRPr>
          </a:p>
          <a:p>
            <a:pPr marL="0" indent="0" algn="l">
              <a:buNone/>
            </a:pP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입력과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출력의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예시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(Few-shot)을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작성하여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제공하세요</a:t>
            </a:r>
            <a:r>
              <a:rPr lang="en-US" altLang="ko-KR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. 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60" name="Image 1" descr="preencoded.png">
            <a:extLst>
              <a:ext uri="{FF2B5EF4-FFF2-40B4-BE49-F238E27FC236}">
                <a16:creationId xmlns:a16="http://schemas.microsoft.com/office/drawing/2014/main" id="{9ACB4C6C-81BE-666B-6115-DEA53A8C5D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7008" y="2968709"/>
            <a:ext cx="418453" cy="418453"/>
          </a:xfrm>
          <a:prstGeom prst="rect">
            <a:avLst/>
          </a:prstGeom>
        </p:spPr>
      </p:pic>
      <p:sp>
        <p:nvSpPr>
          <p:cNvPr id="61" name="Text 6">
            <a:extLst>
              <a:ext uri="{FF2B5EF4-FFF2-40B4-BE49-F238E27FC236}">
                <a16:creationId xmlns:a16="http://schemas.microsoft.com/office/drawing/2014/main" id="{DA3C8086-5AC8-E60B-A5C8-A65689DEA03D}"/>
              </a:ext>
            </a:extLst>
          </p:cNvPr>
          <p:cNvSpPr txBox="1"/>
          <p:nvPr/>
        </p:nvSpPr>
        <p:spPr>
          <a:xfrm>
            <a:off x="437746" y="2968709"/>
            <a:ext cx="4864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1</a:t>
            </a:r>
            <a:endParaRPr lang="en-US" sz="1000" dirty="0">
              <a:latin typeface="+mn-ea"/>
            </a:endParaRPr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7A4B1DBC-8679-DB71-5836-C591E778EABF}"/>
              </a:ext>
            </a:extLst>
          </p:cNvPr>
          <p:cNvSpPr txBox="1"/>
          <p:nvPr/>
        </p:nvSpPr>
        <p:spPr>
          <a:xfrm>
            <a:off x="1077163" y="2968709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Few-shot 예시 세트 관리</a:t>
            </a:r>
            <a:endParaRPr lang="en-US" sz="1050" dirty="0">
              <a:latin typeface="+mn-ea"/>
            </a:endParaRPr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D38D3E90-BB5A-01B2-7D76-E197AC78DB2B}"/>
              </a:ext>
            </a:extLst>
          </p:cNvPr>
          <p:cNvSpPr txBox="1"/>
          <p:nvPr/>
        </p:nvSpPr>
        <p:spPr>
          <a:xfrm>
            <a:off x="1077163" y="3197309"/>
            <a:ext cx="3729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여러 개의 입출력 예시를 하나의 세트로 묶어 관리할 수 있습니다.</a:t>
            </a:r>
            <a:endParaRPr lang="en-US" sz="900" dirty="0">
              <a:latin typeface="+mn-ea"/>
            </a:endParaRPr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B247E891-55CF-0F01-5514-6F4884A82B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7008" y="3554090"/>
            <a:ext cx="418453" cy="418453"/>
          </a:xfrm>
          <a:prstGeom prst="rect">
            <a:avLst/>
          </a:prstGeom>
        </p:spPr>
      </p:pic>
      <p:sp>
        <p:nvSpPr>
          <p:cNvPr id="65" name="Text 9">
            <a:extLst>
              <a:ext uri="{FF2B5EF4-FFF2-40B4-BE49-F238E27FC236}">
                <a16:creationId xmlns:a16="http://schemas.microsoft.com/office/drawing/2014/main" id="{AD406638-6ECB-8C35-DFF9-631DC3C666F8}"/>
              </a:ext>
            </a:extLst>
          </p:cNvPr>
          <p:cNvSpPr txBox="1"/>
          <p:nvPr/>
        </p:nvSpPr>
        <p:spPr>
          <a:xfrm>
            <a:off x="437746" y="3554090"/>
            <a:ext cx="4864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2</a:t>
            </a:r>
            <a:endParaRPr lang="en-US" sz="1000" dirty="0">
              <a:latin typeface="+mn-ea"/>
            </a:endParaRPr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DD09DF68-8D75-77F0-CE83-A8D824467BAE}"/>
              </a:ext>
            </a:extLst>
          </p:cNvPr>
          <p:cNvSpPr txBox="1"/>
          <p:nvPr/>
        </p:nvSpPr>
        <p:spPr>
          <a:xfrm>
            <a:off x="1077163" y="355409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작성 모달 및 구조</a:t>
            </a:r>
            <a:endParaRPr lang="en-US" sz="1050" dirty="0">
              <a:latin typeface="+mn-ea"/>
            </a:endParaRPr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642EE82E-2131-5150-2E65-05100C6CE69C}"/>
              </a:ext>
            </a:extLst>
          </p:cNvPr>
          <p:cNvSpPr txBox="1"/>
          <p:nvPr/>
        </p:nvSpPr>
        <p:spPr>
          <a:xfrm>
            <a:off x="1077163" y="3782690"/>
            <a:ext cx="37572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'+새로 만들기'를 통해 예시 세트 이름과 입출력 쌍을 작성합니다.</a:t>
            </a:r>
            <a:endParaRPr lang="en-US" sz="900" dirty="0">
              <a:latin typeface="+mn-ea"/>
            </a:endParaRPr>
          </a:p>
        </p:txBody>
      </p:sp>
      <p:pic>
        <p:nvPicPr>
          <p:cNvPr id="68" name="Image 3" descr="preencoded.png">
            <a:extLst>
              <a:ext uri="{FF2B5EF4-FFF2-40B4-BE49-F238E27FC236}">
                <a16:creationId xmlns:a16="http://schemas.microsoft.com/office/drawing/2014/main" id="{475C2735-F74C-6D4A-EF4E-B8B6EB2026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7008" y="4211922"/>
            <a:ext cx="418453" cy="418453"/>
          </a:xfrm>
          <a:prstGeom prst="rect">
            <a:avLst/>
          </a:prstGeom>
        </p:spPr>
      </p:pic>
      <p:sp>
        <p:nvSpPr>
          <p:cNvPr id="69" name="Text 12">
            <a:extLst>
              <a:ext uri="{FF2B5EF4-FFF2-40B4-BE49-F238E27FC236}">
                <a16:creationId xmlns:a16="http://schemas.microsoft.com/office/drawing/2014/main" id="{7F6511C0-E0E2-8244-ECEC-53075BF1210A}"/>
              </a:ext>
            </a:extLst>
          </p:cNvPr>
          <p:cNvSpPr txBox="1"/>
          <p:nvPr/>
        </p:nvSpPr>
        <p:spPr>
          <a:xfrm>
            <a:off x="437746" y="4211922"/>
            <a:ext cx="4864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3</a:t>
            </a:r>
            <a:endParaRPr lang="en-US" sz="1000" dirty="0">
              <a:latin typeface="+mn-ea"/>
            </a:endParaRPr>
          </a:p>
        </p:txBody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A44C6D5C-4285-8B0C-7156-2F70763EF86F}"/>
              </a:ext>
            </a:extLst>
          </p:cNvPr>
          <p:cNvSpPr txBox="1"/>
          <p:nvPr/>
        </p:nvSpPr>
        <p:spPr>
          <a:xfrm>
            <a:off x="1077163" y="4211922"/>
            <a:ext cx="3410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입력/출력 예시 작성</a:t>
            </a:r>
            <a:endParaRPr lang="en-US" sz="1050" dirty="0">
              <a:latin typeface="+mn-ea"/>
            </a:endParaRPr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E7DE8D4B-C8C1-1D2B-31B4-A79E59DDEC6A}"/>
              </a:ext>
            </a:extLst>
          </p:cNvPr>
          <p:cNvSpPr txBox="1"/>
          <p:nvPr/>
        </p:nvSpPr>
        <p:spPr>
          <a:xfrm>
            <a:off x="1077163" y="4421155"/>
            <a:ext cx="39355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사용자 질문(입력)과 AI의 이상적인 답변(출력)을 쌍으로 등록합니다.</a:t>
            </a:r>
            <a:endParaRPr lang="en-US" sz="900" dirty="0">
              <a:latin typeface="+mn-ea"/>
            </a:endParaRPr>
          </a:p>
        </p:txBody>
      </p:sp>
      <p:pic>
        <p:nvPicPr>
          <p:cNvPr id="72" name="Image 4" descr="preencoded.png">
            <a:extLst>
              <a:ext uri="{FF2B5EF4-FFF2-40B4-BE49-F238E27FC236}">
                <a16:creationId xmlns:a16="http://schemas.microsoft.com/office/drawing/2014/main" id="{F2F5AC46-3370-DFB1-84B9-C950FA7652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7008" y="4846256"/>
            <a:ext cx="418453" cy="418453"/>
          </a:xfrm>
          <a:prstGeom prst="rect">
            <a:avLst/>
          </a:prstGeom>
        </p:spPr>
      </p:pic>
      <p:sp>
        <p:nvSpPr>
          <p:cNvPr id="73" name="Text 15">
            <a:extLst>
              <a:ext uri="{FF2B5EF4-FFF2-40B4-BE49-F238E27FC236}">
                <a16:creationId xmlns:a16="http://schemas.microsoft.com/office/drawing/2014/main" id="{282D1068-966E-7FA0-0DB6-86A7AA6DA7E0}"/>
              </a:ext>
            </a:extLst>
          </p:cNvPr>
          <p:cNvSpPr txBox="1"/>
          <p:nvPr/>
        </p:nvSpPr>
        <p:spPr>
          <a:xfrm>
            <a:off x="437746" y="4846256"/>
            <a:ext cx="4864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4</a:t>
            </a:r>
            <a:endParaRPr lang="en-US" sz="1000" dirty="0">
              <a:latin typeface="+mn-ea"/>
            </a:endParaRPr>
          </a:p>
        </p:txBody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D75026DD-79E0-26EA-8A0F-360412EA8AD9}"/>
              </a:ext>
            </a:extLst>
          </p:cNvPr>
          <p:cNvSpPr txBox="1"/>
          <p:nvPr/>
        </p:nvSpPr>
        <p:spPr>
          <a:xfrm>
            <a:off x="1077163" y="4846256"/>
            <a:ext cx="3715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공유 대상 강의 선택</a:t>
            </a:r>
            <a:endParaRPr lang="en-US" sz="1050" dirty="0">
              <a:latin typeface="+mn-ea"/>
            </a:endParaRPr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53E23668-6FEA-38C4-9F0E-80A101865C81}"/>
              </a:ext>
            </a:extLst>
          </p:cNvPr>
          <p:cNvSpPr txBox="1"/>
          <p:nvPr/>
        </p:nvSpPr>
        <p:spPr>
          <a:xfrm>
            <a:off x="1077163" y="5055489"/>
            <a:ext cx="4141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체크박스로 강의를 선택하면 해당 수강생에게 데모 학습용으로 배포됩니다.</a:t>
            </a:r>
            <a:endParaRPr lang="en-US" sz="900" dirty="0">
              <a:latin typeface="+mn-ea"/>
            </a:endParaRPr>
          </a:p>
        </p:txBody>
      </p:sp>
      <p:pic>
        <p:nvPicPr>
          <p:cNvPr id="76" name="Image 5" descr="preencoded.png">
            <a:extLst>
              <a:ext uri="{FF2B5EF4-FFF2-40B4-BE49-F238E27FC236}">
                <a16:creationId xmlns:a16="http://schemas.microsoft.com/office/drawing/2014/main" id="{804912BF-DD68-9579-0675-42D8FFA10A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7008" y="5471041"/>
            <a:ext cx="418453" cy="418453"/>
          </a:xfrm>
          <a:prstGeom prst="rect">
            <a:avLst/>
          </a:prstGeom>
        </p:spPr>
      </p:pic>
      <p:sp>
        <p:nvSpPr>
          <p:cNvPr id="77" name="Text 18">
            <a:extLst>
              <a:ext uri="{FF2B5EF4-FFF2-40B4-BE49-F238E27FC236}">
                <a16:creationId xmlns:a16="http://schemas.microsoft.com/office/drawing/2014/main" id="{429ADE5D-2373-5266-6189-1089754BD90C}"/>
              </a:ext>
            </a:extLst>
          </p:cNvPr>
          <p:cNvSpPr txBox="1"/>
          <p:nvPr/>
        </p:nvSpPr>
        <p:spPr>
          <a:xfrm>
            <a:off x="437746" y="5471041"/>
            <a:ext cx="4864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5</a:t>
            </a:r>
            <a:endParaRPr lang="en-US" sz="1000" dirty="0">
              <a:latin typeface="+mn-ea"/>
            </a:endParaRPr>
          </a:p>
        </p:txBody>
      </p:sp>
      <p:sp>
        <p:nvSpPr>
          <p:cNvPr id="78" name="Text 19">
            <a:extLst>
              <a:ext uri="{FF2B5EF4-FFF2-40B4-BE49-F238E27FC236}">
                <a16:creationId xmlns:a16="http://schemas.microsoft.com/office/drawing/2014/main" id="{5BD40EFA-935F-663B-9B72-F7E915616043}"/>
              </a:ext>
            </a:extLst>
          </p:cNvPr>
          <p:cNvSpPr txBox="1"/>
          <p:nvPr/>
        </p:nvSpPr>
        <p:spPr>
          <a:xfrm>
            <a:off x="1077163" y="5471041"/>
            <a:ext cx="3458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활용 목적</a:t>
            </a:r>
            <a:endParaRPr lang="en-US" sz="1050" dirty="0">
              <a:latin typeface="+mn-ea"/>
            </a:endParaRPr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8986004A-95BB-CB4B-A133-D0D33699FE12}"/>
              </a:ext>
            </a:extLst>
          </p:cNvPr>
          <p:cNvSpPr txBox="1"/>
          <p:nvPr/>
        </p:nvSpPr>
        <p:spPr>
          <a:xfrm>
            <a:off x="1077163" y="5680274"/>
            <a:ext cx="39492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모델 성능 향상 및 답변 스타일의 일관성을 유지하는 데 효과적입니다.</a:t>
            </a:r>
            <a:endParaRPr lang="en-US" sz="900" dirty="0">
              <a:latin typeface="+mn-ea"/>
            </a:endParaRPr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86850DB2-34EC-8F79-4BC8-F908B50BCAAB}"/>
              </a:ext>
            </a:extLst>
          </p:cNvPr>
          <p:cNvSpPr/>
          <p:nvPr/>
        </p:nvSpPr>
        <p:spPr>
          <a:xfrm>
            <a:off x="4953886" y="1586680"/>
            <a:ext cx="5277002" cy="513893"/>
          </a:xfrm>
          <a:prstGeom prst="roundRect">
            <a:avLst>
              <a:gd name="adj" fmla="val 79083"/>
            </a:avLst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B0D9A84D-D776-F314-067F-2FFD65F49D75}"/>
              </a:ext>
            </a:extLst>
          </p:cNvPr>
          <p:cNvSpPr txBox="1"/>
          <p:nvPr/>
        </p:nvSpPr>
        <p:spPr>
          <a:xfrm>
            <a:off x="5218481" y="1805713"/>
            <a:ext cx="1162783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>
                    <a:alpha val="30000"/>
                  </a:srgbClr>
                </a:solidFill>
                <a:latin typeface="+mn-ea"/>
                <a:cs typeface="Noto Sans KR" pitchFamily="34" charset="-120"/>
              </a:rPr>
              <a:t>프롬프트 템플릿 3</a:t>
            </a:r>
            <a:endParaRPr lang="en-US" sz="800" dirty="0">
              <a:latin typeface="+mn-ea"/>
            </a:endParaRPr>
          </a:p>
        </p:txBody>
      </p:sp>
      <p:sp>
        <p:nvSpPr>
          <p:cNvPr id="83" name="Shape 27">
            <a:extLst>
              <a:ext uri="{FF2B5EF4-FFF2-40B4-BE49-F238E27FC236}">
                <a16:creationId xmlns:a16="http://schemas.microsoft.com/office/drawing/2014/main" id="{1E3ECA19-49DE-B46F-35F7-4364FF7EF543}"/>
              </a:ext>
            </a:extLst>
          </p:cNvPr>
          <p:cNvSpPr/>
          <p:nvPr/>
        </p:nvSpPr>
        <p:spPr>
          <a:xfrm>
            <a:off x="6511272" y="1805364"/>
            <a:ext cx="1181241" cy="140505"/>
          </a:xfrm>
          <a:prstGeom prst="roundRect">
            <a:avLst>
              <a:gd name="adj" fmla="val 137017"/>
            </a:avLst>
          </a:prstGeom>
          <a:solidFill>
            <a:srgbClr val="EFF6FF">
              <a:alpha val="30000"/>
            </a:srgbClr>
          </a:solidFill>
          <a:ln w="12699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84" name="Text 28">
            <a:extLst>
              <a:ext uri="{FF2B5EF4-FFF2-40B4-BE49-F238E27FC236}">
                <a16:creationId xmlns:a16="http://schemas.microsoft.com/office/drawing/2014/main" id="{2EA94E00-B0CF-3562-146B-DF6088D3C328}"/>
              </a:ext>
            </a:extLst>
          </p:cNvPr>
          <p:cNvSpPr txBox="1"/>
          <p:nvPr/>
        </p:nvSpPr>
        <p:spPr>
          <a:xfrm>
            <a:off x="6513510" y="1805713"/>
            <a:ext cx="1236611" cy="1409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>
                    <a:alpha val="30000"/>
                  </a:srgbClr>
                </a:solidFill>
                <a:latin typeface="+mn-ea"/>
                <a:cs typeface="Noto Sans KR" pitchFamily="34" charset="-120"/>
              </a:rPr>
              <a:t>Few-shot 예시 </a:t>
            </a:r>
            <a:r>
              <a:rPr lang="en-US" sz="800" b="1" dirty="0">
                <a:solidFill>
                  <a:srgbClr val="1D4ED8">
                    <a:alpha val="30000"/>
                  </a:srgbClr>
                </a:solidFill>
                <a:latin typeface="+mn-ea"/>
                <a:cs typeface="Noto Sans KR" pitchFamily="34" charset="-120"/>
              </a:rPr>
              <a:t>13</a:t>
            </a:r>
            <a:endParaRPr lang="en-US" sz="800" dirty="0">
              <a:latin typeface="+mn-ea"/>
            </a:endParaRPr>
          </a:p>
        </p:txBody>
      </p:sp>
      <p:pic>
        <p:nvPicPr>
          <p:cNvPr id="85" name="Image 6" descr="preencoded.png">
            <a:extLst>
              <a:ext uri="{FF2B5EF4-FFF2-40B4-BE49-F238E27FC236}">
                <a16:creationId xmlns:a16="http://schemas.microsoft.com/office/drawing/2014/main" id="{26E1CC43-802B-1FD3-2F6E-B2481DB061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49" b="-349"/>
          <a:stretch/>
        </p:blipFill>
        <p:spPr>
          <a:xfrm>
            <a:off x="9198521" y="1719186"/>
            <a:ext cx="814740" cy="203103"/>
          </a:xfrm>
          <a:prstGeom prst="rect">
            <a:avLst/>
          </a:prstGeom>
        </p:spPr>
      </p:pic>
      <p:sp>
        <p:nvSpPr>
          <p:cNvPr id="86" name="Text 29">
            <a:extLst>
              <a:ext uri="{FF2B5EF4-FFF2-40B4-BE49-F238E27FC236}">
                <a16:creationId xmlns:a16="http://schemas.microsoft.com/office/drawing/2014/main" id="{E34A6B8E-C1A4-35AC-6C4B-4055A669D812}"/>
              </a:ext>
            </a:extLst>
          </p:cNvPr>
          <p:cNvSpPr txBox="1"/>
          <p:nvPr/>
        </p:nvSpPr>
        <p:spPr>
          <a:xfrm>
            <a:off x="9200758" y="1807535"/>
            <a:ext cx="870110" cy="13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>
                    <a:alpha val="30000"/>
                  </a:srgbClr>
                </a:solidFill>
                <a:latin typeface="+mn-ea"/>
                <a:cs typeface="Noto Sans KR" pitchFamily="34" charset="-120"/>
              </a:rPr>
              <a:t>+ 새로 만들기</a:t>
            </a:r>
            <a:endParaRPr lang="en-US" sz="800" dirty="0">
              <a:latin typeface="+mn-ea"/>
            </a:endParaRPr>
          </a:p>
        </p:txBody>
      </p:sp>
      <p:pic>
        <p:nvPicPr>
          <p:cNvPr id="87" name="Image 7" descr="preencoded.png">
            <a:extLst>
              <a:ext uri="{FF2B5EF4-FFF2-40B4-BE49-F238E27FC236}">
                <a16:creationId xmlns:a16="http://schemas.microsoft.com/office/drawing/2014/main" id="{DB5341B1-6D3E-855F-CEAB-B65EA4607B4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rcRect l="-1" r="-1"/>
          <a:stretch/>
        </p:blipFill>
        <p:spPr>
          <a:xfrm>
            <a:off x="5262573" y="2367083"/>
            <a:ext cx="2254376" cy="1144175"/>
          </a:xfrm>
          <a:prstGeom prst="rect">
            <a:avLst/>
          </a:prstGeom>
        </p:spPr>
      </p:pic>
      <p:pic>
        <p:nvPicPr>
          <p:cNvPr id="88" name="Image 8" descr="preencoded.png">
            <a:extLst>
              <a:ext uri="{FF2B5EF4-FFF2-40B4-BE49-F238E27FC236}">
                <a16:creationId xmlns:a16="http://schemas.microsoft.com/office/drawing/2014/main" id="{7021D6FA-47A6-A85D-2893-A8E9C2BC736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rcRect l="-1" r="-1"/>
          <a:stretch/>
        </p:blipFill>
        <p:spPr>
          <a:xfrm>
            <a:off x="7752484" y="2367083"/>
            <a:ext cx="2254376" cy="1144175"/>
          </a:xfrm>
          <a:prstGeom prst="rect">
            <a:avLst/>
          </a:prstGeom>
        </p:spPr>
      </p:pic>
      <p:sp>
        <p:nvSpPr>
          <p:cNvPr id="89" name="Shape 31">
            <a:extLst>
              <a:ext uri="{FF2B5EF4-FFF2-40B4-BE49-F238E27FC236}">
                <a16:creationId xmlns:a16="http://schemas.microsoft.com/office/drawing/2014/main" id="{833F8F80-50BC-A4FA-0A0A-8C54549A5E3B}"/>
              </a:ext>
            </a:extLst>
          </p:cNvPr>
          <p:cNvSpPr/>
          <p:nvPr/>
        </p:nvSpPr>
        <p:spPr>
          <a:xfrm>
            <a:off x="6081392" y="1806585"/>
            <a:ext cx="137108" cy="82349"/>
          </a:xfrm>
          <a:prstGeom prst="roundRect">
            <a:avLst>
              <a:gd name="adj" fmla="val 641027"/>
            </a:avLst>
          </a:prstGeom>
          <a:solidFill>
            <a:srgbClr val="F3F4F6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90" name="Text 32">
            <a:extLst>
              <a:ext uri="{FF2B5EF4-FFF2-40B4-BE49-F238E27FC236}">
                <a16:creationId xmlns:a16="http://schemas.microsoft.com/office/drawing/2014/main" id="{A9D2E9F9-C972-6E21-1B49-BD9E3C13CDAE}"/>
              </a:ext>
            </a:extLst>
          </p:cNvPr>
          <p:cNvSpPr/>
          <p:nvPr/>
        </p:nvSpPr>
        <p:spPr>
          <a:xfrm>
            <a:off x="6046884" y="1806934"/>
            <a:ext cx="210936" cy="82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>
                    <a:alpha val="30000"/>
                  </a:srgbClr>
                </a:solidFill>
                <a:latin typeface="+mn-ea"/>
                <a:cs typeface="Noto Sans KR" pitchFamily="34" charset="-120"/>
              </a:rPr>
              <a:t>3</a:t>
            </a:r>
            <a:endParaRPr lang="en-US" sz="800" dirty="0">
              <a:latin typeface="+mn-ea"/>
            </a:endParaRPr>
          </a:p>
        </p:txBody>
      </p:sp>
      <p:sp>
        <p:nvSpPr>
          <p:cNvPr id="91" name="Shape 33">
            <a:extLst>
              <a:ext uri="{FF2B5EF4-FFF2-40B4-BE49-F238E27FC236}">
                <a16:creationId xmlns:a16="http://schemas.microsoft.com/office/drawing/2014/main" id="{234AAF52-1795-E7F3-12A5-0DAFA26CAC7D}"/>
              </a:ext>
            </a:extLst>
          </p:cNvPr>
          <p:cNvSpPr/>
          <p:nvPr/>
        </p:nvSpPr>
        <p:spPr>
          <a:xfrm>
            <a:off x="7376946" y="1815729"/>
            <a:ext cx="201268" cy="82349"/>
          </a:xfrm>
          <a:prstGeom prst="roundRect">
            <a:avLst>
              <a:gd name="adj" fmla="val 564971"/>
            </a:avLst>
          </a:prstGeom>
          <a:solidFill>
            <a:srgbClr val="BFDBFE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92" name="Text 34">
            <a:extLst>
              <a:ext uri="{FF2B5EF4-FFF2-40B4-BE49-F238E27FC236}">
                <a16:creationId xmlns:a16="http://schemas.microsoft.com/office/drawing/2014/main" id="{9750139B-815F-280A-02CD-0F14A6877C7F}"/>
              </a:ext>
            </a:extLst>
          </p:cNvPr>
          <p:cNvSpPr/>
          <p:nvPr/>
        </p:nvSpPr>
        <p:spPr>
          <a:xfrm>
            <a:off x="7341523" y="1816078"/>
            <a:ext cx="275095" cy="82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>
                    <a:alpha val="30000"/>
                  </a:srgbClr>
                </a:solidFill>
                <a:latin typeface="+mn-ea"/>
                <a:cs typeface="Noto Sans KR" pitchFamily="34" charset="-120"/>
              </a:rPr>
              <a:t>13</a:t>
            </a:r>
            <a:endParaRPr lang="en-US" sz="800" dirty="0">
              <a:latin typeface="+mn-ea"/>
            </a:endParaRPr>
          </a:p>
        </p:txBody>
      </p:sp>
      <p:pic>
        <p:nvPicPr>
          <p:cNvPr id="93" name="Image 9" descr="preencoded.png">
            <a:extLst>
              <a:ext uri="{FF2B5EF4-FFF2-40B4-BE49-F238E27FC236}">
                <a16:creationId xmlns:a16="http://schemas.microsoft.com/office/drawing/2014/main" id="{A3B36DAF-A611-9069-0750-E0D8086B4B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2" b="-2"/>
          <a:stretch/>
        </p:blipFill>
        <p:spPr>
          <a:xfrm>
            <a:off x="5218481" y="1531107"/>
            <a:ext cx="4876495" cy="5081401"/>
          </a:xfrm>
          <a:prstGeom prst="rect">
            <a:avLst/>
          </a:prstGeom>
        </p:spPr>
      </p:pic>
      <p:sp>
        <p:nvSpPr>
          <p:cNvPr id="94" name="Shape 35">
            <a:extLst>
              <a:ext uri="{FF2B5EF4-FFF2-40B4-BE49-F238E27FC236}">
                <a16:creationId xmlns:a16="http://schemas.microsoft.com/office/drawing/2014/main" id="{130A4EA3-9932-9741-108C-0E1D953EAAC5}"/>
              </a:ext>
            </a:extLst>
          </p:cNvPr>
          <p:cNvSpPr/>
          <p:nvPr/>
        </p:nvSpPr>
        <p:spPr>
          <a:xfrm>
            <a:off x="5349121" y="1744871"/>
            <a:ext cx="4668712" cy="230108"/>
          </a:xfrm>
          <a:prstGeom prst="roundRect">
            <a:avLst>
              <a:gd name="adj" fmla="val 18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F760C94C-8C3D-8F6A-BFDE-D40360D5546F}"/>
              </a:ext>
            </a:extLst>
          </p:cNvPr>
          <p:cNvSpPr/>
          <p:nvPr/>
        </p:nvSpPr>
        <p:spPr>
          <a:xfrm>
            <a:off x="5349121" y="1978959"/>
            <a:ext cx="4668712" cy="45719"/>
          </a:xfrm>
          <a:prstGeom prst="roundRect">
            <a:avLst>
              <a:gd name="adj" fmla="val 4528302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96" name="Image 10" descr="preencoded.png">
            <a:extLst>
              <a:ext uri="{FF2B5EF4-FFF2-40B4-BE49-F238E27FC236}">
                <a16:creationId xmlns:a16="http://schemas.microsoft.com/office/drawing/2014/main" id="{55AB9E4F-4EE5-BDC4-5933-EF1D3CB8EF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5358119" y="1697765"/>
            <a:ext cx="182811" cy="120706"/>
          </a:xfrm>
          <a:prstGeom prst="rect">
            <a:avLst/>
          </a:prstGeom>
        </p:spPr>
      </p:pic>
      <p:sp>
        <p:nvSpPr>
          <p:cNvPr id="97" name="Text 37">
            <a:extLst>
              <a:ext uri="{FF2B5EF4-FFF2-40B4-BE49-F238E27FC236}">
                <a16:creationId xmlns:a16="http://schemas.microsoft.com/office/drawing/2014/main" id="{C146003B-3FDC-5FE7-43BD-B649C371F621}"/>
              </a:ext>
            </a:extLst>
          </p:cNvPr>
          <p:cNvSpPr txBox="1"/>
          <p:nvPr/>
        </p:nvSpPr>
        <p:spPr>
          <a:xfrm>
            <a:off x="5685085" y="1745506"/>
            <a:ext cx="1667272" cy="97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+mn-ea"/>
                <a:cs typeface="Noto Sans KR" pitchFamily="34" charset="-120"/>
              </a:rPr>
              <a:t>새 Few-shot 예시 만들기</a:t>
            </a:r>
            <a:endParaRPr lang="en-US" sz="1000" dirty="0">
              <a:latin typeface="+mn-ea"/>
            </a:endParaRPr>
          </a:p>
        </p:txBody>
      </p:sp>
      <p:pic>
        <p:nvPicPr>
          <p:cNvPr id="98" name="Image 11" descr="preencoded.png">
            <a:extLst>
              <a:ext uri="{FF2B5EF4-FFF2-40B4-BE49-F238E27FC236}">
                <a16:creationId xmlns:a16="http://schemas.microsoft.com/office/drawing/2014/main" id="{A314D3AD-1010-F6F8-1CE4-9D5F9BFFC78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9717776" y="1697765"/>
            <a:ext cx="109862" cy="120706"/>
          </a:xfrm>
          <a:prstGeom prst="rect">
            <a:avLst/>
          </a:prstGeom>
        </p:spPr>
      </p:pic>
      <p:sp>
        <p:nvSpPr>
          <p:cNvPr id="100" name="Shape 39">
            <a:extLst>
              <a:ext uri="{FF2B5EF4-FFF2-40B4-BE49-F238E27FC236}">
                <a16:creationId xmlns:a16="http://schemas.microsoft.com/office/drawing/2014/main" id="{4F2C7246-0090-788B-BA10-CE5523D57148}"/>
              </a:ext>
            </a:extLst>
          </p:cNvPr>
          <p:cNvSpPr/>
          <p:nvPr/>
        </p:nvSpPr>
        <p:spPr>
          <a:xfrm>
            <a:off x="5524547" y="2529411"/>
            <a:ext cx="4303089" cy="164697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699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1EF3C9A8-18ED-86E5-BF87-E46CE08A6500}"/>
              </a:ext>
            </a:extLst>
          </p:cNvPr>
          <p:cNvSpPr txBox="1"/>
          <p:nvPr/>
        </p:nvSpPr>
        <p:spPr>
          <a:xfrm>
            <a:off x="5646706" y="2589013"/>
            <a:ext cx="4248598" cy="77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예: 감정 분석 예시</a:t>
            </a:r>
            <a:endParaRPr lang="en-US" sz="800" dirty="0">
              <a:latin typeface="+mn-ea"/>
            </a:endParaRPr>
          </a:p>
        </p:txBody>
      </p:sp>
      <p:pic>
        <p:nvPicPr>
          <p:cNvPr id="102" name="Image 12" descr="preencoded.png">
            <a:extLst>
              <a:ext uri="{FF2B5EF4-FFF2-40B4-BE49-F238E27FC236}">
                <a16:creationId xmlns:a16="http://schemas.microsoft.com/office/drawing/2014/main" id="{19071F5F-9BB3-C75D-0C1B-BEFE2454851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5" r="-5"/>
          <a:stretch/>
        </p:blipFill>
        <p:spPr>
          <a:xfrm>
            <a:off x="5524547" y="3241834"/>
            <a:ext cx="4303089" cy="1925372"/>
          </a:xfrm>
          <a:prstGeom prst="rect">
            <a:avLst/>
          </a:prstGeom>
        </p:spPr>
      </p:pic>
      <p:sp>
        <p:nvSpPr>
          <p:cNvPr id="103" name="Shape 41">
            <a:extLst>
              <a:ext uri="{FF2B5EF4-FFF2-40B4-BE49-F238E27FC236}">
                <a16:creationId xmlns:a16="http://schemas.microsoft.com/office/drawing/2014/main" id="{4FFE66CC-0754-E702-B29E-7B7387F4363F}"/>
              </a:ext>
            </a:extLst>
          </p:cNvPr>
          <p:cNvSpPr/>
          <p:nvPr/>
        </p:nvSpPr>
        <p:spPr>
          <a:xfrm>
            <a:off x="5606013" y="3345357"/>
            <a:ext cx="448239" cy="96771"/>
          </a:xfrm>
          <a:prstGeom prst="roundRect">
            <a:avLst>
              <a:gd name="adj" fmla="val 192308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4" name="Text 42">
            <a:extLst>
              <a:ext uri="{FF2B5EF4-FFF2-40B4-BE49-F238E27FC236}">
                <a16:creationId xmlns:a16="http://schemas.microsoft.com/office/drawing/2014/main" id="{E9E598E6-AA61-3A1F-2B0C-62E9B8FCE458}"/>
              </a:ext>
            </a:extLst>
          </p:cNvPr>
          <p:cNvSpPr txBox="1"/>
          <p:nvPr/>
        </p:nvSpPr>
        <p:spPr>
          <a:xfrm>
            <a:off x="5605401" y="3355132"/>
            <a:ext cx="522066" cy="9723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2700" rIns="76200" bIns="127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예시 1</a:t>
            </a:r>
            <a:endParaRPr lang="en-US" sz="800" dirty="0">
              <a:latin typeface="+mn-ea"/>
            </a:endParaRPr>
          </a:p>
        </p:txBody>
      </p:sp>
      <p:pic>
        <p:nvPicPr>
          <p:cNvPr id="105" name="Image 13" descr="preencoded.png">
            <a:extLst>
              <a:ext uri="{FF2B5EF4-FFF2-40B4-BE49-F238E27FC236}">
                <a16:creationId xmlns:a16="http://schemas.microsoft.com/office/drawing/2014/main" id="{EF310EFA-6EE3-7A63-5D0A-0066A5E3D05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9603120" y="3315677"/>
            <a:ext cx="101073" cy="90348"/>
          </a:xfrm>
          <a:prstGeom prst="rect">
            <a:avLst/>
          </a:prstGeom>
        </p:spPr>
      </p:pic>
      <p:sp>
        <p:nvSpPr>
          <p:cNvPr id="106" name="Text 43">
            <a:extLst>
              <a:ext uri="{FF2B5EF4-FFF2-40B4-BE49-F238E27FC236}">
                <a16:creationId xmlns:a16="http://schemas.microsoft.com/office/drawing/2014/main" id="{2C8966E0-26E0-6377-F2D6-5109A1AE566E}"/>
              </a:ext>
            </a:extLst>
          </p:cNvPr>
          <p:cNvSpPr txBox="1"/>
          <p:nvPr/>
        </p:nvSpPr>
        <p:spPr>
          <a:xfrm>
            <a:off x="5643722" y="3627006"/>
            <a:ext cx="4174771" cy="11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입력 (Input)</a:t>
            </a:r>
            <a:endParaRPr lang="en-US" sz="1100" dirty="0">
              <a:latin typeface="+mn-ea"/>
            </a:endParaRPr>
          </a:p>
        </p:txBody>
      </p:sp>
      <p:sp>
        <p:nvSpPr>
          <p:cNvPr id="107" name="Shape 44">
            <a:extLst>
              <a:ext uri="{FF2B5EF4-FFF2-40B4-BE49-F238E27FC236}">
                <a16:creationId xmlns:a16="http://schemas.microsoft.com/office/drawing/2014/main" id="{109C3013-43BA-3FDD-65CC-EBA37B204FC2}"/>
              </a:ext>
            </a:extLst>
          </p:cNvPr>
          <p:cNvSpPr/>
          <p:nvPr/>
        </p:nvSpPr>
        <p:spPr>
          <a:xfrm>
            <a:off x="5669861" y="3989271"/>
            <a:ext cx="4064908" cy="310319"/>
          </a:xfrm>
          <a:prstGeom prst="roundRect">
            <a:avLst>
              <a:gd name="adj" fmla="val 18741"/>
            </a:avLst>
          </a:prstGeom>
          <a:solidFill>
            <a:srgbClr val="F9FAFB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8" name="Text 45">
            <a:extLst>
              <a:ext uri="{FF2B5EF4-FFF2-40B4-BE49-F238E27FC236}">
                <a16:creationId xmlns:a16="http://schemas.microsoft.com/office/drawing/2014/main" id="{58A88211-BB0B-FA0D-28CD-1660AACAB799}"/>
              </a:ext>
            </a:extLst>
          </p:cNvPr>
          <p:cNvSpPr txBox="1"/>
          <p:nvPr/>
        </p:nvSpPr>
        <p:spPr>
          <a:xfrm>
            <a:off x="5725983" y="3834168"/>
            <a:ext cx="4083365" cy="77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예시 입력을 작성하세요...</a:t>
            </a:r>
            <a:endParaRPr lang="en-US" sz="800" dirty="0">
              <a:latin typeface="+mn-ea"/>
            </a:endParaRPr>
          </a:p>
        </p:txBody>
      </p:sp>
      <p:sp>
        <p:nvSpPr>
          <p:cNvPr id="109" name="Text 46">
            <a:extLst>
              <a:ext uri="{FF2B5EF4-FFF2-40B4-BE49-F238E27FC236}">
                <a16:creationId xmlns:a16="http://schemas.microsoft.com/office/drawing/2014/main" id="{033E4E89-5C4D-16E5-2441-FDE0E5667580}"/>
              </a:ext>
            </a:extLst>
          </p:cNvPr>
          <p:cNvSpPr txBox="1"/>
          <p:nvPr/>
        </p:nvSpPr>
        <p:spPr>
          <a:xfrm>
            <a:off x="5652867" y="4431027"/>
            <a:ext cx="4174771" cy="11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출력 (Output)</a:t>
            </a:r>
            <a:endParaRPr lang="en-US" sz="1100" dirty="0">
              <a:latin typeface="+mn-ea"/>
            </a:endParaRPr>
          </a:p>
        </p:txBody>
      </p:sp>
      <p:sp>
        <p:nvSpPr>
          <p:cNvPr id="110" name="Shape 47">
            <a:extLst>
              <a:ext uri="{FF2B5EF4-FFF2-40B4-BE49-F238E27FC236}">
                <a16:creationId xmlns:a16="http://schemas.microsoft.com/office/drawing/2014/main" id="{F13324C8-EC25-AFB2-82EB-006D10085486}"/>
              </a:ext>
            </a:extLst>
          </p:cNvPr>
          <p:cNvSpPr/>
          <p:nvPr/>
        </p:nvSpPr>
        <p:spPr>
          <a:xfrm>
            <a:off x="5651023" y="4786694"/>
            <a:ext cx="4064908" cy="310319"/>
          </a:xfrm>
          <a:prstGeom prst="roundRect">
            <a:avLst>
              <a:gd name="adj" fmla="val 18741"/>
            </a:avLst>
          </a:prstGeom>
          <a:solidFill>
            <a:srgbClr val="F9FAFB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11" name="Text 48">
            <a:extLst>
              <a:ext uri="{FF2B5EF4-FFF2-40B4-BE49-F238E27FC236}">
                <a16:creationId xmlns:a16="http://schemas.microsoft.com/office/drawing/2014/main" id="{12D1A386-A087-EC45-CE81-E1C074981552}"/>
              </a:ext>
            </a:extLst>
          </p:cNvPr>
          <p:cNvSpPr txBox="1"/>
          <p:nvPr/>
        </p:nvSpPr>
        <p:spPr>
          <a:xfrm>
            <a:off x="5706435" y="4677932"/>
            <a:ext cx="4083365" cy="77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+mn-ea"/>
                <a:cs typeface="Noto Sans KR" pitchFamily="34" charset="-120"/>
              </a:rPr>
              <a:t>기대되는 AI의 답변을 작성하세요...</a:t>
            </a:r>
            <a:endParaRPr lang="en-US" sz="800" dirty="0">
              <a:latin typeface="+mn-ea"/>
            </a:endParaRPr>
          </a:p>
        </p:txBody>
      </p:sp>
      <p:sp>
        <p:nvSpPr>
          <p:cNvPr id="112" name="Shape 49">
            <a:extLst>
              <a:ext uri="{FF2B5EF4-FFF2-40B4-BE49-F238E27FC236}">
                <a16:creationId xmlns:a16="http://schemas.microsoft.com/office/drawing/2014/main" id="{313D0FFA-0310-864C-163C-77C07260AA52}"/>
              </a:ext>
            </a:extLst>
          </p:cNvPr>
          <p:cNvSpPr/>
          <p:nvPr/>
        </p:nvSpPr>
        <p:spPr>
          <a:xfrm>
            <a:off x="5562933" y="5216224"/>
            <a:ext cx="4303089" cy="174467"/>
          </a:xfrm>
          <a:prstGeom prst="roundRect">
            <a:avLst>
              <a:gd name="adj" fmla="val 118519"/>
            </a:avLst>
          </a:prstGeom>
          <a:noFill/>
          <a:ln w="25399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13" name="Image 14" descr="preencoded.png">
            <a:extLst>
              <a:ext uri="{FF2B5EF4-FFF2-40B4-BE49-F238E27FC236}">
                <a16:creationId xmlns:a16="http://schemas.microsoft.com/office/drawing/2014/main" id="{49CB4D0B-DA7A-BC17-A2B9-FD3156BE40D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7345256" y="5272795"/>
            <a:ext cx="101073" cy="90348"/>
          </a:xfrm>
          <a:prstGeom prst="rect">
            <a:avLst/>
          </a:prstGeom>
        </p:spPr>
      </p:pic>
      <p:sp>
        <p:nvSpPr>
          <p:cNvPr id="114" name="Text 50">
            <a:extLst>
              <a:ext uri="{FF2B5EF4-FFF2-40B4-BE49-F238E27FC236}">
                <a16:creationId xmlns:a16="http://schemas.microsoft.com/office/drawing/2014/main" id="{9CE1621A-45E1-6EEC-C51F-FC9028EBAACF}"/>
              </a:ext>
            </a:extLst>
          </p:cNvPr>
          <p:cNvSpPr txBox="1"/>
          <p:nvPr/>
        </p:nvSpPr>
        <p:spPr>
          <a:xfrm>
            <a:off x="7464679" y="5216224"/>
            <a:ext cx="494820" cy="174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+mn-ea"/>
                <a:cs typeface="Noto Sans KR" pitchFamily="34" charset="-120"/>
              </a:rPr>
              <a:t>예시 추가</a:t>
            </a:r>
            <a:endParaRPr lang="en-US" sz="800" dirty="0">
              <a:latin typeface="+mn-ea"/>
            </a:endParaRPr>
          </a:p>
        </p:txBody>
      </p:sp>
      <p:sp>
        <p:nvSpPr>
          <p:cNvPr id="125" name="Text 67">
            <a:extLst>
              <a:ext uri="{FF2B5EF4-FFF2-40B4-BE49-F238E27FC236}">
                <a16:creationId xmlns:a16="http://schemas.microsoft.com/office/drawing/2014/main" id="{3DA5A780-0ACE-AA57-A060-D9D17318C64A}"/>
              </a:ext>
            </a:extLst>
          </p:cNvPr>
          <p:cNvSpPr txBox="1"/>
          <p:nvPr/>
        </p:nvSpPr>
        <p:spPr>
          <a:xfrm>
            <a:off x="5384957" y="2267792"/>
            <a:ext cx="847259" cy="8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예시 세트 이름</a:t>
            </a:r>
            <a:endParaRPr lang="en-US" sz="800" dirty="0">
              <a:latin typeface="+mn-ea"/>
            </a:endParaRPr>
          </a:p>
        </p:txBody>
      </p:sp>
      <p:sp>
        <p:nvSpPr>
          <p:cNvPr id="126" name="Text 68">
            <a:extLst>
              <a:ext uri="{FF2B5EF4-FFF2-40B4-BE49-F238E27FC236}">
                <a16:creationId xmlns:a16="http://schemas.microsoft.com/office/drawing/2014/main" id="{8CB5367E-E0B7-F270-7635-6B0E51C7C9D1}"/>
              </a:ext>
            </a:extLst>
          </p:cNvPr>
          <p:cNvSpPr txBox="1"/>
          <p:nvPr/>
        </p:nvSpPr>
        <p:spPr>
          <a:xfrm>
            <a:off x="6083257" y="2267792"/>
            <a:ext cx="137987" cy="8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+mn-ea"/>
                <a:cs typeface="Noto Sans KR" pitchFamily="34" charset="-120"/>
              </a:rPr>
              <a:t>*</a:t>
            </a:r>
            <a:endParaRPr lang="en-US" sz="800" dirty="0">
              <a:latin typeface="+mn-ea"/>
            </a:endParaRPr>
          </a:p>
        </p:txBody>
      </p:sp>
      <p:sp>
        <p:nvSpPr>
          <p:cNvPr id="127" name="Text 69">
            <a:extLst>
              <a:ext uri="{FF2B5EF4-FFF2-40B4-BE49-F238E27FC236}">
                <a16:creationId xmlns:a16="http://schemas.microsoft.com/office/drawing/2014/main" id="{C4C1027A-B9F0-6199-EF05-1505A6E76CBB}"/>
              </a:ext>
            </a:extLst>
          </p:cNvPr>
          <p:cNvSpPr txBox="1"/>
          <p:nvPr/>
        </p:nvSpPr>
        <p:spPr>
          <a:xfrm>
            <a:off x="5377361" y="2972794"/>
            <a:ext cx="659174" cy="8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입출력 예시</a:t>
            </a:r>
            <a:endParaRPr lang="en-US" sz="800" dirty="0">
              <a:latin typeface="+mn-ea"/>
            </a:endParaRPr>
          </a:p>
        </p:txBody>
      </p:sp>
      <p:sp>
        <p:nvSpPr>
          <p:cNvPr id="128" name="Text 70">
            <a:extLst>
              <a:ext uri="{FF2B5EF4-FFF2-40B4-BE49-F238E27FC236}">
                <a16:creationId xmlns:a16="http://schemas.microsoft.com/office/drawing/2014/main" id="{78A0459B-27B2-E333-3DBC-78BD3AEF5B34}"/>
              </a:ext>
            </a:extLst>
          </p:cNvPr>
          <p:cNvSpPr txBox="1"/>
          <p:nvPr/>
        </p:nvSpPr>
        <p:spPr>
          <a:xfrm>
            <a:off x="5946097" y="2972794"/>
            <a:ext cx="137987" cy="8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+mn-ea"/>
                <a:cs typeface="Noto Sans KR" pitchFamily="34" charset="-120"/>
              </a:rPr>
              <a:t>*</a:t>
            </a:r>
            <a:endParaRPr lang="en-US" sz="800" dirty="0">
              <a:latin typeface="+mn-ea"/>
            </a:endParaRPr>
          </a:p>
        </p:txBody>
      </p:sp>
      <p:sp>
        <p:nvSpPr>
          <p:cNvPr id="129" name="Text 71">
            <a:extLst>
              <a:ext uri="{FF2B5EF4-FFF2-40B4-BE49-F238E27FC236}">
                <a16:creationId xmlns:a16="http://schemas.microsoft.com/office/drawing/2014/main" id="{2C342575-A681-DF50-3F46-83841DDF0326}"/>
              </a:ext>
            </a:extLst>
          </p:cNvPr>
          <p:cNvSpPr txBox="1"/>
          <p:nvPr/>
        </p:nvSpPr>
        <p:spPr>
          <a:xfrm>
            <a:off x="5463297" y="5472538"/>
            <a:ext cx="656538" cy="8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+mn-ea"/>
                <a:cs typeface="Noto Sans KR" pitchFamily="34" charset="-120"/>
              </a:rPr>
              <a:t>공유할 강의</a:t>
            </a:r>
            <a:endParaRPr lang="en-US" sz="800" dirty="0">
              <a:latin typeface="+mn-ea"/>
            </a:endParaRP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35952FA7-EEFC-86D3-3D63-CEBAD45E2740}"/>
              </a:ext>
            </a:extLst>
          </p:cNvPr>
          <p:cNvGrpSpPr/>
          <p:nvPr/>
        </p:nvGrpSpPr>
        <p:grpSpPr>
          <a:xfrm>
            <a:off x="5190142" y="6065735"/>
            <a:ext cx="4857293" cy="430887"/>
            <a:chOff x="5098703" y="6185470"/>
            <a:chExt cx="4857293" cy="430887"/>
          </a:xfrm>
        </p:grpSpPr>
        <p:sp>
          <p:nvSpPr>
            <p:cNvPr id="119" name="Shape 63">
              <a:extLst>
                <a:ext uri="{FF2B5EF4-FFF2-40B4-BE49-F238E27FC236}">
                  <a16:creationId xmlns:a16="http://schemas.microsoft.com/office/drawing/2014/main" id="{B20B73D1-BD3F-E04A-2EC5-BEE49BEFC4E2}"/>
                </a:ext>
              </a:extLst>
            </p:cNvPr>
            <p:cNvSpPr/>
            <p:nvPr/>
          </p:nvSpPr>
          <p:spPr>
            <a:xfrm>
              <a:off x="5098703" y="6185470"/>
              <a:ext cx="4857293" cy="430887"/>
            </a:xfrm>
            <a:prstGeom prst="roundRect">
              <a:avLst>
                <a:gd name="adj" fmla="val 76154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21" name="Shape 65">
              <a:extLst>
                <a:ext uri="{FF2B5EF4-FFF2-40B4-BE49-F238E27FC236}">
                  <a16:creationId xmlns:a16="http://schemas.microsoft.com/office/drawing/2014/main" id="{C76D3E99-0D84-5C40-064F-71B88E8A2200}"/>
                </a:ext>
              </a:extLst>
            </p:cNvPr>
            <p:cNvSpPr/>
            <p:nvPr/>
          </p:nvSpPr>
          <p:spPr>
            <a:xfrm>
              <a:off x="8649318" y="6308914"/>
              <a:ext cx="466344" cy="234619"/>
            </a:xfrm>
            <a:prstGeom prst="roundRect">
              <a:avLst>
                <a:gd name="adj" fmla="val 85470"/>
              </a:avLst>
            </a:prstGeom>
            <a:noFill/>
            <a:ln w="12699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pic>
          <p:nvPicPr>
            <p:cNvPr id="122" name="Image 16" descr="preencoded.png">
              <a:extLst>
                <a:ext uri="{FF2B5EF4-FFF2-40B4-BE49-F238E27FC236}">
                  <a16:creationId xmlns:a16="http://schemas.microsoft.com/office/drawing/2014/main" id="{D5F07A2D-3BF5-0544-FA03-8094C1564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-49" r="-49"/>
            <a:stretch/>
          </p:blipFill>
          <p:spPr>
            <a:xfrm>
              <a:off x="9184242" y="6308914"/>
              <a:ext cx="581558" cy="234619"/>
            </a:xfrm>
            <a:prstGeom prst="rect">
              <a:avLst/>
            </a:prstGeom>
          </p:spPr>
        </p:pic>
        <p:pic>
          <p:nvPicPr>
            <p:cNvPr id="123" name="Image 17" descr="preencoded.png">
              <a:extLst>
                <a:ext uri="{FF2B5EF4-FFF2-40B4-BE49-F238E27FC236}">
                  <a16:creationId xmlns:a16="http://schemas.microsoft.com/office/drawing/2014/main" id="{91E3C1FF-6723-5628-25C7-F9FFABC82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-2571" r="-2571"/>
            <a:stretch/>
          </p:blipFill>
          <p:spPr>
            <a:xfrm>
              <a:off x="9298542" y="6394868"/>
              <a:ext cx="105156" cy="93998"/>
            </a:xfrm>
            <a:prstGeom prst="rect">
              <a:avLst/>
            </a:prstGeom>
          </p:spPr>
        </p:pic>
        <p:sp>
          <p:nvSpPr>
            <p:cNvPr id="124" name="Text 66">
              <a:extLst>
                <a:ext uri="{FF2B5EF4-FFF2-40B4-BE49-F238E27FC236}">
                  <a16:creationId xmlns:a16="http://schemas.microsoft.com/office/drawing/2014/main" id="{037FF53F-6B95-C290-D90A-BF152ADEBD8F}"/>
                </a:ext>
              </a:extLst>
            </p:cNvPr>
            <p:cNvSpPr txBox="1"/>
            <p:nvPr/>
          </p:nvSpPr>
          <p:spPr>
            <a:xfrm>
              <a:off x="9412842" y="6308914"/>
              <a:ext cx="277063" cy="235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+mn-ea"/>
                  <a:cs typeface="Noto Sans KR" pitchFamily="34" charset="-120"/>
                </a:rPr>
                <a:t>저장</a:t>
              </a:r>
              <a:endParaRPr lang="en-US" sz="800" dirty="0">
                <a:latin typeface="+mn-ea"/>
              </a:endParaRPr>
            </a:p>
          </p:txBody>
        </p:sp>
        <p:sp>
          <p:nvSpPr>
            <p:cNvPr id="130" name="Text 72">
              <a:extLst>
                <a:ext uri="{FF2B5EF4-FFF2-40B4-BE49-F238E27FC236}">
                  <a16:creationId xmlns:a16="http://schemas.microsoft.com/office/drawing/2014/main" id="{EC8AA96D-3F62-50CB-900B-9BF00B80E797}"/>
                </a:ext>
              </a:extLst>
            </p:cNvPr>
            <p:cNvSpPr txBox="1"/>
            <p:nvPr/>
          </p:nvSpPr>
          <p:spPr>
            <a:xfrm>
              <a:off x="8735272" y="6365607"/>
              <a:ext cx="295351" cy="1338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4B5563"/>
                  </a:solidFill>
                  <a:latin typeface="+mn-ea"/>
                  <a:cs typeface="Noto Sans KR" pitchFamily="34" charset="-120"/>
                </a:rPr>
                <a:t>취소</a:t>
              </a:r>
              <a:endParaRPr lang="en-US" sz="800" dirty="0">
                <a:latin typeface="+mn-ea"/>
              </a:endParaRPr>
            </a:p>
          </p:txBody>
        </p:sp>
      </p:grpSp>
      <p:sp>
        <p:nvSpPr>
          <p:cNvPr id="131" name="Shape 45">
            <a:extLst>
              <a:ext uri="{FF2B5EF4-FFF2-40B4-BE49-F238E27FC236}">
                <a16:creationId xmlns:a16="http://schemas.microsoft.com/office/drawing/2014/main" id="{16CE3DD0-7B30-02E4-D8AF-8B2E170C5D05}"/>
              </a:ext>
            </a:extLst>
          </p:cNvPr>
          <p:cNvSpPr/>
          <p:nvPr/>
        </p:nvSpPr>
        <p:spPr>
          <a:xfrm>
            <a:off x="5542504" y="5622856"/>
            <a:ext cx="4350717" cy="489513"/>
          </a:xfrm>
          <a:prstGeom prst="roundRect">
            <a:avLst>
              <a:gd name="adj" fmla="val 22836"/>
            </a:avLst>
          </a:prstGeom>
          <a:solidFill>
            <a:srgbClr val="F5F3FF"/>
          </a:solidFill>
          <a:ln w="12699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33" name="Text 47">
            <a:extLst>
              <a:ext uri="{FF2B5EF4-FFF2-40B4-BE49-F238E27FC236}">
                <a16:creationId xmlns:a16="http://schemas.microsoft.com/office/drawing/2014/main" id="{9EDC2176-9B7A-2EC6-8B55-35CA13062E4E}"/>
              </a:ext>
            </a:extLst>
          </p:cNvPr>
          <p:cNvSpPr txBox="1"/>
          <p:nvPr/>
        </p:nvSpPr>
        <p:spPr>
          <a:xfrm>
            <a:off x="5895463" y="5708811"/>
            <a:ext cx="1439266" cy="125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C1D95"/>
                </a:solidFill>
                <a:latin typeface="+mn-ea"/>
                <a:cs typeface="Noto Sans KR" pitchFamily="34" charset="-120"/>
              </a:rPr>
              <a:t>이미지 생성 모델 테스트</a:t>
            </a:r>
            <a:endParaRPr lang="en-US" sz="800" dirty="0">
              <a:latin typeface="+mn-ea"/>
            </a:endParaRPr>
          </a:p>
        </p:txBody>
      </p:sp>
      <p:sp>
        <p:nvSpPr>
          <p:cNvPr id="134" name="Text 48">
            <a:extLst>
              <a:ext uri="{FF2B5EF4-FFF2-40B4-BE49-F238E27FC236}">
                <a16:creationId xmlns:a16="http://schemas.microsoft.com/office/drawing/2014/main" id="{8C63D463-90B7-E62A-1C2C-CD2B27562D1C}"/>
              </a:ext>
            </a:extLst>
          </p:cNvPr>
          <p:cNvSpPr txBox="1"/>
          <p:nvPr/>
        </p:nvSpPr>
        <p:spPr>
          <a:xfrm>
            <a:off x="5895463" y="5861515"/>
            <a:ext cx="1228954" cy="187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78BFA"/>
                </a:solidFill>
                <a:latin typeface="+mn-ea"/>
                <a:cs typeface="Noto Sans KR" pitchFamily="34" charset="-120"/>
              </a:rPr>
              <a:t>정원: 20명</a:t>
            </a:r>
            <a:endParaRPr lang="en-US" sz="1100" dirty="0">
              <a:latin typeface="+mn-ea"/>
            </a:endParaRPr>
          </a:p>
        </p:txBody>
      </p:sp>
      <p:sp>
        <p:nvSpPr>
          <p:cNvPr id="136" name="Shape 46">
            <a:extLst>
              <a:ext uri="{FF2B5EF4-FFF2-40B4-BE49-F238E27FC236}">
                <a16:creationId xmlns:a16="http://schemas.microsoft.com/office/drawing/2014/main" id="{483ACCD4-F64B-98E4-12A5-50105477F6E1}"/>
              </a:ext>
            </a:extLst>
          </p:cNvPr>
          <p:cNvSpPr/>
          <p:nvPr/>
        </p:nvSpPr>
        <p:spPr>
          <a:xfrm>
            <a:off x="5657300" y="5722213"/>
            <a:ext cx="152705" cy="125582"/>
          </a:xfrm>
          <a:prstGeom prst="roundRect">
            <a:avLst>
              <a:gd name="adj" fmla="val 299401"/>
            </a:avLst>
          </a:prstGeom>
          <a:solidFill>
            <a:srgbClr val="8B5CF6"/>
          </a:solidFill>
          <a:ln w="12699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32" name="Image 11" descr="preencoded.png">
            <a:extLst>
              <a:ext uri="{FF2B5EF4-FFF2-40B4-BE49-F238E27FC236}">
                <a16:creationId xmlns:a16="http://schemas.microsoft.com/office/drawing/2014/main" id="{7E664C83-C0F8-F9E6-E5AB-DFFEA3F0D12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5676649" y="5724726"/>
            <a:ext cx="133502" cy="12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6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651" cy="7563002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0696651" cy="75630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1199693"/>
            <a:ext cx="96679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GrowFit에서 </a:t>
            </a:r>
            <a:r>
              <a:rPr lang="en-US" sz="2000" b="1" dirty="0" err="1">
                <a:solidFill>
                  <a:srgbClr val="1E293B"/>
                </a:solidFill>
                <a:latin typeface="+mn-ea"/>
                <a:cs typeface="Noto Sans KR" pitchFamily="34" charset="-120"/>
              </a:rPr>
              <a:t>제공하는</a:t>
            </a:r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16가지 플랫폼 도구</a:t>
            </a:r>
            <a:endParaRPr lang="en-US" sz="2000" dirty="0">
              <a:latin typeface="+mn-ea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356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2222906"/>
            <a:ext cx="580644" cy="2569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2095" y="2197760"/>
            <a:ext cx="768095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금융/데이터</a:t>
            </a:r>
            <a:endParaRPr lang="en-US" sz="800" dirty="0">
              <a:latin typeface="+mn-ea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1184148" y="2532888"/>
            <a:ext cx="533095" cy="5330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6888" y="2656103"/>
            <a:ext cx="271424" cy="27142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79906" y="3218688"/>
            <a:ext cx="74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DART 전자공시(재무)</a:t>
            </a:r>
            <a:endParaRPr lang="en-US" sz="1100" dirty="0">
              <a:latin typeface="+mn-ea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742493" y="352318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기업의 재무제표 및 주요 재무 정보를 자동 조회</a:t>
            </a:r>
            <a:endParaRPr lang="en-US" sz="800" dirty="0">
              <a:latin typeface="+mn-ea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2520086" y="202356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874" y="2222906"/>
            <a:ext cx="580644" cy="25694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065525" y="2222906"/>
            <a:ext cx="666598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금융/데이터</a:t>
            </a:r>
            <a:endParaRPr lang="en-US" sz="800" dirty="0">
              <a:latin typeface="+mn-ea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3132734" y="2532888"/>
            <a:ext cx="533095" cy="5330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3225926" y="2651607"/>
            <a:ext cx="380010" cy="30449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3028493" y="3218688"/>
            <a:ext cx="74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DART 전자공시(공시)</a:t>
            </a:r>
            <a:endParaRPr lang="en-US" sz="1100" dirty="0">
              <a:latin typeface="+mn-ea"/>
            </a:endParaRPr>
          </a:p>
        </p:txBody>
      </p:sp>
      <p:sp>
        <p:nvSpPr>
          <p:cNvPr id="22" name="Text 13"/>
          <p:cNvSpPr txBox="1"/>
          <p:nvPr/>
        </p:nvSpPr>
        <p:spPr>
          <a:xfrm>
            <a:off x="2691994" y="352318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기업 공시 문서 목록을 검색하고 최신 공시 확인</a:t>
            </a:r>
            <a:endParaRPr lang="en-US" sz="800" dirty="0">
              <a:latin typeface="+mn-ea"/>
            </a:endParaRPr>
          </a:p>
        </p:txBody>
      </p:sp>
      <p:sp>
        <p:nvSpPr>
          <p:cNvPr id="23" name="Shape 14"/>
          <p:cNvSpPr/>
          <p:nvPr/>
        </p:nvSpPr>
        <p:spPr>
          <a:xfrm>
            <a:off x="4468673" y="202356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6807" y="2222906"/>
            <a:ext cx="523951" cy="25694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086807" y="2222906"/>
            <a:ext cx="523951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웹/정보</a:t>
            </a:r>
            <a:endParaRPr lang="en-US" sz="800" dirty="0">
              <a:latin typeface="+mn-ea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5081321" y="2532888"/>
            <a:ext cx="533095" cy="533095"/>
          </a:xfrm>
          <a:prstGeom prst="ellipse">
            <a:avLst/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28" name="Text 17"/>
          <p:cNvSpPr txBox="1"/>
          <p:nvPr/>
        </p:nvSpPr>
        <p:spPr>
          <a:xfrm>
            <a:off x="5057546" y="3218688"/>
            <a:ext cx="586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웹 검색</a:t>
            </a:r>
            <a:endParaRPr lang="en-US" sz="1100" dirty="0">
              <a:latin typeface="+mn-ea"/>
            </a:endParaRPr>
          </a:p>
        </p:txBody>
      </p:sp>
      <p:sp>
        <p:nvSpPr>
          <p:cNvPr id="29" name="Text 18"/>
          <p:cNvSpPr txBox="1"/>
          <p:nvPr/>
        </p:nvSpPr>
        <p:spPr>
          <a:xfrm>
            <a:off x="4640580" y="352318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검색 엔진을 통한 실시간 웹 정보 탐색 및 수집</a:t>
            </a:r>
            <a:endParaRPr lang="en-US" sz="800" dirty="0">
              <a:latin typeface="+mn-ea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6418174" y="202356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5394" y="2222906"/>
            <a:ext cx="523951" cy="256946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035394" y="2222906"/>
            <a:ext cx="523951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웹/정보</a:t>
            </a:r>
            <a:endParaRPr lang="en-US" sz="800" dirty="0">
              <a:latin typeface="+mn-ea"/>
            </a:endParaRPr>
          </a:p>
        </p:txBody>
      </p:sp>
      <p:sp>
        <p:nvSpPr>
          <p:cNvPr id="33" name="Shape 21"/>
          <p:cNvSpPr/>
          <p:nvPr/>
        </p:nvSpPr>
        <p:spPr>
          <a:xfrm>
            <a:off x="7029907" y="2532888"/>
            <a:ext cx="533095" cy="533095"/>
          </a:xfrm>
          <a:prstGeom prst="ellipse">
            <a:avLst/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149313" y="2664751"/>
            <a:ext cx="280949" cy="280949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6925666" y="3218688"/>
            <a:ext cx="74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위키피디아 검색</a:t>
            </a:r>
            <a:endParaRPr lang="en-US" sz="1100" dirty="0">
              <a:latin typeface="+mn-ea"/>
            </a:endParaRPr>
          </a:p>
        </p:txBody>
      </p:sp>
      <p:sp>
        <p:nvSpPr>
          <p:cNvPr id="36" name="Text 23"/>
          <p:cNvSpPr txBox="1"/>
          <p:nvPr/>
        </p:nvSpPr>
        <p:spPr>
          <a:xfrm>
            <a:off x="6589166" y="352318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위키피디아에서 개념, 인물, 사건 등 정보 검색</a:t>
            </a:r>
            <a:endParaRPr lang="en-US" sz="800" dirty="0">
              <a:latin typeface="+mn-ea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8366760" y="202356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8046" y="2222906"/>
            <a:ext cx="381305" cy="256946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058046" y="2222906"/>
            <a:ext cx="381305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웹/정보</a:t>
            </a:r>
            <a:endParaRPr lang="en-US" sz="800" dirty="0">
              <a:latin typeface="+mn-ea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8978494" y="2532888"/>
            <a:ext cx="533095" cy="5330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0"/>
          <a:srcRect t="-134" b="-134"/>
          <a:stretch/>
        </p:blipFill>
        <p:spPr>
          <a:xfrm>
            <a:off x="9083803" y="2657713"/>
            <a:ext cx="313868" cy="307914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8794699" y="3218688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웹 크롤링</a:t>
            </a:r>
            <a:endParaRPr lang="en-US" sz="1100" dirty="0">
              <a:latin typeface="+mn-ea"/>
            </a:endParaRPr>
          </a:p>
        </p:txBody>
      </p:sp>
      <p:sp>
        <p:nvSpPr>
          <p:cNvPr id="43" name="Text 28"/>
          <p:cNvSpPr txBox="1"/>
          <p:nvPr/>
        </p:nvSpPr>
        <p:spPr>
          <a:xfrm>
            <a:off x="8537753" y="352318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웹 페이지의 콘텐츠를 자동으로 수집하고 분석</a:t>
            </a:r>
            <a:endParaRPr lang="en-US" sz="800" dirty="0">
              <a:latin typeface="+mn-ea"/>
            </a:endParaRPr>
          </a:p>
        </p:txBody>
      </p:sp>
      <p:sp>
        <p:nvSpPr>
          <p:cNvPr id="44" name="Shape 29"/>
          <p:cNvSpPr/>
          <p:nvPr/>
        </p:nvSpPr>
        <p:spPr>
          <a:xfrm>
            <a:off x="571500" y="445495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2786" y="4655210"/>
            <a:ext cx="381305" cy="256946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1210665" y="4655210"/>
            <a:ext cx="479146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유틸리티</a:t>
            </a:r>
            <a:endParaRPr lang="en-US" sz="800" dirty="0">
              <a:latin typeface="+mn-ea"/>
            </a:endParaRPr>
          </a:p>
        </p:txBody>
      </p:sp>
      <p:sp>
        <p:nvSpPr>
          <p:cNvPr id="47" name="Shape 31"/>
          <p:cNvSpPr/>
          <p:nvPr/>
        </p:nvSpPr>
        <p:spPr>
          <a:xfrm>
            <a:off x="1184148" y="4964278"/>
            <a:ext cx="533095" cy="5330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49" name="Text 32"/>
          <p:cNvSpPr txBox="1"/>
          <p:nvPr/>
        </p:nvSpPr>
        <p:spPr>
          <a:xfrm>
            <a:off x="999439" y="5650078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환율 조회</a:t>
            </a:r>
            <a:endParaRPr lang="en-US" sz="1100" dirty="0">
              <a:latin typeface="+mn-ea"/>
            </a:endParaRPr>
          </a:p>
        </p:txBody>
      </p:sp>
      <p:sp>
        <p:nvSpPr>
          <p:cNvPr id="50" name="Text 33"/>
          <p:cNvSpPr txBox="1"/>
          <p:nvPr/>
        </p:nvSpPr>
        <p:spPr>
          <a:xfrm>
            <a:off x="742493" y="595457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실시간 기준 환율 정보 조회 및 화폐 변환 계산</a:t>
            </a:r>
            <a:endParaRPr lang="en-US" sz="800" dirty="0">
              <a:latin typeface="+mn-ea"/>
            </a:endParaRPr>
          </a:p>
        </p:txBody>
      </p:sp>
      <p:sp>
        <p:nvSpPr>
          <p:cNvPr id="51" name="Shape 34"/>
          <p:cNvSpPr/>
          <p:nvPr/>
        </p:nvSpPr>
        <p:spPr>
          <a:xfrm>
            <a:off x="2520086" y="445495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1081" y="4655210"/>
            <a:ext cx="485546" cy="256946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3161081" y="4655210"/>
            <a:ext cx="486461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유틸리티</a:t>
            </a:r>
            <a:endParaRPr lang="en-US" sz="800" dirty="0">
              <a:latin typeface="+mn-ea"/>
            </a:endParaRPr>
          </a:p>
        </p:txBody>
      </p:sp>
      <p:sp>
        <p:nvSpPr>
          <p:cNvPr id="54" name="Shape 36"/>
          <p:cNvSpPr/>
          <p:nvPr/>
        </p:nvSpPr>
        <p:spPr>
          <a:xfrm>
            <a:off x="3132734" y="4964278"/>
            <a:ext cx="533095" cy="533095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187827" y="5031181"/>
            <a:ext cx="446684" cy="446684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3028493" y="5650078"/>
            <a:ext cx="74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날씨 조회</a:t>
            </a:r>
            <a:endParaRPr lang="en-US" sz="1100" dirty="0">
              <a:latin typeface="+mn-ea"/>
            </a:endParaRPr>
          </a:p>
        </p:txBody>
      </p:sp>
      <p:sp>
        <p:nvSpPr>
          <p:cNvPr id="57" name="Text 38"/>
          <p:cNvSpPr txBox="1"/>
          <p:nvPr/>
        </p:nvSpPr>
        <p:spPr>
          <a:xfrm>
            <a:off x="2691994" y="595457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특정 지역의 현재 날씨 및 주간 예보를 조회</a:t>
            </a:r>
            <a:endParaRPr lang="en-US" sz="800" dirty="0">
              <a:latin typeface="+mn-ea"/>
            </a:endParaRPr>
          </a:p>
        </p:txBody>
      </p:sp>
      <p:sp>
        <p:nvSpPr>
          <p:cNvPr id="58" name="Shape 39"/>
          <p:cNvSpPr/>
          <p:nvPr/>
        </p:nvSpPr>
        <p:spPr>
          <a:xfrm>
            <a:off x="4468673" y="445495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9667" y="4655210"/>
            <a:ext cx="485546" cy="256946"/>
          </a:xfrm>
          <a:prstGeom prst="rect">
            <a:avLst/>
          </a:prstGeom>
        </p:spPr>
      </p:pic>
      <p:sp>
        <p:nvSpPr>
          <p:cNvPr id="60" name="Text 40"/>
          <p:cNvSpPr/>
          <p:nvPr/>
        </p:nvSpPr>
        <p:spPr>
          <a:xfrm>
            <a:off x="5109667" y="4655210"/>
            <a:ext cx="486461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유틸리티</a:t>
            </a:r>
            <a:endParaRPr lang="en-US" sz="800" dirty="0">
              <a:latin typeface="+mn-ea"/>
            </a:endParaRPr>
          </a:p>
        </p:txBody>
      </p:sp>
      <p:sp>
        <p:nvSpPr>
          <p:cNvPr id="61" name="Shape 41"/>
          <p:cNvSpPr/>
          <p:nvPr/>
        </p:nvSpPr>
        <p:spPr>
          <a:xfrm>
            <a:off x="5081321" y="4964278"/>
            <a:ext cx="533095" cy="533095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62" name="Image 18" descr="preencoded.png"/>
          <p:cNvPicPr>
            <a:picLocks noChangeAspect="1"/>
          </p:cNvPicPr>
          <p:nvPr/>
        </p:nvPicPr>
        <p:blipFill>
          <a:blip r:embed="rId13"/>
          <a:srcRect l="-57" r="-57"/>
          <a:stretch/>
        </p:blipFill>
        <p:spPr>
          <a:xfrm>
            <a:off x="5219167" y="5078882"/>
            <a:ext cx="261096" cy="298054"/>
          </a:xfrm>
          <a:prstGeom prst="rect">
            <a:avLst/>
          </a:prstGeom>
        </p:spPr>
      </p:pic>
      <p:sp>
        <p:nvSpPr>
          <p:cNvPr id="63" name="Text 42"/>
          <p:cNvSpPr txBox="1"/>
          <p:nvPr/>
        </p:nvSpPr>
        <p:spPr>
          <a:xfrm>
            <a:off x="4977079" y="5650078"/>
            <a:ext cx="74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계산기</a:t>
            </a:r>
            <a:endParaRPr lang="en-US" sz="1100" dirty="0">
              <a:latin typeface="+mn-ea"/>
            </a:endParaRPr>
          </a:p>
        </p:txBody>
      </p:sp>
      <p:sp>
        <p:nvSpPr>
          <p:cNvPr id="64" name="Text 43"/>
          <p:cNvSpPr txBox="1"/>
          <p:nvPr/>
        </p:nvSpPr>
        <p:spPr>
          <a:xfrm>
            <a:off x="4640580" y="595457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복잡한 수식 및 공학용 정밀 연산을 처리</a:t>
            </a:r>
            <a:endParaRPr lang="en-US" sz="800" dirty="0">
              <a:latin typeface="+mn-ea"/>
            </a:endParaRPr>
          </a:p>
        </p:txBody>
      </p:sp>
      <p:sp>
        <p:nvSpPr>
          <p:cNvPr id="65" name="Shape 44"/>
          <p:cNvSpPr/>
          <p:nvPr/>
        </p:nvSpPr>
        <p:spPr>
          <a:xfrm>
            <a:off x="6418174" y="445495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66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90588" y="4655210"/>
            <a:ext cx="619049" cy="256946"/>
          </a:xfrm>
          <a:prstGeom prst="rect">
            <a:avLst/>
          </a:prstGeom>
        </p:spPr>
      </p:pic>
      <p:sp>
        <p:nvSpPr>
          <p:cNvPr id="67" name="Text 45"/>
          <p:cNvSpPr/>
          <p:nvPr/>
        </p:nvSpPr>
        <p:spPr>
          <a:xfrm>
            <a:off x="6990588" y="4655210"/>
            <a:ext cx="619963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파일 처리</a:t>
            </a:r>
            <a:endParaRPr lang="en-US" sz="800" dirty="0">
              <a:latin typeface="+mn-ea"/>
            </a:endParaRPr>
          </a:p>
        </p:txBody>
      </p:sp>
      <p:sp>
        <p:nvSpPr>
          <p:cNvPr id="68" name="Shape 46"/>
          <p:cNvSpPr/>
          <p:nvPr/>
        </p:nvSpPr>
        <p:spPr>
          <a:xfrm>
            <a:off x="7029907" y="4964278"/>
            <a:ext cx="533095" cy="533095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163562" y="5097932"/>
            <a:ext cx="259954" cy="259954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6946697" y="5650078"/>
            <a:ext cx="705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파일 읽기</a:t>
            </a:r>
            <a:endParaRPr lang="en-US" sz="1100" dirty="0">
              <a:latin typeface="+mn-ea"/>
            </a:endParaRPr>
          </a:p>
        </p:txBody>
      </p:sp>
      <p:sp>
        <p:nvSpPr>
          <p:cNvPr id="71" name="Text 48"/>
          <p:cNvSpPr txBox="1"/>
          <p:nvPr/>
        </p:nvSpPr>
        <p:spPr>
          <a:xfrm>
            <a:off x="6589166" y="595457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업로드된 문서의 텍스트를 추출하고 분석 처리</a:t>
            </a:r>
            <a:endParaRPr lang="en-US" sz="800" dirty="0">
              <a:latin typeface="+mn-ea"/>
            </a:endParaRPr>
          </a:p>
        </p:txBody>
      </p:sp>
      <p:sp>
        <p:nvSpPr>
          <p:cNvPr id="72" name="Shape 49"/>
          <p:cNvSpPr/>
          <p:nvPr/>
        </p:nvSpPr>
        <p:spPr>
          <a:xfrm>
            <a:off x="8366760" y="445495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7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39174" y="4655210"/>
            <a:ext cx="619049" cy="256946"/>
          </a:xfrm>
          <a:prstGeom prst="rect">
            <a:avLst/>
          </a:prstGeom>
        </p:spPr>
      </p:pic>
      <p:sp>
        <p:nvSpPr>
          <p:cNvPr id="74" name="Text 50"/>
          <p:cNvSpPr/>
          <p:nvPr/>
        </p:nvSpPr>
        <p:spPr>
          <a:xfrm>
            <a:off x="8939174" y="4655210"/>
            <a:ext cx="619963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언어/학습</a:t>
            </a:r>
            <a:endParaRPr lang="en-US" sz="800" dirty="0">
              <a:latin typeface="+mn-ea"/>
            </a:endParaRPr>
          </a:p>
        </p:txBody>
      </p:sp>
      <p:sp>
        <p:nvSpPr>
          <p:cNvPr id="75" name="Shape 51"/>
          <p:cNvSpPr/>
          <p:nvPr/>
        </p:nvSpPr>
        <p:spPr>
          <a:xfrm>
            <a:off x="8978494" y="4964278"/>
            <a:ext cx="533095" cy="533095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76" name="Image 22" descr="preencoded.png"/>
          <p:cNvPicPr>
            <a:picLocks noChangeAspect="1"/>
          </p:cNvPicPr>
          <p:nvPr/>
        </p:nvPicPr>
        <p:blipFill>
          <a:blip r:embed="rId16"/>
          <a:srcRect t="-80" b="-80"/>
          <a:stretch/>
        </p:blipFill>
        <p:spPr>
          <a:xfrm>
            <a:off x="9102852" y="5116982"/>
            <a:ext cx="285293" cy="228600"/>
          </a:xfrm>
          <a:prstGeom prst="rect">
            <a:avLst/>
          </a:prstGeom>
        </p:spPr>
      </p:pic>
      <p:sp>
        <p:nvSpPr>
          <p:cNvPr id="77" name="Text 52"/>
          <p:cNvSpPr txBox="1"/>
          <p:nvPr/>
        </p:nvSpPr>
        <p:spPr>
          <a:xfrm>
            <a:off x="8794699" y="5650078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맞춤법 검사</a:t>
            </a:r>
            <a:endParaRPr lang="en-US" sz="1100" dirty="0">
              <a:latin typeface="+mn-ea"/>
            </a:endParaRPr>
          </a:p>
        </p:txBody>
      </p:sp>
      <p:sp>
        <p:nvSpPr>
          <p:cNvPr id="78" name="Text 53"/>
          <p:cNvSpPr txBox="1"/>
          <p:nvPr/>
        </p:nvSpPr>
        <p:spPr>
          <a:xfrm>
            <a:off x="8537753" y="595457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한국어 맞춤법 및 띄어쓰기 자동 검사와 교정</a:t>
            </a:r>
            <a:endParaRPr lang="en-US" sz="800" dirty="0">
              <a:latin typeface="+mn-ea"/>
            </a:endParaRPr>
          </a:p>
        </p:txBody>
      </p:sp>
      <p:sp>
        <p:nvSpPr>
          <p:cNvPr id="81" name="Text 41">
            <a:extLst>
              <a:ext uri="{FF2B5EF4-FFF2-40B4-BE49-F238E27FC236}">
                <a16:creationId xmlns:a16="http://schemas.microsoft.com/office/drawing/2014/main" id="{998C24DE-79D8-E4B5-9429-C1B6D1A3D1BE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&gt;MCP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도구 </a:t>
            </a:r>
            <a:endParaRPr lang="en-US" altLang="ko-KR" sz="1401" dirty="0">
              <a:latin typeface="+mn-ea"/>
            </a:endParaRPr>
          </a:p>
          <a:p>
            <a:pPr algn="r"/>
            <a:endParaRPr lang="en-US" altLang="ko-KR" sz="1400" dirty="0">
              <a:latin typeface="+mn-ea"/>
            </a:endParaRPr>
          </a:p>
        </p:txBody>
      </p:sp>
      <p:sp>
        <p:nvSpPr>
          <p:cNvPr id="82" name="Shape 0">
            <a:extLst>
              <a:ext uri="{FF2B5EF4-FFF2-40B4-BE49-F238E27FC236}">
                <a16:creationId xmlns:a16="http://schemas.microsoft.com/office/drawing/2014/main" id="{C90235FA-25F2-4D0E-8288-448680D64EE0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001BD50-1099-2DF5-CC8E-7EB1FB50B473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pic>
        <p:nvPicPr>
          <p:cNvPr id="5" name="Image 14" descr="preencoded.png">
            <a:extLst>
              <a:ext uri="{FF2B5EF4-FFF2-40B4-BE49-F238E27FC236}">
                <a16:creationId xmlns:a16="http://schemas.microsoft.com/office/drawing/2014/main" id="{FB7D3557-FA9E-89AC-87E7-6E050E2E94E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80" b="-80"/>
          <a:stretch/>
        </p:blipFill>
        <p:spPr>
          <a:xfrm>
            <a:off x="1307363" y="5130699"/>
            <a:ext cx="285293" cy="228600"/>
          </a:xfrm>
          <a:prstGeom prst="rect">
            <a:avLst/>
          </a:prstGeom>
        </p:spPr>
      </p:pic>
      <p:pic>
        <p:nvPicPr>
          <p:cNvPr id="6" name="Image 8" descr="preencoded.png">
            <a:extLst>
              <a:ext uri="{FF2B5EF4-FFF2-40B4-BE49-F238E27FC236}">
                <a16:creationId xmlns:a16="http://schemas.microsoft.com/office/drawing/2014/main" id="{FF4B8CD1-E48E-97C5-A1DE-9A2C27D442FD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234026" y="2684678"/>
            <a:ext cx="228600" cy="228600"/>
          </a:xfrm>
          <a:prstGeom prst="rect">
            <a:avLst/>
          </a:prstGeom>
        </p:spPr>
      </p:pic>
      <p:sp>
        <p:nvSpPr>
          <p:cNvPr id="4" name="Shape 10">
            <a:extLst>
              <a:ext uri="{FF2B5EF4-FFF2-40B4-BE49-F238E27FC236}">
                <a16:creationId xmlns:a16="http://schemas.microsoft.com/office/drawing/2014/main" id="{7FAAF71F-2CEF-D2A9-4329-C1D845ED487C}"/>
              </a:ext>
            </a:extLst>
          </p:cNvPr>
          <p:cNvSpPr/>
          <p:nvPr/>
        </p:nvSpPr>
        <p:spPr>
          <a:xfrm>
            <a:off x="569403" y="1744174"/>
            <a:ext cx="762015" cy="38421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79" name="Shape 58">
            <a:extLst>
              <a:ext uri="{FF2B5EF4-FFF2-40B4-BE49-F238E27FC236}">
                <a16:creationId xmlns:a16="http://schemas.microsoft.com/office/drawing/2014/main" id="{FA4D7576-0614-D5CA-292E-0D55E5745650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80" name="Text 59">
            <a:extLst>
              <a:ext uri="{FF2B5EF4-FFF2-40B4-BE49-F238E27FC236}">
                <a16:creationId xmlns:a16="http://schemas.microsoft.com/office/drawing/2014/main" id="{DC7D4A97-9FE7-C91C-E330-EB60E59BC36D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26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651" cy="7563002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0696651" cy="75630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1199693"/>
            <a:ext cx="96679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GrowFit에서 </a:t>
            </a:r>
            <a:r>
              <a:rPr lang="en-US" sz="2000" b="1" dirty="0" err="1">
                <a:solidFill>
                  <a:srgbClr val="1E293B"/>
                </a:solidFill>
                <a:latin typeface="+mn-ea"/>
                <a:cs typeface="Noto Sans KR" pitchFamily="34" charset="-120"/>
              </a:rPr>
              <a:t>제공하는</a:t>
            </a:r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16가지 플랫폼 도구 (계속)</a:t>
            </a:r>
            <a:endParaRPr lang="en-US" sz="2000" dirty="0">
              <a:latin typeface="+mn-ea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356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2222906"/>
            <a:ext cx="580644" cy="25694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8526" y="2231006"/>
            <a:ext cx="581558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유틸리티</a:t>
            </a:r>
            <a:endParaRPr lang="en-US" sz="800" dirty="0">
              <a:latin typeface="+mn-ea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1184148" y="2532888"/>
            <a:ext cx="533095" cy="5330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06367" y="2667797"/>
            <a:ext cx="287614" cy="28761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22756" y="3218688"/>
            <a:ext cx="853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QR 코드 생성</a:t>
            </a:r>
            <a:endParaRPr lang="en-US" sz="1100" dirty="0">
              <a:latin typeface="+mn-ea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742493" y="352318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텍스트, URL 등을 QR </a:t>
            </a:r>
            <a:r>
              <a:rPr lang="en-US" sz="8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코드</a:t>
            </a: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이미지로</a:t>
            </a: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빠르게 변환</a:t>
            </a:r>
            <a:endParaRPr lang="en-US" sz="800" dirty="0">
              <a:latin typeface="+mn-ea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2520086" y="202356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874" y="2222906"/>
            <a:ext cx="580644" cy="25694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109874" y="2222906"/>
            <a:ext cx="581558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유틸리티</a:t>
            </a:r>
            <a:endParaRPr lang="en-US" sz="800" dirty="0">
              <a:latin typeface="+mn-ea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3132734" y="2532888"/>
            <a:ext cx="533095" cy="5330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3256178" y="2684678"/>
            <a:ext cx="285293" cy="2286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3028493" y="3218688"/>
            <a:ext cx="74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날짜/시간 조회</a:t>
            </a:r>
            <a:endParaRPr lang="en-US" sz="1100" dirty="0">
              <a:latin typeface="+mn-ea"/>
            </a:endParaRPr>
          </a:p>
        </p:txBody>
      </p:sp>
      <p:sp>
        <p:nvSpPr>
          <p:cNvPr id="22" name="Text 13"/>
          <p:cNvSpPr txBox="1"/>
          <p:nvPr/>
        </p:nvSpPr>
        <p:spPr>
          <a:xfrm>
            <a:off x="2691994" y="352318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전 세계 도시의 현재 </a:t>
            </a:r>
            <a:r>
              <a:rPr lang="en-US" sz="8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날짜와</a:t>
            </a: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시각을</a:t>
            </a: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실시간 확인</a:t>
            </a:r>
            <a:endParaRPr lang="en-US" sz="800" dirty="0">
              <a:latin typeface="+mn-ea"/>
            </a:endParaRPr>
          </a:p>
        </p:txBody>
      </p:sp>
      <p:sp>
        <p:nvSpPr>
          <p:cNvPr id="23" name="Shape 14"/>
          <p:cNvSpPr/>
          <p:nvPr/>
        </p:nvSpPr>
        <p:spPr>
          <a:xfrm>
            <a:off x="4468673" y="202356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6807" y="2222906"/>
            <a:ext cx="523951" cy="25694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086807" y="2222906"/>
            <a:ext cx="523951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언어/학습</a:t>
            </a:r>
            <a:endParaRPr lang="en-US" sz="800" dirty="0">
              <a:latin typeface="+mn-ea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5081321" y="2532888"/>
            <a:ext cx="533095" cy="533095"/>
          </a:xfrm>
          <a:prstGeom prst="ellipse">
            <a:avLst/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234026" y="2684678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5057546" y="3218688"/>
            <a:ext cx="586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단어장</a:t>
            </a:r>
            <a:endParaRPr lang="en-US" sz="1100" dirty="0">
              <a:latin typeface="+mn-ea"/>
            </a:endParaRPr>
          </a:p>
        </p:txBody>
      </p:sp>
      <p:sp>
        <p:nvSpPr>
          <p:cNvPr id="29" name="Text 18"/>
          <p:cNvSpPr txBox="1"/>
          <p:nvPr/>
        </p:nvSpPr>
        <p:spPr>
          <a:xfrm>
            <a:off x="4640580" y="352318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중 중요한 단어를 저장하고 복습하는 단어장</a:t>
            </a:r>
            <a:endParaRPr lang="en-US" sz="800" dirty="0">
              <a:latin typeface="+mn-ea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6418174" y="202356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5394" y="2222906"/>
            <a:ext cx="523951" cy="256946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035394" y="2222906"/>
            <a:ext cx="523951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언어/학습</a:t>
            </a:r>
            <a:endParaRPr lang="en-US" sz="800" dirty="0">
              <a:latin typeface="+mn-ea"/>
            </a:endParaRPr>
          </a:p>
        </p:txBody>
      </p:sp>
      <p:sp>
        <p:nvSpPr>
          <p:cNvPr id="33" name="Shape 21"/>
          <p:cNvSpPr/>
          <p:nvPr/>
        </p:nvSpPr>
        <p:spPr>
          <a:xfrm>
            <a:off x="7029907" y="2532888"/>
            <a:ext cx="533095" cy="533095"/>
          </a:xfrm>
          <a:prstGeom prst="ellipse">
            <a:avLst/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182612" y="2684678"/>
            <a:ext cx="228600" cy="22860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6925666" y="3218688"/>
            <a:ext cx="74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퀴즈 생성</a:t>
            </a:r>
            <a:endParaRPr lang="en-US" sz="1100" dirty="0">
              <a:latin typeface="+mn-ea"/>
            </a:endParaRPr>
          </a:p>
        </p:txBody>
      </p:sp>
      <p:sp>
        <p:nvSpPr>
          <p:cNvPr id="36" name="Text 23"/>
          <p:cNvSpPr txBox="1"/>
          <p:nvPr/>
        </p:nvSpPr>
        <p:spPr>
          <a:xfrm>
            <a:off x="6589166" y="3523183"/>
            <a:ext cx="1420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내용 기반의 </a:t>
            </a:r>
            <a:r>
              <a:rPr lang="en-US" sz="8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퀴즈를</a:t>
            </a: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자동으로</a:t>
            </a: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생성 제공</a:t>
            </a:r>
            <a:endParaRPr lang="en-US" sz="800" dirty="0">
              <a:latin typeface="+mn-ea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8366760" y="2023567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8046" y="2222906"/>
            <a:ext cx="381305" cy="256946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8934221" y="2222906"/>
            <a:ext cx="647395" cy="25786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언어/학습</a:t>
            </a:r>
            <a:endParaRPr lang="en-US" sz="800" dirty="0">
              <a:latin typeface="+mn-ea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8978494" y="2532888"/>
            <a:ext cx="533095" cy="5330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1"/>
          <a:srcRect t="-134" b="-134"/>
          <a:stretch/>
        </p:blipFill>
        <p:spPr>
          <a:xfrm>
            <a:off x="9159545" y="2659422"/>
            <a:ext cx="230663" cy="308373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8794699" y="3218688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문법 교정</a:t>
            </a:r>
            <a:endParaRPr lang="en-US" sz="1100" dirty="0">
              <a:latin typeface="+mn-ea"/>
            </a:endParaRPr>
          </a:p>
        </p:txBody>
      </p:sp>
      <p:sp>
        <p:nvSpPr>
          <p:cNvPr id="43" name="Text 28"/>
          <p:cNvSpPr txBox="1"/>
          <p:nvPr/>
        </p:nvSpPr>
        <p:spPr>
          <a:xfrm>
            <a:off x="8509178" y="3523183"/>
            <a:ext cx="15206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한국어 문법 오류를 자동 탐지하고 교정을 제안</a:t>
            </a:r>
            <a:endParaRPr lang="en-US" sz="800" dirty="0">
              <a:latin typeface="+mn-ea"/>
            </a:endParaRPr>
          </a:p>
        </p:txBody>
      </p:sp>
      <p:sp>
        <p:nvSpPr>
          <p:cNvPr id="901" name="Shape chart_bg"/>
          <p:cNvSpPr/>
          <p:nvPr/>
        </p:nvSpPr>
        <p:spPr>
          <a:xfrm>
            <a:off x="571500" y="4371162"/>
            <a:ext cx="1762049" cy="2247595"/>
          </a:xfrm>
          <a:prstGeom prst="roundRect">
            <a:avLst>
              <a:gd name="adj" fmla="val 33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903" name="Shape chart_circle"/>
          <p:cNvSpPr/>
          <p:nvPr/>
        </p:nvSpPr>
        <p:spPr>
          <a:xfrm>
            <a:off x="1168994" y="4881777"/>
            <a:ext cx="533095" cy="5330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904" name="Image chart_icon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8664" y="5009083"/>
            <a:ext cx="305317" cy="305317"/>
          </a:xfrm>
          <a:prstGeom prst="rect">
            <a:avLst/>
          </a:prstGeom>
        </p:spPr>
      </p:pic>
      <p:sp>
        <p:nvSpPr>
          <p:cNvPr id="906" name="Text chart_name"/>
          <p:cNvSpPr txBox="1"/>
          <p:nvPr/>
        </p:nvSpPr>
        <p:spPr>
          <a:xfrm>
            <a:off x="913774" y="5467105"/>
            <a:ext cx="1091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차트 시각화</a:t>
            </a:r>
            <a:endParaRPr lang="en-US" sz="1100" dirty="0">
              <a:latin typeface="+mn-ea"/>
            </a:endParaRPr>
          </a:p>
        </p:txBody>
      </p:sp>
      <p:sp>
        <p:nvSpPr>
          <p:cNvPr id="907" name="Text chart_desc"/>
          <p:cNvSpPr txBox="1"/>
          <p:nvPr/>
        </p:nvSpPr>
        <p:spPr>
          <a:xfrm>
            <a:off x="571500" y="5771600"/>
            <a:ext cx="17620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데이터를 차트로 시각화하여 분석 및 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인사이트</a:t>
            </a: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도출</a:t>
            </a:r>
            <a:endParaRPr lang="en-US" sz="800" dirty="0">
              <a:latin typeface="+mn-ea"/>
            </a:endParaRP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52F4D29D-66EF-93F0-34FF-D0484E0D1C73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&gt;MCP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도구 </a:t>
            </a:r>
            <a:endParaRPr lang="en-US" altLang="ko-KR" sz="1401" dirty="0">
              <a:latin typeface="+mn-ea"/>
            </a:endParaRPr>
          </a:p>
          <a:p>
            <a:pPr algn="r"/>
            <a:endParaRPr lang="en-US" altLang="ko-KR" sz="1400" dirty="0">
              <a:latin typeface="+mn-ea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459AF9C6-6137-3BA7-1DDB-9C7F09B59495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AE379F8A-6DBD-70E8-7509-02377A3C3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4561178"/>
            <a:ext cx="580644" cy="25694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60ACD35-82BF-5314-2379-CBF093054EF5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sp>
        <p:nvSpPr>
          <p:cNvPr id="902" name="Text chart_cat"/>
          <p:cNvSpPr/>
          <p:nvPr/>
        </p:nvSpPr>
        <p:spPr>
          <a:xfrm>
            <a:off x="1152525" y="4571495"/>
            <a:ext cx="580644" cy="256946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시각화</a:t>
            </a:r>
            <a:endParaRPr lang="en-US" sz="800" dirty="0">
              <a:latin typeface="+mn-ea"/>
            </a:endParaRP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75E54428-D13B-9B97-E97C-8BFADACE0097}"/>
              </a:ext>
            </a:extLst>
          </p:cNvPr>
          <p:cNvSpPr/>
          <p:nvPr/>
        </p:nvSpPr>
        <p:spPr>
          <a:xfrm>
            <a:off x="569403" y="1744174"/>
            <a:ext cx="762015" cy="38421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51" name="Shape 58">
            <a:extLst>
              <a:ext uri="{FF2B5EF4-FFF2-40B4-BE49-F238E27FC236}">
                <a16:creationId xmlns:a16="http://schemas.microsoft.com/office/drawing/2014/main" id="{FA4D7576-0614-D5CA-292E-0D55E5745650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52" name="Text 59">
            <a:extLst>
              <a:ext uri="{FF2B5EF4-FFF2-40B4-BE49-F238E27FC236}">
                <a16:creationId xmlns:a16="http://schemas.microsoft.com/office/drawing/2014/main" id="{DC7D4A97-9FE7-C91C-E330-EB60E59BC36D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27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 txBox="1"/>
          <p:nvPr/>
        </p:nvSpPr>
        <p:spPr>
          <a:xfrm>
            <a:off x="571500" y="1199693"/>
            <a:ext cx="97447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목적별로 선택하는 7가지 MCP 템플릿</a:t>
            </a:r>
            <a:endParaRPr lang="en-US" sz="2000" dirty="0">
              <a:latin typeface="+mn-ea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14423"/>
            <a:ext cx="2276856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733349" y="2176272"/>
            <a:ext cx="399593" cy="399593"/>
          </a:xfrm>
          <a:prstGeom prst="roundRect">
            <a:avLst>
              <a:gd name="adj" fmla="val 4358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rcRect l="-1374" r="-1374"/>
          <a:stretch/>
        </p:blipFill>
        <p:spPr>
          <a:xfrm>
            <a:off x="790498" y="2215040"/>
            <a:ext cx="285293" cy="317331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48156" y="2285086"/>
            <a:ext cx="11713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학습 도우미</a:t>
            </a:r>
            <a:endParaRPr lang="en-US" sz="1100" dirty="0">
              <a:latin typeface="+mn-ea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733349" y="2690165"/>
            <a:ext cx="1950415" cy="91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33349" y="2795321"/>
            <a:ext cx="20290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수업 내용을 이해하고 학습을 보조하는 도구 세트입니다. 웹 검색, 계산기, 날짜/시간 조회를 활용합니다.</a:t>
            </a:r>
            <a:endParaRPr lang="en-US" sz="800" dirty="0">
              <a:latin typeface="+mn-ea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733349" y="3547872"/>
            <a:ext cx="210952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권장 도구</a:t>
            </a:r>
            <a:endParaRPr lang="en-US" sz="800" dirty="0">
              <a:latin typeface="+mn-ea"/>
            </a:endParaRPr>
          </a:p>
        </p:txBody>
      </p:sp>
      <p:grpSp>
        <p:nvGrpSpPr>
          <p:cNvPr id="906" name="그룹 905">
            <a:extLst>
              <a:ext uri="{FF2B5EF4-FFF2-40B4-BE49-F238E27FC236}">
                <a16:creationId xmlns:a16="http://schemas.microsoft.com/office/drawing/2014/main" id="{C755FF7F-D8CD-EFB1-B1BE-19419628FBEA}"/>
              </a:ext>
            </a:extLst>
          </p:cNvPr>
          <p:cNvGrpSpPr/>
          <p:nvPr/>
        </p:nvGrpSpPr>
        <p:grpSpPr>
          <a:xfrm>
            <a:off x="733349" y="3728923"/>
            <a:ext cx="400507" cy="219456"/>
            <a:chOff x="733349" y="3728923"/>
            <a:chExt cx="400507" cy="219456"/>
          </a:xfrm>
        </p:grpSpPr>
        <p:pic>
          <p:nvPicPr>
            <p:cNvPr id="16" name="Image 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3349" y="3728923"/>
              <a:ext cx="399593" cy="219456"/>
            </a:xfrm>
            <a:prstGeom prst="rect">
              <a:avLst/>
            </a:prstGeom>
          </p:spPr>
        </p:pic>
        <p:sp>
          <p:nvSpPr>
            <p:cNvPr id="17" name="Text 9"/>
            <p:cNvSpPr/>
            <p:nvPr/>
          </p:nvSpPr>
          <p:spPr>
            <a:xfrm>
              <a:off x="733349" y="3728923"/>
              <a:ext cx="400507" cy="21945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E2E8F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웹 검색</a:t>
              </a:r>
              <a:endParaRPr lang="en-US" sz="800" dirty="0">
                <a:latin typeface="+mn-ea"/>
              </a:endParaRPr>
            </a:p>
          </p:txBody>
        </p:sp>
      </p:grp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689" y="3728923"/>
            <a:ext cx="399593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167689" y="3728923"/>
            <a:ext cx="617220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날짜/시간</a:t>
            </a:r>
            <a:endParaRPr lang="en-US" sz="800" dirty="0">
              <a:latin typeface="+mn-ea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2998318" y="2014423"/>
            <a:ext cx="2276856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23" name="Text 13"/>
          <p:cNvSpPr txBox="1"/>
          <p:nvPr/>
        </p:nvSpPr>
        <p:spPr>
          <a:xfrm>
            <a:off x="3712159" y="2285086"/>
            <a:ext cx="13368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리서치</a:t>
            </a:r>
            <a:endParaRPr lang="en-US" sz="1100" dirty="0">
              <a:latin typeface="+mn-ea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3160166" y="2690165"/>
            <a:ext cx="1950415" cy="9144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3160166" y="2795321"/>
            <a:ext cx="20290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정보 수집과 분석을 위한 도구 세트입니다. 웹 검색, 웹 크롤링, 파일 읽기를 활용합니다.</a:t>
            </a:r>
            <a:endParaRPr lang="en-US" sz="800" dirty="0">
              <a:latin typeface="+mn-ea"/>
            </a:endParaRPr>
          </a:p>
        </p:txBody>
      </p:sp>
      <p:sp>
        <p:nvSpPr>
          <p:cNvPr id="26" name="Text 15"/>
          <p:cNvSpPr txBox="1"/>
          <p:nvPr/>
        </p:nvSpPr>
        <p:spPr>
          <a:xfrm>
            <a:off x="3160166" y="3547872"/>
            <a:ext cx="210952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권장 도구</a:t>
            </a:r>
            <a:endParaRPr lang="en-US" sz="800" dirty="0">
              <a:latin typeface="+mn-ea"/>
            </a:endParaRPr>
          </a:p>
        </p:txBody>
      </p:sp>
      <p:grpSp>
        <p:nvGrpSpPr>
          <p:cNvPr id="910" name="그룹 909">
            <a:extLst>
              <a:ext uri="{FF2B5EF4-FFF2-40B4-BE49-F238E27FC236}">
                <a16:creationId xmlns:a16="http://schemas.microsoft.com/office/drawing/2014/main" id="{952CDAFC-B975-1F6C-E4C0-835978E92A10}"/>
              </a:ext>
            </a:extLst>
          </p:cNvPr>
          <p:cNvGrpSpPr/>
          <p:nvPr/>
        </p:nvGrpSpPr>
        <p:grpSpPr>
          <a:xfrm>
            <a:off x="3620110" y="3737610"/>
            <a:ext cx="590702" cy="229514"/>
            <a:chOff x="3989527" y="3718865"/>
            <a:chExt cx="590702" cy="229514"/>
          </a:xfrm>
        </p:grpSpPr>
        <p:pic>
          <p:nvPicPr>
            <p:cNvPr id="29" name="Image 10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89527" y="3728923"/>
              <a:ext cx="590702" cy="219456"/>
            </a:xfrm>
            <a:prstGeom prst="rect">
              <a:avLst/>
            </a:prstGeom>
          </p:spPr>
        </p:pic>
        <p:sp>
          <p:nvSpPr>
            <p:cNvPr id="30" name="Text 17"/>
            <p:cNvSpPr/>
            <p:nvPr/>
          </p:nvSpPr>
          <p:spPr>
            <a:xfrm>
              <a:off x="3989527" y="3718865"/>
              <a:ext cx="590702" cy="21945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E2E8F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웹 크롤링</a:t>
              </a:r>
              <a:endParaRPr lang="en-US" sz="800" dirty="0">
                <a:latin typeface="+mn-ea"/>
              </a:endParaRPr>
            </a:p>
          </p:txBody>
        </p:sp>
      </p:grpSp>
      <p:grpSp>
        <p:nvGrpSpPr>
          <p:cNvPr id="911" name="그룹 910">
            <a:extLst>
              <a:ext uri="{FF2B5EF4-FFF2-40B4-BE49-F238E27FC236}">
                <a16:creationId xmlns:a16="http://schemas.microsoft.com/office/drawing/2014/main" id="{3470DA28-FF64-68AB-9BD7-A30579E852E9}"/>
              </a:ext>
            </a:extLst>
          </p:cNvPr>
          <p:cNvGrpSpPr/>
          <p:nvPr/>
        </p:nvGrpSpPr>
        <p:grpSpPr>
          <a:xfrm>
            <a:off x="4285726" y="3728923"/>
            <a:ext cx="650875" cy="228981"/>
            <a:chOff x="4709390" y="3728923"/>
            <a:chExt cx="650875" cy="228981"/>
          </a:xfrm>
        </p:grpSpPr>
        <p:pic>
          <p:nvPicPr>
            <p:cNvPr id="901" name="Image R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09390" y="3728923"/>
              <a:ext cx="650875" cy="219456"/>
            </a:xfrm>
            <a:prstGeom prst="rect">
              <a:avLst/>
            </a:prstGeom>
          </p:spPr>
        </p:pic>
        <p:sp>
          <p:nvSpPr>
            <p:cNvPr id="902" name="Text R3"/>
            <p:cNvSpPr/>
            <p:nvPr/>
          </p:nvSpPr>
          <p:spPr>
            <a:xfrm>
              <a:off x="4709390" y="3738448"/>
              <a:ext cx="650875" cy="21945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E2E8F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파일 읽기</a:t>
              </a:r>
              <a:endParaRPr lang="en-US" sz="800" dirty="0">
                <a:latin typeface="+mn-ea"/>
              </a:endParaRPr>
            </a:p>
          </p:txBody>
        </p:sp>
      </p:grpSp>
      <p:sp>
        <p:nvSpPr>
          <p:cNvPr id="31" name="Shape 18"/>
          <p:cNvSpPr/>
          <p:nvPr/>
        </p:nvSpPr>
        <p:spPr>
          <a:xfrm>
            <a:off x="5424221" y="2014423"/>
            <a:ext cx="2276856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32" name="Shape 19"/>
          <p:cNvSpPr/>
          <p:nvPr/>
        </p:nvSpPr>
        <p:spPr>
          <a:xfrm>
            <a:off x="5586070" y="2176272"/>
            <a:ext cx="399593" cy="399593"/>
          </a:xfrm>
          <a:prstGeom prst="roundRect">
            <a:avLst>
              <a:gd name="adj" fmla="val 43587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3" name="Image 11" descr="preencoded.png"/>
          <p:cNvPicPr preferRelativeResize="0">
            <a:picLocks/>
          </p:cNvPicPr>
          <p:nvPr/>
        </p:nvPicPr>
        <p:blipFill>
          <a:blip r:embed="rId8"/>
          <a:srcRect l="-1282" r="-1282"/>
          <a:stretch/>
        </p:blipFill>
        <p:spPr>
          <a:xfrm>
            <a:off x="5650230" y="2238071"/>
            <a:ext cx="285979" cy="262982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072302" y="2285086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코딩 연습</a:t>
            </a:r>
            <a:endParaRPr lang="en-US" sz="1100" dirty="0">
              <a:latin typeface="+mn-ea"/>
            </a:endParaRPr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5586070" y="2690165"/>
            <a:ext cx="1950415" cy="9144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5586070" y="2795321"/>
            <a:ext cx="20290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프로그래밍 학습을 돕는 도구 세트입니다. 계산기, 웹 검색, 날짜/시간 조회를 활용합니다.</a:t>
            </a:r>
            <a:endParaRPr lang="en-US" sz="800" dirty="0">
              <a:latin typeface="+mn-ea"/>
            </a:endParaRPr>
          </a:p>
        </p:txBody>
      </p:sp>
      <p:sp>
        <p:nvSpPr>
          <p:cNvPr id="37" name="Text 22"/>
          <p:cNvSpPr txBox="1"/>
          <p:nvPr/>
        </p:nvSpPr>
        <p:spPr>
          <a:xfrm>
            <a:off x="5586070" y="3547872"/>
            <a:ext cx="210952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권장 도구</a:t>
            </a:r>
            <a:endParaRPr lang="en-US" sz="800" dirty="0">
              <a:latin typeface="+mn-ea"/>
            </a:endParaRPr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6070" y="3728923"/>
            <a:ext cx="513893" cy="219456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5586070" y="3728923"/>
            <a:ext cx="514807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계산기</a:t>
            </a:r>
            <a:endParaRPr lang="en-US" sz="800" dirty="0">
              <a:latin typeface="+mn-ea"/>
            </a:endParaRPr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4710" y="3728923"/>
            <a:ext cx="513893" cy="219456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134710" y="3728923"/>
            <a:ext cx="514807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웹 검색</a:t>
            </a:r>
            <a:endParaRPr lang="en-US" sz="800" dirty="0">
              <a:latin typeface="+mn-ea"/>
            </a:endParaRPr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3350" y="3728923"/>
            <a:ext cx="314554" cy="219456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6683350" y="3728923"/>
            <a:ext cx="533096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날짜/시간</a:t>
            </a:r>
            <a:endParaRPr lang="en-US" sz="800" dirty="0">
              <a:latin typeface="+mn-ea"/>
            </a:endParaRPr>
          </a:p>
        </p:txBody>
      </p:sp>
      <p:sp>
        <p:nvSpPr>
          <p:cNvPr id="44" name="Shape 26"/>
          <p:cNvSpPr/>
          <p:nvPr/>
        </p:nvSpPr>
        <p:spPr>
          <a:xfrm>
            <a:off x="7851038" y="2014423"/>
            <a:ext cx="2276856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45" name="Shape 27"/>
          <p:cNvSpPr/>
          <p:nvPr/>
        </p:nvSpPr>
        <p:spPr>
          <a:xfrm>
            <a:off x="8012887" y="2176272"/>
            <a:ext cx="399593" cy="399593"/>
          </a:xfrm>
          <a:prstGeom prst="roundRect">
            <a:avLst>
              <a:gd name="adj" fmla="val 4358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94200" y="2238336"/>
            <a:ext cx="236966" cy="236966"/>
          </a:xfrm>
          <a:prstGeom prst="rect">
            <a:avLst/>
          </a:prstGeom>
        </p:spPr>
      </p:pic>
      <p:sp>
        <p:nvSpPr>
          <p:cNvPr id="47" name="Text 28"/>
          <p:cNvSpPr txBox="1"/>
          <p:nvPr/>
        </p:nvSpPr>
        <p:spPr>
          <a:xfrm>
            <a:off x="8526780" y="2285086"/>
            <a:ext cx="1334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글쓰기</a:t>
            </a:r>
            <a:endParaRPr lang="en-US" sz="1100" dirty="0">
              <a:latin typeface="+mn-ea"/>
            </a:endParaRPr>
          </a:p>
        </p:txBody>
      </p:sp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8012887" y="2690165"/>
            <a:ext cx="1950415" cy="9144"/>
          </a:xfrm>
          <a:prstGeom prst="rect">
            <a:avLst/>
          </a:prstGeom>
        </p:spPr>
      </p:pic>
      <p:sp>
        <p:nvSpPr>
          <p:cNvPr id="49" name="Text 29"/>
          <p:cNvSpPr txBox="1"/>
          <p:nvPr/>
        </p:nvSpPr>
        <p:spPr>
          <a:xfrm>
            <a:off x="8012887" y="2795321"/>
            <a:ext cx="20290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작문과 에세이 작성을 돕는 도구 세트입니다. 웹 검색과 파일 읽기를 활용합니다.</a:t>
            </a:r>
            <a:endParaRPr lang="en-US" sz="800" dirty="0">
              <a:latin typeface="+mn-ea"/>
            </a:endParaRPr>
          </a:p>
        </p:txBody>
      </p:sp>
      <p:sp>
        <p:nvSpPr>
          <p:cNvPr id="50" name="Text 30"/>
          <p:cNvSpPr txBox="1"/>
          <p:nvPr/>
        </p:nvSpPr>
        <p:spPr>
          <a:xfrm>
            <a:off x="8012887" y="3547872"/>
            <a:ext cx="210952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권장 도구</a:t>
            </a:r>
            <a:endParaRPr lang="en-US" sz="800" dirty="0">
              <a:latin typeface="+mn-ea"/>
            </a:endParaRPr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2887" y="3728923"/>
            <a:ext cx="513893" cy="219456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8012887" y="3728923"/>
            <a:ext cx="514807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웹 검색</a:t>
            </a:r>
            <a:endParaRPr lang="en-US" sz="800" dirty="0">
              <a:latin typeface="+mn-ea"/>
            </a:endParaRPr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64270" y="3728923"/>
            <a:ext cx="666598" cy="219456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8564270" y="3728923"/>
            <a:ext cx="667512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파일 읽기</a:t>
            </a:r>
            <a:endParaRPr lang="en-US" sz="800" dirty="0">
              <a:latin typeface="+mn-ea"/>
            </a:endParaRPr>
          </a:p>
        </p:txBody>
      </p:sp>
      <p:sp>
        <p:nvSpPr>
          <p:cNvPr id="57" name="Shape 34"/>
          <p:cNvSpPr/>
          <p:nvPr/>
        </p:nvSpPr>
        <p:spPr>
          <a:xfrm>
            <a:off x="1784909" y="4262018"/>
            <a:ext cx="2276856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58" name="Shape 35"/>
          <p:cNvSpPr/>
          <p:nvPr/>
        </p:nvSpPr>
        <p:spPr>
          <a:xfrm>
            <a:off x="1946758" y="4423867"/>
            <a:ext cx="399593" cy="399593"/>
          </a:xfrm>
          <a:prstGeom prst="roundRect">
            <a:avLst>
              <a:gd name="adj" fmla="val 43587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59" name="Image 21" descr="preencoded.png"/>
          <p:cNvPicPr preferRelativeResize="0">
            <a:picLocks/>
          </p:cNvPicPr>
          <p:nvPr/>
        </p:nvPicPr>
        <p:blipFill>
          <a:blip r:embed="rId13"/>
          <a:srcRect/>
          <a:stretch/>
        </p:blipFill>
        <p:spPr>
          <a:xfrm>
            <a:off x="2024672" y="4504336"/>
            <a:ext cx="243763" cy="253288"/>
          </a:xfrm>
          <a:prstGeom prst="rect">
            <a:avLst/>
          </a:prstGeom>
        </p:spPr>
      </p:pic>
      <p:sp>
        <p:nvSpPr>
          <p:cNvPr id="60" name="Text 36"/>
          <p:cNvSpPr txBox="1"/>
          <p:nvPr/>
        </p:nvSpPr>
        <p:spPr>
          <a:xfrm>
            <a:off x="2460650" y="4532681"/>
            <a:ext cx="747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수학/과학</a:t>
            </a:r>
            <a:endParaRPr lang="en-US" sz="1100" dirty="0">
              <a:latin typeface="+mn-ea"/>
            </a:endParaRPr>
          </a:p>
        </p:txBody>
      </p:sp>
      <p:pic>
        <p:nvPicPr>
          <p:cNvPr id="61" name="Image 22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1946758" y="4938674"/>
            <a:ext cx="1950415" cy="9144"/>
          </a:xfrm>
          <a:prstGeom prst="rect">
            <a:avLst/>
          </a:prstGeom>
        </p:spPr>
      </p:pic>
      <p:sp>
        <p:nvSpPr>
          <p:cNvPr id="62" name="Text 37"/>
          <p:cNvSpPr txBox="1"/>
          <p:nvPr/>
        </p:nvSpPr>
        <p:spPr>
          <a:xfrm>
            <a:off x="1946758" y="5042916"/>
            <a:ext cx="20290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수학 계산과 과학 탐구를 위한 도구 세트입니다. 계산기와 웹 검색을 활용합니다.</a:t>
            </a:r>
            <a:endParaRPr lang="en-US" sz="800" dirty="0">
              <a:latin typeface="+mn-ea"/>
            </a:endParaRPr>
          </a:p>
        </p:txBody>
      </p:sp>
      <p:sp>
        <p:nvSpPr>
          <p:cNvPr id="63" name="Text 38"/>
          <p:cNvSpPr txBox="1"/>
          <p:nvPr/>
        </p:nvSpPr>
        <p:spPr>
          <a:xfrm>
            <a:off x="1946758" y="5795467"/>
            <a:ext cx="210952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권장 도구</a:t>
            </a:r>
            <a:endParaRPr lang="en-US" sz="800" dirty="0">
              <a:latin typeface="+mn-ea"/>
            </a:endParaRPr>
          </a:p>
        </p:txBody>
      </p:sp>
      <p:grpSp>
        <p:nvGrpSpPr>
          <p:cNvPr id="914" name="그룹 913">
            <a:extLst>
              <a:ext uri="{FF2B5EF4-FFF2-40B4-BE49-F238E27FC236}">
                <a16:creationId xmlns:a16="http://schemas.microsoft.com/office/drawing/2014/main" id="{B8766ADE-7C98-F12A-0FCD-ED7C7BDEB64A}"/>
              </a:ext>
            </a:extLst>
          </p:cNvPr>
          <p:cNvGrpSpPr/>
          <p:nvPr/>
        </p:nvGrpSpPr>
        <p:grpSpPr>
          <a:xfrm>
            <a:off x="1946758" y="5976518"/>
            <a:ext cx="513892" cy="219456"/>
            <a:chOff x="1946758" y="5976518"/>
            <a:chExt cx="648310" cy="219456"/>
          </a:xfrm>
        </p:grpSpPr>
        <p:pic>
          <p:nvPicPr>
            <p:cNvPr id="64" name="Image 2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46758" y="5976518"/>
              <a:ext cx="647395" cy="219456"/>
            </a:xfrm>
            <a:prstGeom prst="rect">
              <a:avLst/>
            </a:prstGeom>
          </p:spPr>
        </p:pic>
        <p:sp>
          <p:nvSpPr>
            <p:cNvPr id="65" name="Text 39"/>
            <p:cNvSpPr/>
            <p:nvPr/>
          </p:nvSpPr>
          <p:spPr>
            <a:xfrm>
              <a:off x="1946758" y="5976518"/>
              <a:ext cx="648310" cy="21945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E2E8F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계산기</a:t>
              </a:r>
              <a:endParaRPr lang="en-US" sz="800" dirty="0">
                <a:latin typeface="+mn-ea"/>
              </a:endParaRPr>
            </a:p>
          </p:txBody>
        </p:sp>
      </p:grpSp>
      <p:grpSp>
        <p:nvGrpSpPr>
          <p:cNvPr id="913" name="그룹 912">
            <a:extLst>
              <a:ext uri="{FF2B5EF4-FFF2-40B4-BE49-F238E27FC236}">
                <a16:creationId xmlns:a16="http://schemas.microsoft.com/office/drawing/2014/main" id="{B6C583AC-F78F-FAF0-62BD-AE13B948FF89}"/>
              </a:ext>
            </a:extLst>
          </p:cNvPr>
          <p:cNvGrpSpPr/>
          <p:nvPr/>
        </p:nvGrpSpPr>
        <p:grpSpPr>
          <a:xfrm>
            <a:off x="2506828" y="5976518"/>
            <a:ext cx="543153" cy="219456"/>
            <a:chOff x="2628900" y="5976518"/>
            <a:chExt cx="695858" cy="219456"/>
          </a:xfrm>
        </p:grpSpPr>
        <p:pic>
          <p:nvPicPr>
            <p:cNvPr id="66" name="Image 24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628900" y="5976518"/>
              <a:ext cx="694944" cy="219456"/>
            </a:xfrm>
            <a:prstGeom prst="rect">
              <a:avLst/>
            </a:prstGeom>
          </p:spPr>
        </p:pic>
        <p:sp>
          <p:nvSpPr>
            <p:cNvPr id="67" name="Text 40"/>
            <p:cNvSpPr/>
            <p:nvPr/>
          </p:nvSpPr>
          <p:spPr>
            <a:xfrm>
              <a:off x="2628900" y="5976518"/>
              <a:ext cx="695858" cy="21945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E2E8F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웹 검색</a:t>
              </a:r>
              <a:endParaRPr lang="en-US" sz="800" dirty="0">
                <a:latin typeface="+mn-ea"/>
              </a:endParaRPr>
            </a:p>
          </p:txBody>
        </p:sp>
      </p:grpSp>
      <p:sp>
        <p:nvSpPr>
          <p:cNvPr id="68" name="Shape 41"/>
          <p:cNvSpPr/>
          <p:nvPr/>
        </p:nvSpPr>
        <p:spPr>
          <a:xfrm>
            <a:off x="4210812" y="4262018"/>
            <a:ext cx="2276856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69" name="Shape 42"/>
          <p:cNvSpPr/>
          <p:nvPr/>
        </p:nvSpPr>
        <p:spPr>
          <a:xfrm>
            <a:off x="4372661" y="4423867"/>
            <a:ext cx="399593" cy="399593"/>
          </a:xfrm>
          <a:prstGeom prst="roundRect">
            <a:avLst>
              <a:gd name="adj" fmla="val 43587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70" name="Image 25" descr="preencoded.png"/>
          <p:cNvPicPr preferRelativeResize="0">
            <a:picLocks/>
          </p:cNvPicPr>
          <p:nvPr/>
        </p:nvPicPr>
        <p:blipFill>
          <a:blip r:embed="rId15"/>
          <a:srcRect/>
          <a:stretch/>
        </p:blipFill>
        <p:spPr>
          <a:xfrm>
            <a:off x="4416934" y="4481857"/>
            <a:ext cx="330097" cy="326974"/>
          </a:xfrm>
          <a:prstGeom prst="rect">
            <a:avLst/>
          </a:prstGeom>
        </p:spPr>
      </p:pic>
      <p:sp>
        <p:nvSpPr>
          <p:cNvPr id="71" name="Text 43"/>
          <p:cNvSpPr txBox="1"/>
          <p:nvPr/>
        </p:nvSpPr>
        <p:spPr>
          <a:xfrm>
            <a:off x="4887468" y="4532681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외국어 학습</a:t>
            </a:r>
            <a:endParaRPr lang="en-US" sz="1100" dirty="0">
              <a:latin typeface="+mn-ea"/>
            </a:endParaRPr>
          </a:p>
        </p:txBody>
      </p:sp>
      <p:pic>
        <p:nvPicPr>
          <p:cNvPr id="72" name="Image 26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4372661" y="4938674"/>
            <a:ext cx="1950415" cy="9144"/>
          </a:xfrm>
          <a:prstGeom prst="rect">
            <a:avLst/>
          </a:prstGeom>
        </p:spPr>
      </p:pic>
      <p:sp>
        <p:nvSpPr>
          <p:cNvPr id="73" name="Text 44"/>
          <p:cNvSpPr txBox="1"/>
          <p:nvPr/>
        </p:nvSpPr>
        <p:spPr>
          <a:xfrm>
            <a:off x="4372661" y="5042916"/>
            <a:ext cx="20290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언어 학습과 번역을 돕는 도구 세트입니다. 웹 검색과 웹 크롤링을 활용합니다.</a:t>
            </a:r>
            <a:endParaRPr lang="en-US" sz="800" dirty="0">
              <a:latin typeface="+mn-ea"/>
            </a:endParaRPr>
          </a:p>
        </p:txBody>
      </p:sp>
      <p:sp>
        <p:nvSpPr>
          <p:cNvPr id="74" name="Text 45"/>
          <p:cNvSpPr txBox="1"/>
          <p:nvPr/>
        </p:nvSpPr>
        <p:spPr>
          <a:xfrm>
            <a:off x="4372661" y="5795467"/>
            <a:ext cx="210952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권장 도구</a:t>
            </a:r>
            <a:endParaRPr lang="en-US" sz="800" dirty="0">
              <a:latin typeface="+mn-ea"/>
            </a:endParaRPr>
          </a:p>
        </p:txBody>
      </p:sp>
      <p:pic>
        <p:nvPicPr>
          <p:cNvPr id="75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72661" y="5976518"/>
            <a:ext cx="552298" cy="219456"/>
          </a:xfrm>
          <a:prstGeom prst="rect">
            <a:avLst/>
          </a:prstGeom>
        </p:spPr>
      </p:pic>
      <p:sp>
        <p:nvSpPr>
          <p:cNvPr id="76" name="Text 46"/>
          <p:cNvSpPr/>
          <p:nvPr/>
        </p:nvSpPr>
        <p:spPr>
          <a:xfrm>
            <a:off x="4372661" y="5976518"/>
            <a:ext cx="553212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웹 검색</a:t>
            </a:r>
            <a:endParaRPr lang="en-US" sz="800" dirty="0">
              <a:latin typeface="+mn-ea"/>
            </a:endParaRPr>
          </a:p>
        </p:txBody>
      </p:sp>
      <p:grpSp>
        <p:nvGrpSpPr>
          <p:cNvPr id="912" name="그룹 911">
            <a:extLst>
              <a:ext uri="{FF2B5EF4-FFF2-40B4-BE49-F238E27FC236}">
                <a16:creationId xmlns:a16="http://schemas.microsoft.com/office/drawing/2014/main" id="{8DEF4D43-2D85-5DD9-1555-A35BAEDE9160}"/>
              </a:ext>
            </a:extLst>
          </p:cNvPr>
          <p:cNvGrpSpPr/>
          <p:nvPr/>
        </p:nvGrpSpPr>
        <p:grpSpPr>
          <a:xfrm>
            <a:off x="4956048" y="5976518"/>
            <a:ext cx="537667" cy="219456"/>
            <a:chOff x="4956048" y="5976518"/>
            <a:chExt cx="400507" cy="219456"/>
          </a:xfrm>
        </p:grpSpPr>
        <p:pic>
          <p:nvPicPr>
            <p:cNvPr id="77" name="Image 28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56048" y="5976518"/>
              <a:ext cx="399593" cy="219456"/>
            </a:xfrm>
            <a:prstGeom prst="rect">
              <a:avLst/>
            </a:prstGeom>
          </p:spPr>
        </p:pic>
        <p:sp>
          <p:nvSpPr>
            <p:cNvPr id="78" name="Text 47"/>
            <p:cNvSpPr/>
            <p:nvPr/>
          </p:nvSpPr>
          <p:spPr>
            <a:xfrm>
              <a:off x="4956048" y="5976518"/>
              <a:ext cx="400507" cy="21945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E2E8F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웹 크롤링</a:t>
              </a:r>
              <a:endParaRPr lang="en-US" sz="800" dirty="0">
                <a:latin typeface="+mn-ea"/>
              </a:endParaRPr>
            </a:p>
          </p:txBody>
        </p:sp>
      </p:grpSp>
      <p:sp>
        <p:nvSpPr>
          <p:cNvPr id="81" name="Shape 49"/>
          <p:cNvSpPr/>
          <p:nvPr/>
        </p:nvSpPr>
        <p:spPr>
          <a:xfrm>
            <a:off x="6637630" y="4262018"/>
            <a:ext cx="2276856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82" name="Shape 50"/>
          <p:cNvSpPr/>
          <p:nvPr/>
        </p:nvSpPr>
        <p:spPr>
          <a:xfrm>
            <a:off x="6799478" y="4423867"/>
            <a:ext cx="399593" cy="399593"/>
          </a:xfrm>
          <a:prstGeom prst="roundRect">
            <a:avLst>
              <a:gd name="adj" fmla="val 43587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83" name="Image 30" descr="preencoded.png"/>
          <p:cNvPicPr preferRelativeResize="0">
            <a:picLocks/>
          </p:cNvPicPr>
          <p:nvPr/>
        </p:nvPicPr>
        <p:blipFill>
          <a:blip r:embed="rId17"/>
          <a:srcRect/>
          <a:stretch/>
        </p:blipFill>
        <p:spPr>
          <a:xfrm>
            <a:off x="6748501" y="4452671"/>
            <a:ext cx="508177" cy="318668"/>
          </a:xfrm>
          <a:prstGeom prst="rect">
            <a:avLst/>
          </a:prstGeom>
        </p:spPr>
      </p:pic>
      <p:sp>
        <p:nvSpPr>
          <p:cNvPr id="84" name="Text 51"/>
          <p:cNvSpPr txBox="1"/>
          <p:nvPr/>
        </p:nvSpPr>
        <p:spPr>
          <a:xfrm>
            <a:off x="7314286" y="4532681"/>
            <a:ext cx="747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자유 구성</a:t>
            </a:r>
            <a:endParaRPr lang="en-US" sz="1100" dirty="0">
              <a:latin typeface="+mn-ea"/>
            </a:endParaRPr>
          </a:p>
        </p:txBody>
      </p:sp>
      <p:pic>
        <p:nvPicPr>
          <p:cNvPr id="85" name="Image 31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6799478" y="4938674"/>
            <a:ext cx="1950415" cy="9144"/>
          </a:xfrm>
          <a:prstGeom prst="rect">
            <a:avLst/>
          </a:prstGeom>
        </p:spPr>
      </p:pic>
      <p:sp>
        <p:nvSpPr>
          <p:cNvPr id="86" name="Text 52"/>
          <p:cNvSpPr txBox="1"/>
          <p:nvPr/>
        </p:nvSpPr>
        <p:spPr>
          <a:xfrm>
            <a:off x="6799478" y="5042916"/>
            <a:ext cx="20290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정해진 틀 없이 내 목적에 맞는 도구들을 자유롭게 선택하여 나만의 MCP를 구성합니다.</a:t>
            </a:r>
            <a:endParaRPr lang="en-US" sz="800" dirty="0">
              <a:latin typeface="+mn-ea"/>
            </a:endParaRPr>
          </a:p>
        </p:txBody>
      </p:sp>
      <p:sp>
        <p:nvSpPr>
          <p:cNvPr id="87" name="Text 53"/>
          <p:cNvSpPr txBox="1"/>
          <p:nvPr/>
        </p:nvSpPr>
        <p:spPr>
          <a:xfrm>
            <a:off x="6799478" y="5795467"/>
            <a:ext cx="210952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권장 도구</a:t>
            </a:r>
            <a:endParaRPr lang="en-US" sz="800" dirty="0">
              <a:latin typeface="+mn-ea"/>
            </a:endParaRPr>
          </a:p>
        </p:txBody>
      </p:sp>
      <p:pic>
        <p:nvPicPr>
          <p:cNvPr id="88" name="Image 3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99478" y="5976518"/>
            <a:ext cx="914400" cy="219456"/>
          </a:xfrm>
          <a:prstGeom prst="rect">
            <a:avLst/>
          </a:prstGeom>
        </p:spPr>
      </p:pic>
      <p:sp>
        <p:nvSpPr>
          <p:cNvPr id="89" name="Text 54"/>
          <p:cNvSpPr/>
          <p:nvPr/>
        </p:nvSpPr>
        <p:spPr>
          <a:xfrm>
            <a:off x="6799478" y="5976518"/>
            <a:ext cx="914400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+mn-ea"/>
                <a:cs typeface="Noto Sans KR" pitchFamily="34" charset="-120"/>
              </a:rPr>
              <a:t>모든 도구 선택 가능</a:t>
            </a:r>
            <a:endParaRPr lang="en-US" sz="800" dirty="0">
              <a:latin typeface="+mn-ea"/>
            </a:endParaRPr>
          </a:p>
        </p:txBody>
      </p:sp>
      <p:grpSp>
        <p:nvGrpSpPr>
          <p:cNvPr id="907" name="그룹 906">
            <a:extLst>
              <a:ext uri="{FF2B5EF4-FFF2-40B4-BE49-F238E27FC236}">
                <a16:creationId xmlns:a16="http://schemas.microsoft.com/office/drawing/2014/main" id="{FF90EAF0-C3D4-CB36-F800-392EEB9C0911}"/>
              </a:ext>
            </a:extLst>
          </p:cNvPr>
          <p:cNvGrpSpPr/>
          <p:nvPr/>
        </p:nvGrpSpPr>
        <p:grpSpPr>
          <a:xfrm>
            <a:off x="3155595" y="3738067"/>
            <a:ext cx="400507" cy="219456"/>
            <a:chOff x="733349" y="3728923"/>
            <a:chExt cx="400507" cy="219456"/>
          </a:xfrm>
        </p:grpSpPr>
        <p:pic>
          <p:nvPicPr>
            <p:cNvPr id="908" name="Image 5" descr="preencoded.png">
              <a:extLst>
                <a:ext uri="{FF2B5EF4-FFF2-40B4-BE49-F238E27FC236}">
                  <a16:creationId xmlns:a16="http://schemas.microsoft.com/office/drawing/2014/main" id="{148A4E19-DF17-259F-4854-10B37A311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3349" y="3728923"/>
              <a:ext cx="399593" cy="219456"/>
            </a:xfrm>
            <a:prstGeom prst="rect">
              <a:avLst/>
            </a:prstGeom>
          </p:spPr>
        </p:pic>
        <p:sp>
          <p:nvSpPr>
            <p:cNvPr id="909" name="Text 9">
              <a:extLst>
                <a:ext uri="{FF2B5EF4-FFF2-40B4-BE49-F238E27FC236}">
                  <a16:creationId xmlns:a16="http://schemas.microsoft.com/office/drawing/2014/main" id="{B953CAE0-577D-1A0E-0A02-493D1AAD2808}"/>
                </a:ext>
              </a:extLst>
            </p:cNvPr>
            <p:cNvSpPr/>
            <p:nvPr/>
          </p:nvSpPr>
          <p:spPr>
            <a:xfrm>
              <a:off x="733349" y="3728923"/>
              <a:ext cx="400507" cy="21945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>
              <a:solidFill>
                <a:srgbClr val="E2E8F0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475569"/>
                  </a:solidFill>
                  <a:latin typeface="+mn-ea"/>
                  <a:cs typeface="Noto Sans KR" pitchFamily="34" charset="-120"/>
                </a:rPr>
                <a:t>웹 검색</a:t>
              </a:r>
              <a:endParaRPr lang="en-US" sz="800" dirty="0">
                <a:latin typeface="+mn-ea"/>
              </a:endParaRPr>
            </a:p>
          </p:txBody>
        </p:sp>
      </p:grpSp>
      <p:sp>
        <p:nvSpPr>
          <p:cNvPr id="916" name="Shape 16">
            <a:extLst>
              <a:ext uri="{FF2B5EF4-FFF2-40B4-BE49-F238E27FC236}">
                <a16:creationId xmlns:a16="http://schemas.microsoft.com/office/drawing/2014/main" id="{90D78291-8CFB-86A8-6F0B-EBE64BE9E845}"/>
              </a:ext>
            </a:extLst>
          </p:cNvPr>
          <p:cNvSpPr/>
          <p:nvPr/>
        </p:nvSpPr>
        <p:spPr>
          <a:xfrm>
            <a:off x="3203601" y="2142439"/>
            <a:ext cx="425195" cy="415061"/>
          </a:xfrm>
          <a:prstGeom prst="ellipse">
            <a:avLst/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917" name="Image 8" descr="preencoded.png">
            <a:extLst>
              <a:ext uri="{FF2B5EF4-FFF2-40B4-BE49-F238E27FC236}">
                <a16:creationId xmlns:a16="http://schemas.microsoft.com/office/drawing/2014/main" id="{4116CB22-2DBC-3578-B632-59C96BBFB6E3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3327731" y="2265654"/>
            <a:ext cx="182331" cy="182331"/>
          </a:xfrm>
          <a:prstGeom prst="rect">
            <a:avLst/>
          </a:prstGeom>
        </p:spPr>
      </p:pic>
      <p:sp>
        <p:nvSpPr>
          <p:cNvPr id="2" name="Text 41">
            <a:extLst>
              <a:ext uri="{FF2B5EF4-FFF2-40B4-BE49-F238E27FC236}">
                <a16:creationId xmlns:a16="http://schemas.microsoft.com/office/drawing/2014/main" id="{CA7BD2ED-D784-6CAF-8E51-764B7B6CECD5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&gt;MCP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기본 템플릿 </a:t>
            </a:r>
            <a:endParaRPr lang="en-US" altLang="ko-KR" sz="1401" dirty="0">
              <a:latin typeface="+mn-ea"/>
            </a:endParaRPr>
          </a:p>
          <a:p>
            <a:pPr algn="r"/>
            <a:endParaRPr lang="en-US" altLang="ko-KR" sz="1400" dirty="0">
              <a:latin typeface="+mn-ea"/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CAA75CCB-5779-A1C8-79FB-E6F497086278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17B168-44E3-5286-34DC-12E431D1074C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0F567C6F-D12E-77BF-95F7-FFC7560E0C5E}"/>
              </a:ext>
            </a:extLst>
          </p:cNvPr>
          <p:cNvSpPr/>
          <p:nvPr/>
        </p:nvSpPr>
        <p:spPr>
          <a:xfrm>
            <a:off x="569403" y="1744174"/>
            <a:ext cx="762015" cy="38421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96" name="Shape 58">
            <a:extLst>
              <a:ext uri="{FF2B5EF4-FFF2-40B4-BE49-F238E27FC236}">
                <a16:creationId xmlns:a16="http://schemas.microsoft.com/office/drawing/2014/main" id="{FA4D7576-0614-D5CA-292E-0D55E5745650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97" name="Text 59">
            <a:extLst>
              <a:ext uri="{FF2B5EF4-FFF2-40B4-BE49-F238E27FC236}">
                <a16:creationId xmlns:a16="http://schemas.microsoft.com/office/drawing/2014/main" id="{DC7D4A97-9FE7-C91C-E330-EB60E59BC36D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28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6D0C9-C3CF-061A-F2B9-D7D9B3B9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>
            <a:extLst>
              <a:ext uri="{FF2B5EF4-FFF2-40B4-BE49-F238E27FC236}">
                <a16:creationId xmlns:a16="http://schemas.microsoft.com/office/drawing/2014/main" id="{1139268F-E8C9-1724-0D2F-4106D953A5F1}"/>
              </a:ext>
            </a:extLst>
          </p:cNvPr>
          <p:cNvSpPr txBox="1"/>
          <p:nvPr/>
        </p:nvSpPr>
        <p:spPr>
          <a:xfrm>
            <a:off x="571500" y="1238784"/>
            <a:ext cx="96679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MCP </a:t>
            </a:r>
            <a:r>
              <a:rPr lang="ko-KR" alt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실행 </a:t>
            </a:r>
            <a:r>
              <a:rPr lang="en-US" altLang="ko-KR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4</a:t>
            </a:r>
            <a:r>
              <a:rPr lang="ko-KR" alt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단계 프로세스</a:t>
            </a:r>
            <a:endParaRPr lang="en-US" sz="2000" dirty="0">
              <a:latin typeface="+mn-ea"/>
            </a:endParaRPr>
          </a:p>
        </p:txBody>
      </p:sp>
      <p:sp>
        <p:nvSpPr>
          <p:cNvPr id="58" name="Text 41">
            <a:extLst>
              <a:ext uri="{FF2B5EF4-FFF2-40B4-BE49-F238E27FC236}">
                <a16:creationId xmlns:a16="http://schemas.microsoft.com/office/drawing/2014/main" id="{04B0C29D-6007-398F-6988-A7ED4D73E455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&gt;MCP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프로세스</a:t>
            </a:r>
            <a:endParaRPr lang="en-US" altLang="ko-KR" sz="1401" dirty="0">
              <a:latin typeface="+mn-ea"/>
            </a:endParaRPr>
          </a:p>
        </p:txBody>
      </p:sp>
      <p:sp>
        <p:nvSpPr>
          <p:cNvPr id="59" name="Shape 0">
            <a:extLst>
              <a:ext uri="{FF2B5EF4-FFF2-40B4-BE49-F238E27FC236}">
                <a16:creationId xmlns:a16="http://schemas.microsoft.com/office/drawing/2014/main" id="{BA24DA3A-1F6E-CEB5-C3AA-D0A8F66C07E2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F16F3E-CA92-94F5-F4A8-A7E5E911E2A2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sp>
        <p:nvSpPr>
          <p:cNvPr id="3" name="sub">
            <a:extLst>
              <a:ext uri="{FF2B5EF4-FFF2-40B4-BE49-F238E27FC236}">
                <a16:creationId xmlns:a16="http://schemas.microsoft.com/office/drawing/2014/main" id="{89877518-F33A-BE46-7F10-7E5422C7EC33}"/>
              </a:ext>
            </a:extLst>
          </p:cNvPr>
          <p:cNvSpPr/>
          <p:nvPr/>
        </p:nvSpPr>
        <p:spPr>
          <a:xfrm>
            <a:off x="469009" y="1915040"/>
            <a:ext cx="9667378" cy="228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ko-KR" altLang="en-US" sz="1200" dirty="0">
                <a:solidFill>
                  <a:srgbClr val="64748B"/>
                </a:solidFill>
                <a:latin typeface="Noto Sans KR"/>
              </a:rPr>
              <a:t>사용자 질문이 AI를 거쳐 도구를 활용하고 최종 답변으로 완성되는 전 과정을 단계별로 확인할 수 있습니다.</a:t>
            </a:r>
          </a:p>
        </p:txBody>
      </p:sp>
      <p:sp>
        <p:nvSpPr>
          <p:cNvPr id="4" name="card0">
            <a:extLst>
              <a:ext uri="{FF2B5EF4-FFF2-40B4-BE49-F238E27FC236}">
                <a16:creationId xmlns:a16="http://schemas.microsoft.com/office/drawing/2014/main" id="{78CB19CE-5B19-2978-0ABF-78FACBF037C4}"/>
              </a:ext>
            </a:extLst>
          </p:cNvPr>
          <p:cNvSpPr/>
          <p:nvPr/>
        </p:nvSpPr>
        <p:spPr>
          <a:xfrm>
            <a:off x="583369" y="2531956"/>
            <a:ext cx="2217143" cy="3131542"/>
          </a:xfrm>
          <a:prstGeom prst="roundRect">
            <a:avLst>
              <a:gd name="adj" fmla="val 900"/>
            </a:avLst>
          </a:prstGeom>
          <a:solidFill>
            <a:srgbClr val="FFFFFF"/>
          </a:solidFill>
          <a:ln w="9144">
            <a:solidFill>
              <a:srgbClr val="F1F5F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banner0">
            <a:extLst>
              <a:ext uri="{FF2B5EF4-FFF2-40B4-BE49-F238E27FC236}">
                <a16:creationId xmlns:a16="http://schemas.microsoft.com/office/drawing/2014/main" id="{E5FBF519-82CD-B0A1-0646-9817F018604F}"/>
              </a:ext>
            </a:extLst>
          </p:cNvPr>
          <p:cNvSpPr/>
          <p:nvPr/>
        </p:nvSpPr>
        <p:spPr>
          <a:xfrm>
            <a:off x="583369" y="2531956"/>
            <a:ext cx="2217143" cy="182800"/>
          </a:xfrm>
          <a:prstGeom prst="roundRect">
            <a:avLst>
              <a:gd name="adj" fmla="val 36000"/>
            </a:avLst>
          </a:prstGeom>
          <a:solidFill>
            <a:srgbClr val="1D4ED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Noto Sans KR"/>
              </a:rPr>
              <a:t>STEP 01</a:t>
            </a:r>
          </a:p>
        </p:txBody>
      </p:sp>
      <p:pic>
        <p:nvPicPr>
          <p:cNvPr id="6" name="icon0">
            <a:extLst>
              <a:ext uri="{FF2B5EF4-FFF2-40B4-BE49-F238E27FC236}">
                <a16:creationId xmlns:a16="http://schemas.microsoft.com/office/drawing/2014/main" id="{3B090F02-569D-5CB8-9A2C-908001D25EB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36290" y="2838180"/>
            <a:ext cx="511840" cy="488956"/>
          </a:xfrm>
          <a:prstGeom prst="ellipse">
            <a:avLst/>
          </a:prstGeom>
        </p:spPr>
      </p:pic>
      <p:sp>
        <p:nvSpPr>
          <p:cNvPr id="62" name="tag0">
            <a:extLst>
              <a:ext uri="{FF2B5EF4-FFF2-40B4-BE49-F238E27FC236}">
                <a16:creationId xmlns:a16="http://schemas.microsoft.com/office/drawing/2014/main" id="{004C0378-5166-3641-A077-0A8973CC53DB}"/>
              </a:ext>
            </a:extLst>
          </p:cNvPr>
          <p:cNvSpPr/>
          <p:nvPr/>
        </p:nvSpPr>
        <p:spPr>
          <a:xfrm>
            <a:off x="716398" y="3409396"/>
            <a:ext cx="1951085" cy="1919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00" dirty="0">
                <a:solidFill>
                  <a:srgbClr val="1D4ED8"/>
                </a:solidFill>
                <a:latin typeface="Consolas"/>
              </a:rPr>
              <a:t>prompt_sent</a:t>
            </a:r>
          </a:p>
        </p:txBody>
      </p:sp>
      <p:sp>
        <p:nvSpPr>
          <p:cNvPr id="63" name="ktitle0">
            <a:extLst>
              <a:ext uri="{FF2B5EF4-FFF2-40B4-BE49-F238E27FC236}">
                <a16:creationId xmlns:a16="http://schemas.microsoft.com/office/drawing/2014/main" id="{AB32B570-3BD7-A9A2-5201-64CE66B310BB}"/>
              </a:ext>
            </a:extLst>
          </p:cNvPr>
          <p:cNvSpPr/>
          <p:nvPr/>
        </p:nvSpPr>
        <p:spPr>
          <a:xfrm>
            <a:off x="674769" y="3683596"/>
            <a:ext cx="2034343" cy="2559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ko-KR" altLang="en-US" sz="1400" b="1" dirty="0">
                <a:solidFill>
                  <a:srgbClr val="1E293B"/>
                </a:solidFill>
                <a:latin typeface="Noto Sans KR"/>
              </a:rPr>
              <a:t>프롬프트 전송</a:t>
            </a:r>
          </a:p>
        </p:txBody>
      </p:sp>
      <p:sp>
        <p:nvSpPr>
          <p:cNvPr id="64" name="desc0">
            <a:extLst>
              <a:ext uri="{FF2B5EF4-FFF2-40B4-BE49-F238E27FC236}">
                <a16:creationId xmlns:a16="http://schemas.microsoft.com/office/drawing/2014/main" id="{16E83203-FDC6-45FA-D572-68E70210612A}"/>
              </a:ext>
            </a:extLst>
          </p:cNvPr>
          <p:cNvSpPr/>
          <p:nvPr/>
        </p:nvSpPr>
        <p:spPr>
          <a:xfrm>
            <a:off x="702189" y="3994356"/>
            <a:ext cx="1979503" cy="15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ko-KR" altLang="en-US" sz="1100" dirty="0">
                <a:solidFill>
                  <a:srgbClr val="475569"/>
                </a:solidFill>
                <a:latin typeface="Noto Sans KR"/>
              </a:rPr>
              <a:t>사용자 메시지와 연결된 도구 목록이 AI에게 함께 전달됩니다. AI는 어떤 도구들이 사용 가능한지 인식합니다.</a:t>
            </a:r>
          </a:p>
        </p:txBody>
      </p:sp>
      <p:sp>
        <p:nvSpPr>
          <p:cNvPr id="65" name="badge0">
            <a:extLst>
              <a:ext uri="{FF2B5EF4-FFF2-40B4-BE49-F238E27FC236}">
                <a16:creationId xmlns:a16="http://schemas.microsoft.com/office/drawing/2014/main" id="{224411AF-9D0B-5871-5C1E-77F273A93DEA}"/>
              </a:ext>
            </a:extLst>
          </p:cNvPr>
          <p:cNvSpPr/>
          <p:nvPr/>
        </p:nvSpPr>
        <p:spPr>
          <a:xfrm>
            <a:off x="1026480" y="5308136"/>
            <a:ext cx="1374628" cy="2102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144">
            <a:solidFill>
              <a:srgbClr val="DBEAFE"/>
            </a:solidFill>
          </a:ln>
        </p:spPr>
        <p:txBody>
          <a:bodyPr anchor="ctr"/>
          <a:lstStyle/>
          <a:p>
            <a:pPr algn="ctr"/>
            <a:r>
              <a:rPr lang="ko-KR" altLang="en-US" sz="1100" b="1" dirty="0">
                <a:solidFill>
                  <a:srgbClr val="1D4ED8"/>
                </a:solidFill>
                <a:latin typeface="Noto Sans KR"/>
              </a:rPr>
              <a:t>완료 ✓</a:t>
            </a:r>
          </a:p>
        </p:txBody>
      </p:sp>
      <p:sp>
        <p:nvSpPr>
          <p:cNvPr id="66" name="card1">
            <a:extLst>
              <a:ext uri="{FF2B5EF4-FFF2-40B4-BE49-F238E27FC236}">
                <a16:creationId xmlns:a16="http://schemas.microsoft.com/office/drawing/2014/main" id="{EF143A8B-6EDF-1230-DD79-7834850DF036}"/>
              </a:ext>
            </a:extLst>
          </p:cNvPr>
          <p:cNvSpPr/>
          <p:nvPr/>
        </p:nvSpPr>
        <p:spPr>
          <a:xfrm>
            <a:off x="3029012" y="2531955"/>
            <a:ext cx="2217143" cy="3131543"/>
          </a:xfrm>
          <a:prstGeom prst="roundRect">
            <a:avLst>
              <a:gd name="adj" fmla="val 461"/>
            </a:avLst>
          </a:prstGeom>
          <a:solidFill>
            <a:srgbClr val="FFFFFF"/>
          </a:solidFill>
          <a:ln w="9144">
            <a:solidFill>
              <a:srgbClr val="F1F5F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banner1">
            <a:extLst>
              <a:ext uri="{FF2B5EF4-FFF2-40B4-BE49-F238E27FC236}">
                <a16:creationId xmlns:a16="http://schemas.microsoft.com/office/drawing/2014/main" id="{AA77D980-4FF9-31C3-3ABC-57DD91BFF0E5}"/>
              </a:ext>
            </a:extLst>
          </p:cNvPr>
          <p:cNvSpPr/>
          <p:nvPr/>
        </p:nvSpPr>
        <p:spPr>
          <a:xfrm>
            <a:off x="3029012" y="2531956"/>
            <a:ext cx="2217143" cy="182800"/>
          </a:xfrm>
          <a:prstGeom prst="roundRect">
            <a:avLst>
              <a:gd name="adj" fmla="val 36000"/>
            </a:avLst>
          </a:prstGeom>
          <a:solidFill>
            <a:srgbClr val="6D28D9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Noto Sans KR"/>
              </a:rPr>
              <a:t>STEP 02</a:t>
            </a:r>
          </a:p>
        </p:txBody>
      </p:sp>
      <p:sp>
        <p:nvSpPr>
          <p:cNvPr id="69" name="tag1">
            <a:extLst>
              <a:ext uri="{FF2B5EF4-FFF2-40B4-BE49-F238E27FC236}">
                <a16:creationId xmlns:a16="http://schemas.microsoft.com/office/drawing/2014/main" id="{6DA5D108-1319-A5AB-1D1C-19669178DF98}"/>
              </a:ext>
            </a:extLst>
          </p:cNvPr>
          <p:cNvSpPr/>
          <p:nvPr/>
        </p:nvSpPr>
        <p:spPr>
          <a:xfrm>
            <a:off x="3162041" y="3409396"/>
            <a:ext cx="1951085" cy="19194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00" dirty="0">
                <a:solidFill>
                  <a:srgbClr val="6D28D9"/>
                </a:solidFill>
                <a:latin typeface="Consolas"/>
              </a:rPr>
              <a:t>tool_decision</a:t>
            </a:r>
          </a:p>
        </p:txBody>
      </p:sp>
      <p:sp>
        <p:nvSpPr>
          <p:cNvPr id="70" name="ktitle1">
            <a:extLst>
              <a:ext uri="{FF2B5EF4-FFF2-40B4-BE49-F238E27FC236}">
                <a16:creationId xmlns:a16="http://schemas.microsoft.com/office/drawing/2014/main" id="{AA4AD6C9-BC61-E6F2-B4B9-9ADF6A4C7A0F}"/>
              </a:ext>
            </a:extLst>
          </p:cNvPr>
          <p:cNvSpPr/>
          <p:nvPr/>
        </p:nvSpPr>
        <p:spPr>
          <a:xfrm>
            <a:off x="3120412" y="3683596"/>
            <a:ext cx="2034343" cy="2559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ko-KR" altLang="en-US" sz="1400" b="1" dirty="0">
                <a:solidFill>
                  <a:srgbClr val="1E293B"/>
                </a:solidFill>
                <a:latin typeface="Noto Sans KR"/>
              </a:rPr>
              <a:t>도구 선택 판단</a:t>
            </a:r>
          </a:p>
        </p:txBody>
      </p:sp>
      <p:sp>
        <p:nvSpPr>
          <p:cNvPr id="71" name="desc1">
            <a:extLst>
              <a:ext uri="{FF2B5EF4-FFF2-40B4-BE49-F238E27FC236}">
                <a16:creationId xmlns:a16="http://schemas.microsoft.com/office/drawing/2014/main" id="{55231542-21F4-374C-BD0B-E46545CB626B}"/>
              </a:ext>
            </a:extLst>
          </p:cNvPr>
          <p:cNvSpPr/>
          <p:nvPr/>
        </p:nvSpPr>
        <p:spPr>
          <a:xfrm>
            <a:off x="3147832" y="3994356"/>
            <a:ext cx="1979503" cy="15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ko-KR" altLang="en-US" sz="1100" dirty="0">
                <a:solidFill>
                  <a:srgbClr val="475569"/>
                </a:solidFill>
                <a:latin typeface="Noto Sans KR"/>
              </a:rPr>
              <a:t>AI가 요청을 분석하여 필요한 도구를 스스로 결정합니다. 사람이 고르는 것이 아닌 AI의 자율적 판단이 이루어집니다.</a:t>
            </a:r>
          </a:p>
        </p:txBody>
      </p:sp>
      <p:sp>
        <p:nvSpPr>
          <p:cNvPr id="72" name="badge1">
            <a:extLst>
              <a:ext uri="{FF2B5EF4-FFF2-40B4-BE49-F238E27FC236}">
                <a16:creationId xmlns:a16="http://schemas.microsoft.com/office/drawing/2014/main" id="{EFE49C60-DB1C-0D4B-4954-9BCF99277CBC}"/>
              </a:ext>
            </a:extLst>
          </p:cNvPr>
          <p:cNvSpPr/>
          <p:nvPr/>
        </p:nvSpPr>
        <p:spPr>
          <a:xfrm>
            <a:off x="3450269" y="5305154"/>
            <a:ext cx="1374628" cy="210220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 w="9144">
            <a:solidFill>
              <a:srgbClr val="F3E8FF"/>
            </a:solidFill>
          </a:ln>
        </p:spPr>
        <p:txBody>
          <a:bodyPr anchor="ctr"/>
          <a:lstStyle/>
          <a:p>
            <a:pPr algn="ctr"/>
            <a:r>
              <a:rPr lang="ko-KR" altLang="en-US" sz="1100" b="1" dirty="0">
                <a:solidFill>
                  <a:srgbClr val="6D28D9"/>
                </a:solidFill>
                <a:latin typeface="Noto Sans KR"/>
              </a:rPr>
              <a:t>완료 ✓</a:t>
            </a:r>
          </a:p>
        </p:txBody>
      </p:sp>
      <p:sp>
        <p:nvSpPr>
          <p:cNvPr id="73" name="card2">
            <a:extLst>
              <a:ext uri="{FF2B5EF4-FFF2-40B4-BE49-F238E27FC236}">
                <a16:creationId xmlns:a16="http://schemas.microsoft.com/office/drawing/2014/main" id="{FC59FB6A-B096-130A-5F4A-190738498AD4}"/>
              </a:ext>
            </a:extLst>
          </p:cNvPr>
          <p:cNvSpPr/>
          <p:nvPr/>
        </p:nvSpPr>
        <p:spPr>
          <a:xfrm>
            <a:off x="5474655" y="2531956"/>
            <a:ext cx="2217143" cy="3131542"/>
          </a:xfrm>
          <a:prstGeom prst="roundRect">
            <a:avLst>
              <a:gd name="adj" fmla="val 900"/>
            </a:avLst>
          </a:prstGeom>
          <a:solidFill>
            <a:srgbClr val="FFFFFF"/>
          </a:solidFill>
          <a:ln w="9144">
            <a:solidFill>
              <a:srgbClr val="F1F5F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banner2">
            <a:extLst>
              <a:ext uri="{FF2B5EF4-FFF2-40B4-BE49-F238E27FC236}">
                <a16:creationId xmlns:a16="http://schemas.microsoft.com/office/drawing/2014/main" id="{E45FC180-7632-B218-0ACF-11E2A677140B}"/>
              </a:ext>
            </a:extLst>
          </p:cNvPr>
          <p:cNvSpPr/>
          <p:nvPr/>
        </p:nvSpPr>
        <p:spPr>
          <a:xfrm>
            <a:off x="5474655" y="2531956"/>
            <a:ext cx="2217143" cy="182800"/>
          </a:xfrm>
          <a:prstGeom prst="roundRect">
            <a:avLst>
              <a:gd name="adj" fmla="val 36000"/>
            </a:avLst>
          </a:prstGeom>
          <a:solidFill>
            <a:srgbClr val="C2410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Noto Sans KR"/>
              </a:rPr>
              <a:t>STEP 03</a:t>
            </a:r>
          </a:p>
        </p:txBody>
      </p:sp>
      <p:pic>
        <p:nvPicPr>
          <p:cNvPr id="75" name="icon2">
            <a:extLst>
              <a:ext uri="{FF2B5EF4-FFF2-40B4-BE49-F238E27FC236}">
                <a16:creationId xmlns:a16="http://schemas.microsoft.com/office/drawing/2014/main" id="{3F30DAA6-FA54-3D32-181E-EEAB77D739E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327576" y="2838180"/>
            <a:ext cx="511840" cy="466072"/>
          </a:xfrm>
          <a:prstGeom prst="ellipse">
            <a:avLst/>
          </a:prstGeom>
        </p:spPr>
      </p:pic>
      <p:sp>
        <p:nvSpPr>
          <p:cNvPr id="76" name="tag2">
            <a:extLst>
              <a:ext uri="{FF2B5EF4-FFF2-40B4-BE49-F238E27FC236}">
                <a16:creationId xmlns:a16="http://schemas.microsoft.com/office/drawing/2014/main" id="{5033DE99-811D-CCA4-6F9C-7C8BF4FE71D1}"/>
              </a:ext>
            </a:extLst>
          </p:cNvPr>
          <p:cNvSpPr/>
          <p:nvPr/>
        </p:nvSpPr>
        <p:spPr>
          <a:xfrm>
            <a:off x="5607684" y="3409396"/>
            <a:ext cx="1951085" cy="19194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00" dirty="0">
                <a:solidFill>
                  <a:srgbClr val="C2410C"/>
                </a:solidFill>
                <a:latin typeface="Consolas"/>
              </a:rPr>
              <a:t>tool_execution</a:t>
            </a:r>
          </a:p>
        </p:txBody>
      </p:sp>
      <p:sp>
        <p:nvSpPr>
          <p:cNvPr id="77" name="ktitle2">
            <a:extLst>
              <a:ext uri="{FF2B5EF4-FFF2-40B4-BE49-F238E27FC236}">
                <a16:creationId xmlns:a16="http://schemas.microsoft.com/office/drawing/2014/main" id="{EBA0A9AF-B747-00F8-1DD5-F73BDA91D111}"/>
              </a:ext>
            </a:extLst>
          </p:cNvPr>
          <p:cNvSpPr/>
          <p:nvPr/>
        </p:nvSpPr>
        <p:spPr>
          <a:xfrm>
            <a:off x="5566055" y="3683596"/>
            <a:ext cx="2034343" cy="2559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ko-KR" altLang="en-US" sz="1400" b="1" dirty="0">
                <a:solidFill>
                  <a:srgbClr val="1E293B"/>
                </a:solidFill>
                <a:latin typeface="Noto Sans KR"/>
              </a:rPr>
              <a:t>도구 실행</a:t>
            </a:r>
          </a:p>
        </p:txBody>
      </p:sp>
      <p:sp>
        <p:nvSpPr>
          <p:cNvPr id="78" name="desc2">
            <a:extLst>
              <a:ext uri="{FF2B5EF4-FFF2-40B4-BE49-F238E27FC236}">
                <a16:creationId xmlns:a16="http://schemas.microsoft.com/office/drawing/2014/main" id="{FC14362D-B016-37F1-3477-AC65A2398E70}"/>
              </a:ext>
            </a:extLst>
          </p:cNvPr>
          <p:cNvSpPr/>
          <p:nvPr/>
        </p:nvSpPr>
        <p:spPr>
          <a:xfrm>
            <a:off x="5593475" y="3994356"/>
            <a:ext cx="1979503" cy="15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ko-KR" altLang="en-US" sz="1100" dirty="0">
                <a:solidFill>
                  <a:srgbClr val="475569"/>
                </a:solidFill>
                <a:latin typeface="Noto Sans KR"/>
              </a:rPr>
              <a:t>선택된 도구가 외부 서버에서 실제로 동작합니다. AI 혼자 불가능한 실시간 정보 조회, QR 생성 등이 수행됩니다.</a:t>
            </a:r>
          </a:p>
        </p:txBody>
      </p:sp>
      <p:sp>
        <p:nvSpPr>
          <p:cNvPr id="79" name="badge2">
            <a:extLst>
              <a:ext uri="{FF2B5EF4-FFF2-40B4-BE49-F238E27FC236}">
                <a16:creationId xmlns:a16="http://schemas.microsoft.com/office/drawing/2014/main" id="{512E1065-B86C-2354-BFB2-8521BEA77487}"/>
              </a:ext>
            </a:extLst>
          </p:cNvPr>
          <p:cNvSpPr/>
          <p:nvPr/>
        </p:nvSpPr>
        <p:spPr>
          <a:xfrm>
            <a:off x="5895912" y="5305154"/>
            <a:ext cx="1374628" cy="21022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9144">
            <a:solidFill>
              <a:srgbClr val="FFEDD5"/>
            </a:solidFill>
          </a:ln>
        </p:spPr>
        <p:txBody>
          <a:bodyPr anchor="ctr"/>
          <a:lstStyle/>
          <a:p>
            <a:pPr algn="ctr"/>
            <a:r>
              <a:rPr lang="ko-KR" altLang="en-US" sz="1100" b="1" dirty="0">
                <a:solidFill>
                  <a:srgbClr val="C2410C"/>
                </a:solidFill>
                <a:latin typeface="Noto Sans KR"/>
              </a:rPr>
              <a:t>완료 ✓</a:t>
            </a:r>
          </a:p>
        </p:txBody>
      </p:sp>
      <p:sp>
        <p:nvSpPr>
          <p:cNvPr id="80" name="card3">
            <a:extLst>
              <a:ext uri="{FF2B5EF4-FFF2-40B4-BE49-F238E27FC236}">
                <a16:creationId xmlns:a16="http://schemas.microsoft.com/office/drawing/2014/main" id="{35474CAF-A7BC-6525-BF67-5D883AFFE517}"/>
              </a:ext>
            </a:extLst>
          </p:cNvPr>
          <p:cNvSpPr/>
          <p:nvPr/>
        </p:nvSpPr>
        <p:spPr>
          <a:xfrm>
            <a:off x="7920298" y="2531956"/>
            <a:ext cx="2217143" cy="313154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144">
            <a:solidFill>
              <a:srgbClr val="F1F5F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banner3">
            <a:extLst>
              <a:ext uri="{FF2B5EF4-FFF2-40B4-BE49-F238E27FC236}">
                <a16:creationId xmlns:a16="http://schemas.microsoft.com/office/drawing/2014/main" id="{1C26E70C-3074-AACC-5AF0-060F5CA100A7}"/>
              </a:ext>
            </a:extLst>
          </p:cNvPr>
          <p:cNvSpPr/>
          <p:nvPr/>
        </p:nvSpPr>
        <p:spPr>
          <a:xfrm>
            <a:off x="7920298" y="2531956"/>
            <a:ext cx="2217143" cy="182800"/>
          </a:xfrm>
          <a:prstGeom prst="roundRect">
            <a:avLst>
              <a:gd name="adj" fmla="val 36000"/>
            </a:avLst>
          </a:prstGeom>
          <a:solidFill>
            <a:srgbClr val="15803D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Noto Sans KR"/>
              </a:rPr>
              <a:t>STEP 04</a:t>
            </a:r>
          </a:p>
        </p:txBody>
      </p:sp>
      <p:pic>
        <p:nvPicPr>
          <p:cNvPr id="82" name="icon3">
            <a:extLst>
              <a:ext uri="{FF2B5EF4-FFF2-40B4-BE49-F238E27FC236}">
                <a16:creationId xmlns:a16="http://schemas.microsoft.com/office/drawing/2014/main" id="{F57179EB-C784-00D6-6DD8-767434CA79F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773219" y="2838180"/>
            <a:ext cx="511840" cy="488956"/>
          </a:xfrm>
          <a:prstGeom prst="ellipse">
            <a:avLst/>
          </a:prstGeom>
        </p:spPr>
      </p:pic>
      <p:sp>
        <p:nvSpPr>
          <p:cNvPr id="83" name="tag3">
            <a:extLst>
              <a:ext uri="{FF2B5EF4-FFF2-40B4-BE49-F238E27FC236}">
                <a16:creationId xmlns:a16="http://schemas.microsoft.com/office/drawing/2014/main" id="{6D36C0FF-7ABB-1794-4AF4-2DAA9EAD6AFD}"/>
              </a:ext>
            </a:extLst>
          </p:cNvPr>
          <p:cNvSpPr/>
          <p:nvPr/>
        </p:nvSpPr>
        <p:spPr>
          <a:xfrm>
            <a:off x="8053327" y="3409396"/>
            <a:ext cx="1951085" cy="19194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00" dirty="0">
                <a:solidFill>
                  <a:srgbClr val="15803D"/>
                </a:solidFill>
                <a:latin typeface="Consolas"/>
              </a:rPr>
              <a:t>response_generated</a:t>
            </a:r>
          </a:p>
        </p:txBody>
      </p:sp>
      <p:sp>
        <p:nvSpPr>
          <p:cNvPr id="84" name="ktitle3">
            <a:extLst>
              <a:ext uri="{FF2B5EF4-FFF2-40B4-BE49-F238E27FC236}">
                <a16:creationId xmlns:a16="http://schemas.microsoft.com/office/drawing/2014/main" id="{059590B0-86D7-E1F4-4AE1-F4386E51E1D7}"/>
              </a:ext>
            </a:extLst>
          </p:cNvPr>
          <p:cNvSpPr/>
          <p:nvPr/>
        </p:nvSpPr>
        <p:spPr>
          <a:xfrm>
            <a:off x="8011698" y="3683596"/>
            <a:ext cx="2034343" cy="25592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ko-KR" altLang="en-US" sz="1400" b="1" dirty="0">
                <a:solidFill>
                  <a:srgbClr val="1E293B"/>
                </a:solidFill>
                <a:latin typeface="Noto Sans KR"/>
              </a:rPr>
              <a:t>응답 생성</a:t>
            </a:r>
          </a:p>
        </p:txBody>
      </p:sp>
      <p:sp>
        <p:nvSpPr>
          <p:cNvPr id="85" name="desc3">
            <a:extLst>
              <a:ext uri="{FF2B5EF4-FFF2-40B4-BE49-F238E27FC236}">
                <a16:creationId xmlns:a16="http://schemas.microsoft.com/office/drawing/2014/main" id="{1C22F703-BD62-28FE-AEC1-C31247EB55B4}"/>
              </a:ext>
            </a:extLst>
          </p:cNvPr>
          <p:cNvSpPr/>
          <p:nvPr/>
        </p:nvSpPr>
        <p:spPr>
          <a:xfrm>
            <a:off x="8039118" y="3994356"/>
            <a:ext cx="1979503" cy="15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ko-KR" altLang="en-US" sz="1100" dirty="0">
                <a:solidFill>
                  <a:srgbClr val="475569"/>
                </a:solidFill>
                <a:latin typeface="Noto Sans KR"/>
              </a:rPr>
              <a:t>도구 실행 결과를 AI가 받아 자연어 답변으로 가공합니다. 맥락에 맞게 해석된 최종 응답이 완성됩니다.</a:t>
            </a:r>
          </a:p>
        </p:txBody>
      </p:sp>
      <p:sp>
        <p:nvSpPr>
          <p:cNvPr id="86" name="badge3">
            <a:extLst>
              <a:ext uri="{FF2B5EF4-FFF2-40B4-BE49-F238E27FC236}">
                <a16:creationId xmlns:a16="http://schemas.microsoft.com/office/drawing/2014/main" id="{591C6108-DD22-7511-F5AB-1E893B525BC9}"/>
              </a:ext>
            </a:extLst>
          </p:cNvPr>
          <p:cNvSpPr/>
          <p:nvPr/>
        </p:nvSpPr>
        <p:spPr>
          <a:xfrm>
            <a:off x="8341555" y="5305154"/>
            <a:ext cx="1374628" cy="21022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9144">
            <a:solidFill>
              <a:srgbClr val="DCFCE7"/>
            </a:solidFill>
          </a:ln>
        </p:spPr>
        <p:txBody>
          <a:bodyPr anchor="ctr"/>
          <a:lstStyle/>
          <a:p>
            <a:pPr algn="ctr"/>
            <a:r>
              <a:rPr lang="ko-KR" altLang="en-US" sz="1100" b="1" dirty="0">
                <a:solidFill>
                  <a:srgbClr val="15803D"/>
                </a:solidFill>
                <a:latin typeface="Noto Sans KR"/>
              </a:rPr>
              <a:t>완료 ✓</a:t>
            </a:r>
          </a:p>
        </p:txBody>
      </p:sp>
      <p:sp>
        <p:nvSpPr>
          <p:cNvPr id="87" name="arr0">
            <a:extLst>
              <a:ext uri="{FF2B5EF4-FFF2-40B4-BE49-F238E27FC236}">
                <a16:creationId xmlns:a16="http://schemas.microsoft.com/office/drawing/2014/main" id="{2CDC6967-D413-DF30-E74E-44B5CF93B567}"/>
              </a:ext>
            </a:extLst>
          </p:cNvPr>
          <p:cNvSpPr/>
          <p:nvPr/>
        </p:nvSpPr>
        <p:spPr>
          <a:xfrm>
            <a:off x="2800512" y="4647866"/>
            <a:ext cx="228500" cy="10968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200" dirty="0">
                <a:solidFill>
                  <a:srgbClr val="CBD5E1"/>
                </a:solidFill>
                <a:latin typeface="Arial"/>
              </a:rPr>
              <a:t>➜</a:t>
            </a:r>
          </a:p>
        </p:txBody>
      </p:sp>
      <p:sp>
        <p:nvSpPr>
          <p:cNvPr id="88" name="arr1">
            <a:extLst>
              <a:ext uri="{FF2B5EF4-FFF2-40B4-BE49-F238E27FC236}">
                <a16:creationId xmlns:a16="http://schemas.microsoft.com/office/drawing/2014/main" id="{26AB194C-3589-178F-0FBA-450568D854FB}"/>
              </a:ext>
            </a:extLst>
          </p:cNvPr>
          <p:cNvSpPr/>
          <p:nvPr/>
        </p:nvSpPr>
        <p:spPr>
          <a:xfrm>
            <a:off x="5246155" y="4647866"/>
            <a:ext cx="228500" cy="10968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200" dirty="0">
                <a:solidFill>
                  <a:srgbClr val="CBD5E1"/>
                </a:solidFill>
                <a:latin typeface="Arial"/>
              </a:rPr>
              <a:t>➜</a:t>
            </a:r>
          </a:p>
        </p:txBody>
      </p:sp>
      <p:sp>
        <p:nvSpPr>
          <p:cNvPr id="89" name="arr2">
            <a:extLst>
              <a:ext uri="{FF2B5EF4-FFF2-40B4-BE49-F238E27FC236}">
                <a16:creationId xmlns:a16="http://schemas.microsoft.com/office/drawing/2014/main" id="{169F4BFE-8E4E-3F24-E5B8-9856DDC30D64}"/>
              </a:ext>
            </a:extLst>
          </p:cNvPr>
          <p:cNvSpPr/>
          <p:nvPr/>
        </p:nvSpPr>
        <p:spPr>
          <a:xfrm>
            <a:off x="7691798" y="4647866"/>
            <a:ext cx="228500" cy="10968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200" dirty="0">
                <a:solidFill>
                  <a:srgbClr val="CBD5E1"/>
                </a:solidFill>
                <a:latin typeface="Arial"/>
              </a:rPr>
              <a:t>➜</a:t>
            </a:r>
          </a:p>
        </p:txBody>
      </p:sp>
      <p:pic>
        <p:nvPicPr>
          <p:cNvPr id="90" name="icon1">
            <a:extLst>
              <a:ext uri="{FF2B5EF4-FFF2-40B4-BE49-F238E27FC236}">
                <a16:creationId xmlns:a16="http://schemas.microsoft.com/office/drawing/2014/main" id="{687ADD23-316E-8492-17D1-42568D47EEAC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871935" y="2838180"/>
            <a:ext cx="511840" cy="470676"/>
          </a:xfrm>
          <a:prstGeom prst="ellipse">
            <a:avLst/>
          </a:prstGeom>
        </p:spPr>
      </p:pic>
      <p:sp>
        <p:nvSpPr>
          <p:cNvPr id="8" name="Shape 10">
            <a:extLst>
              <a:ext uri="{FF2B5EF4-FFF2-40B4-BE49-F238E27FC236}">
                <a16:creationId xmlns:a16="http://schemas.microsoft.com/office/drawing/2014/main" id="{63EC33B5-5CD8-F1C0-CA35-CA24D11E015B}"/>
              </a:ext>
            </a:extLst>
          </p:cNvPr>
          <p:cNvSpPr/>
          <p:nvPr/>
        </p:nvSpPr>
        <p:spPr>
          <a:xfrm>
            <a:off x="569403" y="1744174"/>
            <a:ext cx="762015" cy="38421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/>
        </p:spPr>
        <p:txBody>
          <a:bodyPr/>
          <a:lstStyle/>
          <a:p>
            <a:endParaRPr lang="ko-KR" altLang="en-US" sz="1801" dirty="0">
              <a:latin typeface="+mn-ea"/>
            </a:endParaRPr>
          </a:p>
        </p:txBody>
      </p:sp>
      <p:sp>
        <p:nvSpPr>
          <p:cNvPr id="39" name="Shape 58">
            <a:extLst>
              <a:ext uri="{FF2B5EF4-FFF2-40B4-BE49-F238E27FC236}">
                <a16:creationId xmlns:a16="http://schemas.microsoft.com/office/drawing/2014/main" id="{FA4D7576-0614-D5CA-292E-0D55E5745650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40" name="Text 59">
            <a:extLst>
              <a:ext uri="{FF2B5EF4-FFF2-40B4-BE49-F238E27FC236}">
                <a16:creationId xmlns:a16="http://schemas.microsoft.com/office/drawing/2014/main" id="{DC7D4A97-9FE7-C91C-E330-EB60E59BC36D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29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7389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67662-28CA-5869-70B5-650EE8D0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>
            <a:extLst>
              <a:ext uri="{FF2B5EF4-FFF2-40B4-BE49-F238E27FC236}">
                <a16:creationId xmlns:a16="http://schemas.microsoft.com/office/drawing/2014/main" id="{FC0E785D-FDB7-7A40-0F42-CFCB866B112F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&gt;MCP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만들기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공유 </a:t>
            </a:r>
            <a:endParaRPr lang="en-US" altLang="ko-KR" sz="1401" dirty="0">
              <a:latin typeface="+mn-ea"/>
            </a:endParaRPr>
          </a:p>
          <a:p>
            <a:pPr algn="r"/>
            <a:endParaRPr lang="en-US" altLang="ko-KR" sz="1400" dirty="0">
              <a:latin typeface="+mn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C7A8FBD-88FB-C474-1098-1AE39CEC206D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DC1E1-D3F6-906C-68F2-B71A89289E17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j-ea"/>
                <a:ea typeface="+mj-ea"/>
              </a:rPr>
              <a:t>GrowFit</a:t>
            </a:r>
            <a:endParaRPr lang="ko-KR" altLang="en-US" sz="1517" dirty="0">
              <a:latin typeface="+mj-ea"/>
              <a:ea typeface="+mj-ea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1B22EB08-3D65-04C7-6AB5-CEA6F51E171E}"/>
              </a:ext>
            </a:extLst>
          </p:cNvPr>
          <p:cNvSpPr txBox="1"/>
          <p:nvPr/>
        </p:nvSpPr>
        <p:spPr>
          <a:xfrm>
            <a:off x="631107" y="1294685"/>
            <a:ext cx="560957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latin typeface="+mj-ea"/>
                <a:ea typeface="+mj-ea"/>
              </a:rPr>
              <a:t>MCP </a:t>
            </a:r>
            <a:r>
              <a:rPr lang="ko-KR" altLang="en-US" sz="2000" b="1" dirty="0">
                <a:latin typeface="+mj-ea"/>
                <a:ea typeface="+mj-ea"/>
              </a:rPr>
              <a:t>만들기 </a:t>
            </a:r>
            <a:r>
              <a:rPr lang="en-US" altLang="ko-KR" sz="2000" b="1" dirty="0">
                <a:latin typeface="+mj-ea"/>
                <a:ea typeface="+mj-ea"/>
              </a:rPr>
              <a:t>4</a:t>
            </a:r>
            <a:r>
              <a:rPr lang="ko-KR" altLang="en-US" sz="2000" b="1" dirty="0">
                <a:latin typeface="+mj-ea"/>
                <a:ea typeface="+mj-ea"/>
              </a:rPr>
              <a:t>단계</a:t>
            </a:r>
            <a:r>
              <a:rPr lang="en-US" altLang="ko-KR" sz="2000" b="1" dirty="0">
                <a:latin typeface="+mj-ea"/>
                <a:ea typeface="+mj-ea"/>
              </a:rPr>
              <a:t>(</a:t>
            </a:r>
            <a:r>
              <a:rPr lang="ko-KR" altLang="en-US" sz="2000" b="1" dirty="0">
                <a:latin typeface="+mj-ea"/>
                <a:ea typeface="+mj-ea"/>
              </a:rPr>
              <a:t>외부 도구</a:t>
            </a:r>
            <a:r>
              <a:rPr lang="en-US" altLang="ko-KR" sz="2000" b="1" dirty="0">
                <a:latin typeface="+mj-ea"/>
                <a:ea typeface="+mj-ea"/>
              </a:rPr>
              <a:t>)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FB89870C-BF50-CC76-7CD6-2BAE480C20E5}"/>
              </a:ext>
            </a:extLst>
          </p:cNvPr>
          <p:cNvSpPr/>
          <p:nvPr/>
        </p:nvSpPr>
        <p:spPr>
          <a:xfrm>
            <a:off x="7885357" y="1963211"/>
            <a:ext cx="2474367" cy="323698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F50C9E38-E07D-E354-21B8-D055B4A1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8047206" y="2048250"/>
            <a:ext cx="95098" cy="152705"/>
          </a:xfrm>
          <a:prstGeom prst="rect">
            <a:avLst/>
          </a:prstGeom>
        </p:spPr>
      </p:pic>
      <p:sp>
        <p:nvSpPr>
          <p:cNvPr id="10" name="Text 13">
            <a:extLst>
              <a:ext uri="{FF2B5EF4-FFF2-40B4-BE49-F238E27FC236}">
                <a16:creationId xmlns:a16="http://schemas.microsoft.com/office/drawing/2014/main" id="{AEDBD430-12F5-7BBF-CBA1-34B20C6A4079}"/>
              </a:ext>
            </a:extLst>
          </p:cNvPr>
          <p:cNvSpPr txBox="1"/>
          <p:nvPr/>
        </p:nvSpPr>
        <p:spPr>
          <a:xfrm>
            <a:off x="8218198" y="2039106"/>
            <a:ext cx="20107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붉은색 커서는 클릭 위치를 나타냅니다.</a:t>
            </a:r>
            <a:endParaRPr lang="en-US" sz="900" dirty="0">
              <a:latin typeface="+mn-ea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F9B54C4-94D3-4C1C-CE61-4A9BB8BD1FDE}"/>
              </a:ext>
            </a:extLst>
          </p:cNvPr>
          <p:cNvSpPr/>
          <p:nvPr/>
        </p:nvSpPr>
        <p:spPr>
          <a:xfrm>
            <a:off x="597768" y="2636978"/>
            <a:ext cx="3200299" cy="3761461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BCAFB72-A595-5261-38EB-E1C16122D704}"/>
              </a:ext>
            </a:extLst>
          </p:cNvPr>
          <p:cNvSpPr/>
          <p:nvPr/>
        </p:nvSpPr>
        <p:spPr>
          <a:xfrm>
            <a:off x="651101" y="2700582"/>
            <a:ext cx="3087257" cy="9486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3F287C2A-1129-F148-2664-B1ADFDF0D51C}"/>
              </a:ext>
            </a:extLst>
          </p:cNvPr>
          <p:cNvSpPr/>
          <p:nvPr/>
        </p:nvSpPr>
        <p:spPr>
          <a:xfrm>
            <a:off x="605199" y="3590994"/>
            <a:ext cx="3188940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C1CBE87F-B62A-DC42-1281-C2DA5FCB4F97}"/>
              </a:ext>
            </a:extLst>
          </p:cNvPr>
          <p:cNvSpPr/>
          <p:nvPr/>
        </p:nvSpPr>
        <p:spPr>
          <a:xfrm>
            <a:off x="790935" y="2770779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EFE88A1-9794-9A55-3540-2AB482E39DC8}"/>
              </a:ext>
            </a:extLst>
          </p:cNvPr>
          <p:cNvSpPr txBox="1"/>
          <p:nvPr/>
        </p:nvSpPr>
        <p:spPr>
          <a:xfrm>
            <a:off x="877118" y="2801239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</a:t>
            </a:r>
            <a:endParaRPr lang="en-US" sz="1000" dirty="0">
              <a:latin typeface="+mn-ea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F90D4D8-5B63-48F9-ED2D-F980EE73EB22}"/>
              </a:ext>
            </a:extLst>
          </p:cNvPr>
          <p:cNvSpPr txBox="1"/>
          <p:nvPr/>
        </p:nvSpPr>
        <p:spPr>
          <a:xfrm>
            <a:off x="1143837" y="2798523"/>
            <a:ext cx="1549422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목적 설정</a:t>
            </a:r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2035B57-64DE-4C39-6FB6-37739C8F4C01}"/>
              </a:ext>
            </a:extLst>
          </p:cNvPr>
          <p:cNvSpPr/>
          <p:nvPr/>
        </p:nvSpPr>
        <p:spPr>
          <a:xfrm>
            <a:off x="605199" y="3598427"/>
            <a:ext cx="3188940" cy="28129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752C686-84A5-AB7F-6F50-F5FF97A91400}"/>
              </a:ext>
            </a:extLst>
          </p:cNvPr>
          <p:cNvSpPr/>
          <p:nvPr/>
        </p:nvSpPr>
        <p:spPr>
          <a:xfrm>
            <a:off x="693944" y="3722499"/>
            <a:ext cx="30088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0F3E71E2-6204-1FB9-3506-4C7960BAFBC1}"/>
              </a:ext>
            </a:extLst>
          </p:cNvPr>
          <p:cNvSpPr txBox="1"/>
          <p:nvPr/>
        </p:nvSpPr>
        <p:spPr>
          <a:xfrm>
            <a:off x="724772" y="3142756"/>
            <a:ext cx="2978003" cy="32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어떤 작업에 사용할지 명확한 </a:t>
            </a:r>
            <a:r>
              <a:rPr lang="en-US" altLang="ko-KR" sz="1000" b="1" dirty="0">
                <a:solidFill>
                  <a:srgbClr val="3A72ED"/>
                </a:solidFill>
                <a:latin typeface="+mn-ea"/>
                <a:cs typeface="Noto Sans KR" pitchFamily="34" charset="-120"/>
              </a:rPr>
              <a:t>[</a:t>
            </a:r>
            <a:r>
              <a:rPr lang="ko-KR" altLang="en-US" sz="1000" b="1" dirty="0">
                <a:solidFill>
                  <a:srgbClr val="3A72ED"/>
                </a:solidFill>
                <a:latin typeface="+mn-ea"/>
                <a:cs typeface="Noto Sans KR" pitchFamily="34" charset="-120"/>
              </a:rPr>
              <a:t>목적</a:t>
            </a:r>
            <a:r>
              <a:rPr lang="en-US" altLang="ko-KR" sz="1000" b="1" dirty="0">
                <a:solidFill>
                  <a:srgbClr val="3A72ED"/>
                </a:solidFill>
                <a:latin typeface="+mn-ea"/>
                <a:cs typeface="Noto Sans KR" pitchFamily="34" charset="-120"/>
              </a:rPr>
              <a:t>]</a:t>
            </a:r>
            <a:r>
              <a:rPr lang="ko-KR" altLang="en-US" sz="1000" b="1" dirty="0">
                <a:solidFill>
                  <a:srgbClr val="3A72ED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선택합니다</a:t>
            </a:r>
            <a:r>
              <a:rPr lang="en-US" altLang="ko-KR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.</a:t>
            </a:r>
            <a:endParaRPr lang="en-US" altLang="ko-KR" sz="1000" dirty="0">
              <a:latin typeface="+mn-ea"/>
            </a:endParaRPr>
          </a:p>
          <a:p>
            <a:endParaRPr lang="en-US" altLang="ko-KR" sz="1000" dirty="0">
              <a:latin typeface="+mn-ea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F7D8D4F8-D23C-2EDA-1BED-FF695B2038A0}"/>
              </a:ext>
            </a:extLst>
          </p:cNvPr>
          <p:cNvSpPr/>
          <p:nvPr/>
        </p:nvSpPr>
        <p:spPr>
          <a:xfrm>
            <a:off x="4018509" y="2635858"/>
            <a:ext cx="3088085" cy="3790368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9413F783-4A0F-D7AE-DF2A-64A000214CAA}"/>
              </a:ext>
            </a:extLst>
          </p:cNvPr>
          <p:cNvSpPr/>
          <p:nvPr/>
        </p:nvSpPr>
        <p:spPr>
          <a:xfrm>
            <a:off x="4031896" y="2664011"/>
            <a:ext cx="3077124" cy="97011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09D85495-2B9B-A3D7-3ABB-D93BF9DF918E}"/>
              </a:ext>
            </a:extLst>
          </p:cNvPr>
          <p:cNvSpPr/>
          <p:nvPr/>
        </p:nvSpPr>
        <p:spPr>
          <a:xfrm>
            <a:off x="4025941" y="3618780"/>
            <a:ext cx="3077124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634326BE-B3E2-97FB-2D5A-B014F868A1E9}"/>
              </a:ext>
            </a:extLst>
          </p:cNvPr>
          <p:cNvSpPr txBox="1"/>
          <p:nvPr/>
        </p:nvSpPr>
        <p:spPr>
          <a:xfrm>
            <a:off x="4297860" y="2829025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1F50A6D8-0367-E82F-585A-8AD55B72A56A}"/>
              </a:ext>
            </a:extLst>
          </p:cNvPr>
          <p:cNvSpPr txBox="1"/>
          <p:nvPr/>
        </p:nvSpPr>
        <p:spPr>
          <a:xfrm>
            <a:off x="4560875" y="2857016"/>
            <a:ext cx="1648326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</a:rPr>
              <a:t>도구 선택</a:t>
            </a:r>
            <a:endParaRPr lang="en-US" altLang="ko-KR" sz="1200" dirty="0"/>
          </a:p>
          <a:p>
            <a:endParaRPr lang="en-US" altLang="ko-KR" sz="1200" dirty="0">
              <a:latin typeface="+mn-ea"/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C3EFEB77-1787-CC43-3E57-7E4A346FA7F1}"/>
              </a:ext>
            </a:extLst>
          </p:cNvPr>
          <p:cNvSpPr/>
          <p:nvPr/>
        </p:nvSpPr>
        <p:spPr>
          <a:xfrm>
            <a:off x="4031896" y="3646935"/>
            <a:ext cx="3077124" cy="276441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6A02DEFF-49B2-87BF-FDAC-04C90091A353}"/>
              </a:ext>
            </a:extLst>
          </p:cNvPr>
          <p:cNvSpPr/>
          <p:nvPr/>
        </p:nvSpPr>
        <p:spPr>
          <a:xfrm>
            <a:off x="4110857" y="3789879"/>
            <a:ext cx="29033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C1760E3B-7D4F-6A9E-D773-E4CE244031DB}"/>
              </a:ext>
            </a:extLst>
          </p:cNvPr>
          <p:cNvSpPr txBox="1"/>
          <p:nvPr/>
        </p:nvSpPr>
        <p:spPr>
          <a:xfrm>
            <a:off x="4219788" y="3145692"/>
            <a:ext cx="3024845" cy="32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b="1" dirty="0">
                <a:solidFill>
                  <a:srgbClr val="3A72ED"/>
                </a:solidFill>
                <a:latin typeface="+mn-ea"/>
              </a:rPr>
              <a:t>[</a:t>
            </a:r>
            <a:r>
              <a:rPr lang="ko-KR" altLang="en-US" sz="1000" b="1" dirty="0">
                <a:solidFill>
                  <a:srgbClr val="3A72ED"/>
                </a:solidFill>
                <a:latin typeface="+mn-ea"/>
              </a:rPr>
              <a:t>플랫폼 도구</a:t>
            </a:r>
            <a:r>
              <a:rPr lang="en-US" altLang="ko-KR" sz="1000" b="1" dirty="0">
                <a:solidFill>
                  <a:srgbClr val="3A72ED"/>
                </a:solidFill>
                <a:latin typeface="+mn-ea"/>
              </a:rPr>
              <a:t>]</a:t>
            </a:r>
            <a:r>
              <a:rPr lang="ko-KR" altLang="en-US" sz="1000" b="1" dirty="0">
                <a:solidFill>
                  <a:srgbClr val="3A72ED"/>
                </a:solidFill>
                <a:latin typeface="+mn-ea"/>
              </a:rPr>
              <a:t>를 </a:t>
            </a:r>
            <a:r>
              <a:rPr lang="ko-KR" altLang="en-US" sz="1000" dirty="0">
                <a:latin typeface="+mn-ea"/>
              </a:rPr>
              <a:t>선택합니다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endParaRPr lang="en-US" altLang="ko-KR" sz="1000" dirty="0">
              <a:latin typeface="+mn-ea"/>
            </a:endParaRPr>
          </a:p>
          <a:p>
            <a:endParaRPr lang="en-US" sz="1000" dirty="0">
              <a:latin typeface="+mn-ea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6768504F-0258-29B2-BAF4-8C5E0D7FDF7C}"/>
              </a:ext>
            </a:extLst>
          </p:cNvPr>
          <p:cNvSpPr/>
          <p:nvPr/>
        </p:nvSpPr>
        <p:spPr>
          <a:xfrm>
            <a:off x="4190535" y="2816549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CB880D84-F744-FC9F-613B-04A896E50F8A}"/>
              </a:ext>
            </a:extLst>
          </p:cNvPr>
          <p:cNvSpPr txBox="1"/>
          <p:nvPr/>
        </p:nvSpPr>
        <p:spPr>
          <a:xfrm>
            <a:off x="4276718" y="2847009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1000" dirty="0">
              <a:latin typeface="+mn-ea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F669FCD6-6A4A-3F6F-7055-92C830EE5926}"/>
              </a:ext>
            </a:extLst>
          </p:cNvPr>
          <p:cNvSpPr txBox="1"/>
          <p:nvPr/>
        </p:nvSpPr>
        <p:spPr>
          <a:xfrm>
            <a:off x="7302433" y="2843273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51" name="Shape 58">
            <a:extLst>
              <a:ext uri="{FF2B5EF4-FFF2-40B4-BE49-F238E27FC236}">
                <a16:creationId xmlns:a16="http://schemas.microsoft.com/office/drawing/2014/main" id="{FA4D7576-0614-D5CA-292E-0D55E5745650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52" name="Text 59">
            <a:extLst>
              <a:ext uri="{FF2B5EF4-FFF2-40B4-BE49-F238E27FC236}">
                <a16:creationId xmlns:a16="http://schemas.microsoft.com/office/drawing/2014/main" id="{DC7D4A97-9FE7-C91C-E330-EB60E59BC36D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30</a:t>
            </a:r>
            <a:endParaRPr lang="en-US" sz="1000" dirty="0">
              <a:latin typeface="+mn-ea"/>
            </a:endParaRPr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7D57A1AE-D0D6-4166-99F9-78A77EA054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97" b="-97"/>
          <a:stretch/>
        </p:blipFill>
        <p:spPr>
          <a:xfrm>
            <a:off x="576196" y="1737292"/>
            <a:ext cx="571500" cy="48463"/>
          </a:xfrm>
          <a:prstGeom prst="rect">
            <a:avLst/>
          </a:prstGeom>
        </p:spPr>
      </p:pic>
      <p:sp>
        <p:nvSpPr>
          <p:cNvPr id="45" name="Shape 7">
            <a:extLst>
              <a:ext uri="{FF2B5EF4-FFF2-40B4-BE49-F238E27FC236}">
                <a16:creationId xmlns:a16="http://schemas.microsoft.com/office/drawing/2014/main" id="{570BFE75-68DB-81B4-FEB3-4F618074D5EF}"/>
              </a:ext>
            </a:extLst>
          </p:cNvPr>
          <p:cNvSpPr/>
          <p:nvPr/>
        </p:nvSpPr>
        <p:spPr>
          <a:xfrm>
            <a:off x="7295001" y="2633079"/>
            <a:ext cx="3088085" cy="3790368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C152DFDE-3310-06A4-8B48-C74CA77AD6C2}"/>
              </a:ext>
            </a:extLst>
          </p:cNvPr>
          <p:cNvSpPr/>
          <p:nvPr/>
        </p:nvSpPr>
        <p:spPr>
          <a:xfrm>
            <a:off x="7302433" y="2640510"/>
            <a:ext cx="3077124" cy="97011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A6CB2149-8A4E-ED98-08DE-11064B9AB824}"/>
              </a:ext>
            </a:extLst>
          </p:cNvPr>
          <p:cNvSpPr/>
          <p:nvPr/>
        </p:nvSpPr>
        <p:spPr>
          <a:xfrm>
            <a:off x="7302433" y="3616001"/>
            <a:ext cx="3077124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04859032-AF03-6904-598D-19230D8B72A1}"/>
              </a:ext>
            </a:extLst>
          </p:cNvPr>
          <p:cNvSpPr txBox="1"/>
          <p:nvPr/>
        </p:nvSpPr>
        <p:spPr>
          <a:xfrm>
            <a:off x="7574352" y="2826246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3A5ED971-0E2A-AB03-7D22-318F147127E8}"/>
              </a:ext>
            </a:extLst>
          </p:cNvPr>
          <p:cNvSpPr txBox="1"/>
          <p:nvPr/>
        </p:nvSpPr>
        <p:spPr>
          <a:xfrm>
            <a:off x="7831412" y="2833515"/>
            <a:ext cx="1648326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</a:rPr>
              <a:t>이름 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</a:rPr>
              <a:t>&amp;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</a:rPr>
              <a:t>저장</a:t>
            </a:r>
            <a:endParaRPr lang="en-US" altLang="ko-KR" sz="1200" dirty="0"/>
          </a:p>
        </p:txBody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72294DA4-7FFF-17BB-0D49-B51F1E7D983F}"/>
              </a:ext>
            </a:extLst>
          </p:cNvPr>
          <p:cNvSpPr/>
          <p:nvPr/>
        </p:nvSpPr>
        <p:spPr>
          <a:xfrm>
            <a:off x="7302433" y="3623434"/>
            <a:ext cx="3077124" cy="28129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7" name="Shape 15">
            <a:extLst>
              <a:ext uri="{FF2B5EF4-FFF2-40B4-BE49-F238E27FC236}">
                <a16:creationId xmlns:a16="http://schemas.microsoft.com/office/drawing/2014/main" id="{5C8412B3-8D3C-BBC4-569A-8021C0046F01}"/>
              </a:ext>
            </a:extLst>
          </p:cNvPr>
          <p:cNvSpPr/>
          <p:nvPr/>
        </p:nvSpPr>
        <p:spPr>
          <a:xfrm>
            <a:off x="7381394" y="3766378"/>
            <a:ext cx="29033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3EAE12B2-AE19-C8CE-01B5-ACA4BA0E4C07}"/>
              </a:ext>
            </a:extLst>
          </p:cNvPr>
          <p:cNvSpPr/>
          <p:nvPr/>
        </p:nvSpPr>
        <p:spPr>
          <a:xfrm>
            <a:off x="7461072" y="2793048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A48F5201-6881-53E2-DEDE-7B728751B999}"/>
              </a:ext>
            </a:extLst>
          </p:cNvPr>
          <p:cNvSpPr txBox="1"/>
          <p:nvPr/>
        </p:nvSpPr>
        <p:spPr>
          <a:xfrm>
            <a:off x="7547255" y="2823508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3</a:t>
            </a:r>
            <a:endParaRPr lang="en-US" sz="1000" dirty="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4FE136-0E31-F015-0270-3D030FC26F0A}"/>
              </a:ext>
            </a:extLst>
          </p:cNvPr>
          <p:cNvSpPr txBox="1"/>
          <p:nvPr/>
        </p:nvSpPr>
        <p:spPr>
          <a:xfrm>
            <a:off x="7416748" y="3125565"/>
            <a:ext cx="53482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j-ea"/>
              </a:rPr>
              <a:t>MCP </a:t>
            </a:r>
            <a:r>
              <a:rPr lang="en-US" altLang="ko-KR" sz="1000" b="1" dirty="0">
                <a:solidFill>
                  <a:srgbClr val="2563EB"/>
                </a:solidFill>
                <a:latin typeface="+mj-ea"/>
              </a:rPr>
              <a:t>[</a:t>
            </a:r>
            <a:r>
              <a:rPr lang="ko-KR" altLang="en-US" sz="1000" b="1" dirty="0">
                <a:solidFill>
                  <a:srgbClr val="2563EB"/>
                </a:solidFill>
                <a:latin typeface="+mj-ea"/>
              </a:rPr>
              <a:t>이름</a:t>
            </a:r>
            <a:r>
              <a:rPr lang="en-US" altLang="ko-KR" sz="1000" b="1" dirty="0">
                <a:solidFill>
                  <a:srgbClr val="2563EB"/>
                </a:solidFill>
                <a:latin typeface="+mj-ea"/>
              </a:rPr>
              <a:t>], </a:t>
            </a:r>
            <a:r>
              <a:rPr lang="en-US" altLang="ko-KR" sz="1000" dirty="0">
                <a:latin typeface="+mj-ea"/>
              </a:rPr>
              <a:t>MCP </a:t>
            </a:r>
            <a:r>
              <a:rPr lang="en-US" altLang="ko-KR" sz="1000" b="1" dirty="0">
                <a:solidFill>
                  <a:srgbClr val="2563EB"/>
                </a:solidFill>
                <a:latin typeface="+mj-ea"/>
              </a:rPr>
              <a:t>[</a:t>
            </a:r>
            <a:r>
              <a:rPr lang="ko-KR" altLang="en-US" sz="1000" b="1" dirty="0">
                <a:solidFill>
                  <a:srgbClr val="2563EB"/>
                </a:solidFill>
                <a:latin typeface="+mj-ea"/>
              </a:rPr>
              <a:t>설명</a:t>
            </a:r>
            <a:r>
              <a:rPr lang="en-US" altLang="ko-KR" sz="1000" b="1" dirty="0">
                <a:solidFill>
                  <a:srgbClr val="3A72ED"/>
                </a:solidFill>
                <a:latin typeface="+mj-ea"/>
              </a:rPr>
              <a:t>]</a:t>
            </a:r>
            <a:r>
              <a:rPr lang="ko-KR" altLang="en-US" sz="1000" dirty="0">
                <a:latin typeface="+mj-ea"/>
              </a:rPr>
              <a:t> 작성</a:t>
            </a:r>
            <a:endParaRPr lang="en-US" altLang="ko-KR" sz="1000" dirty="0">
              <a:latin typeface="+mj-ea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B737ADB-C974-E562-B686-998138C46526}"/>
              </a:ext>
            </a:extLst>
          </p:cNvPr>
          <p:cNvGrpSpPr/>
          <p:nvPr/>
        </p:nvGrpSpPr>
        <p:grpSpPr>
          <a:xfrm>
            <a:off x="939318" y="3803335"/>
            <a:ext cx="2520000" cy="2340000"/>
            <a:chOff x="7428586" y="597556"/>
            <a:chExt cx="3343742" cy="4896533"/>
          </a:xfrm>
        </p:grpSpPr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8DA3A681-FAC1-DBE4-909B-AE42C4ACF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8586" y="597556"/>
              <a:ext cx="3343742" cy="4896533"/>
            </a:xfrm>
            <a:prstGeom prst="rect">
              <a:avLst/>
            </a:prstGeom>
          </p:spPr>
        </p:pic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C332878-155E-DDF7-32EA-028571E5ECAB}"/>
                </a:ext>
              </a:extLst>
            </p:cNvPr>
            <p:cNvSpPr/>
            <p:nvPr/>
          </p:nvSpPr>
          <p:spPr>
            <a:xfrm>
              <a:off x="7729227" y="1085510"/>
              <a:ext cx="138968" cy="1635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1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A8FE2FB-7656-692B-F337-EEA445A8641C}"/>
                </a:ext>
              </a:extLst>
            </p:cNvPr>
            <p:cNvSpPr/>
            <p:nvPr/>
          </p:nvSpPr>
          <p:spPr>
            <a:xfrm>
              <a:off x="7868194" y="1085510"/>
              <a:ext cx="2834639" cy="44085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68E83246-DEE0-7B77-7EA1-A75800280D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1894663" y="4162742"/>
            <a:ext cx="95098" cy="152705"/>
          </a:xfrm>
          <a:prstGeom prst="rect">
            <a:avLst/>
          </a:prstGeom>
        </p:spPr>
      </p:pic>
      <p:grpSp>
        <p:nvGrpSpPr>
          <p:cNvPr id="74" name="그룹 73">
            <a:extLst>
              <a:ext uri="{FF2B5EF4-FFF2-40B4-BE49-F238E27FC236}">
                <a16:creationId xmlns:a16="http://schemas.microsoft.com/office/drawing/2014/main" id="{74B3702C-9098-F3D5-ACB6-B5A8210EAD23}"/>
              </a:ext>
            </a:extLst>
          </p:cNvPr>
          <p:cNvGrpSpPr/>
          <p:nvPr/>
        </p:nvGrpSpPr>
        <p:grpSpPr>
          <a:xfrm>
            <a:off x="4338918" y="3838967"/>
            <a:ext cx="2520000" cy="2408969"/>
            <a:chOff x="7278081" y="3502008"/>
            <a:chExt cx="2520000" cy="2408969"/>
          </a:xfrm>
        </p:grpSpPr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78DDB3E1-EEDD-E134-2918-465EF170A84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78081" y="3502008"/>
              <a:ext cx="2520000" cy="2340000"/>
            </a:xfrm>
            <a:prstGeom prst="rect">
              <a:avLst/>
            </a:prstGeom>
          </p:spPr>
        </p:pic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F44887F4-4767-46EF-B1AE-05434DC5CA38}"/>
                </a:ext>
              </a:extLst>
            </p:cNvPr>
            <p:cNvSpPr/>
            <p:nvPr/>
          </p:nvSpPr>
          <p:spPr>
            <a:xfrm>
              <a:off x="7428586" y="3804165"/>
              <a:ext cx="104733" cy="781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2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9854452-BA81-1859-1C3B-63C187F6D9E2}"/>
                </a:ext>
              </a:extLst>
            </p:cNvPr>
            <p:cNvSpPr/>
            <p:nvPr/>
          </p:nvSpPr>
          <p:spPr>
            <a:xfrm>
              <a:off x="7533318" y="3804165"/>
              <a:ext cx="2136316" cy="210681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8AB9BFE8-34A5-907B-14D4-BDABA19200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4778357" y="4297079"/>
            <a:ext cx="95098" cy="152705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4515E818-0BDC-0AF0-EFE8-7A348B126C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892" y="4042425"/>
            <a:ext cx="2467319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81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7DC58-1160-3066-0CB0-4CBBA1164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9">
            <a:extLst>
              <a:ext uri="{FF2B5EF4-FFF2-40B4-BE49-F238E27FC236}">
                <a16:creationId xmlns:a16="http://schemas.microsoft.com/office/drawing/2014/main" id="{67A73B4B-6439-B277-75F7-21BADA920FBC}"/>
              </a:ext>
            </a:extLst>
          </p:cNvPr>
          <p:cNvSpPr txBox="1"/>
          <p:nvPr/>
        </p:nvSpPr>
        <p:spPr>
          <a:xfrm>
            <a:off x="608994" y="1274534"/>
            <a:ext cx="560957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latin typeface="+mj-ea"/>
                <a:ea typeface="+mj-ea"/>
              </a:rPr>
              <a:t>MCP </a:t>
            </a:r>
            <a:r>
              <a:rPr lang="ko-KR" altLang="en-US" sz="2000" b="1" dirty="0">
                <a:latin typeface="+mj-ea"/>
                <a:ea typeface="+mj-ea"/>
              </a:rPr>
              <a:t>만들기 </a:t>
            </a:r>
            <a:r>
              <a:rPr lang="en-US" altLang="ko-KR" sz="2000" b="1" dirty="0">
                <a:latin typeface="+mj-ea"/>
                <a:ea typeface="+mj-ea"/>
              </a:rPr>
              <a:t>4</a:t>
            </a:r>
            <a:r>
              <a:rPr lang="ko-KR" altLang="en-US" sz="2000" b="1" dirty="0">
                <a:latin typeface="+mj-ea"/>
                <a:ea typeface="+mj-ea"/>
              </a:rPr>
              <a:t>단계</a:t>
            </a:r>
            <a:r>
              <a:rPr lang="en-US" altLang="ko-KR" sz="2000" b="1" dirty="0">
                <a:latin typeface="+mj-ea"/>
              </a:rPr>
              <a:t> (</a:t>
            </a:r>
            <a:r>
              <a:rPr lang="ko-KR" altLang="en-US" sz="2000" b="1" dirty="0">
                <a:latin typeface="+mj-ea"/>
              </a:rPr>
              <a:t>외부 도구</a:t>
            </a:r>
            <a:r>
              <a:rPr lang="en-US" altLang="ko-KR" sz="2000" b="1" dirty="0">
                <a:latin typeface="+mj-ea"/>
              </a:rPr>
              <a:t>)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F9965F8C-4A0F-1DE6-4A27-2D1689C93679}"/>
              </a:ext>
            </a:extLst>
          </p:cNvPr>
          <p:cNvSpPr/>
          <p:nvPr/>
        </p:nvSpPr>
        <p:spPr>
          <a:xfrm>
            <a:off x="7912248" y="2193178"/>
            <a:ext cx="2474367" cy="323698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2F67899F-E658-A6A9-2380-E052349CA1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8074097" y="2278217"/>
            <a:ext cx="95098" cy="152705"/>
          </a:xfrm>
          <a:prstGeom prst="rect">
            <a:avLst/>
          </a:prstGeom>
        </p:spPr>
      </p:pic>
      <p:sp>
        <p:nvSpPr>
          <p:cNvPr id="10" name="Text 13">
            <a:extLst>
              <a:ext uri="{FF2B5EF4-FFF2-40B4-BE49-F238E27FC236}">
                <a16:creationId xmlns:a16="http://schemas.microsoft.com/office/drawing/2014/main" id="{F844186F-5093-E2AF-9D1F-09160B1AD9D9}"/>
              </a:ext>
            </a:extLst>
          </p:cNvPr>
          <p:cNvSpPr txBox="1"/>
          <p:nvPr/>
        </p:nvSpPr>
        <p:spPr>
          <a:xfrm>
            <a:off x="8245089" y="2269073"/>
            <a:ext cx="20107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붉은색 커서는 클릭 위치를 나타냅니다.</a:t>
            </a:r>
            <a:endParaRPr lang="en-US" sz="900" dirty="0">
              <a:latin typeface="+mn-ea"/>
            </a:endParaRPr>
          </a:p>
        </p:txBody>
      </p:sp>
      <p:sp>
        <p:nvSpPr>
          <p:cNvPr id="51" name="Shape 58">
            <a:extLst>
              <a:ext uri="{FF2B5EF4-FFF2-40B4-BE49-F238E27FC236}">
                <a16:creationId xmlns:a16="http://schemas.microsoft.com/office/drawing/2014/main" id="{EEE466E6-E760-756B-CDA7-54F6A34E6ACF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52" name="Text 59">
            <a:extLst>
              <a:ext uri="{FF2B5EF4-FFF2-40B4-BE49-F238E27FC236}">
                <a16:creationId xmlns:a16="http://schemas.microsoft.com/office/drawing/2014/main" id="{408466E0-97F6-F8CE-DD39-F388391A55D0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31</a:t>
            </a:r>
            <a:endParaRPr lang="en-US" sz="1000" dirty="0">
              <a:latin typeface="+mn-ea"/>
            </a:endParaRPr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271EB7F8-59E8-6969-A493-220EC6BA71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97" b="-97"/>
          <a:stretch/>
        </p:blipFill>
        <p:spPr>
          <a:xfrm>
            <a:off x="576196" y="1737292"/>
            <a:ext cx="571500" cy="48463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03741F7B-DB9A-6172-BF6C-91C14F3D313A}"/>
              </a:ext>
            </a:extLst>
          </p:cNvPr>
          <p:cNvSpPr/>
          <p:nvPr/>
        </p:nvSpPr>
        <p:spPr>
          <a:xfrm>
            <a:off x="587970" y="2685159"/>
            <a:ext cx="3088085" cy="3790368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A8431709-31D9-6DEA-428A-12B4BFA700B3}"/>
              </a:ext>
            </a:extLst>
          </p:cNvPr>
          <p:cNvSpPr/>
          <p:nvPr/>
        </p:nvSpPr>
        <p:spPr>
          <a:xfrm>
            <a:off x="595402" y="2692590"/>
            <a:ext cx="3077124" cy="97011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BA309FA2-3F4C-4099-EAA5-0DE4955CC9F2}"/>
              </a:ext>
            </a:extLst>
          </p:cNvPr>
          <p:cNvSpPr/>
          <p:nvPr/>
        </p:nvSpPr>
        <p:spPr>
          <a:xfrm>
            <a:off x="595402" y="3668081"/>
            <a:ext cx="3077124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DDAF9ADD-3F34-8ED6-C0B7-A82136C4C402}"/>
              </a:ext>
            </a:extLst>
          </p:cNvPr>
          <p:cNvSpPr txBox="1"/>
          <p:nvPr/>
        </p:nvSpPr>
        <p:spPr>
          <a:xfrm>
            <a:off x="867321" y="2878326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FF8B4820-8CEE-B61B-AE23-8EE44FFD0FB5}"/>
              </a:ext>
            </a:extLst>
          </p:cNvPr>
          <p:cNvSpPr txBox="1"/>
          <p:nvPr/>
        </p:nvSpPr>
        <p:spPr>
          <a:xfrm>
            <a:off x="1124381" y="2885595"/>
            <a:ext cx="1648326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</a:rPr>
              <a:t>조합 테스트</a:t>
            </a:r>
            <a:endParaRPr lang="en-US" altLang="ko-KR" sz="1200" dirty="0"/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48A4364E-97FC-4B2F-8517-A2ECF67A5B45}"/>
              </a:ext>
            </a:extLst>
          </p:cNvPr>
          <p:cNvSpPr/>
          <p:nvPr/>
        </p:nvSpPr>
        <p:spPr>
          <a:xfrm>
            <a:off x="595402" y="3675514"/>
            <a:ext cx="3077124" cy="28129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53DA0069-A511-63E6-4F71-4BBE13E9D1AB}"/>
              </a:ext>
            </a:extLst>
          </p:cNvPr>
          <p:cNvSpPr/>
          <p:nvPr/>
        </p:nvSpPr>
        <p:spPr>
          <a:xfrm>
            <a:off x="674363" y="3818458"/>
            <a:ext cx="29033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6" name="Shape 10">
            <a:extLst>
              <a:ext uri="{FF2B5EF4-FFF2-40B4-BE49-F238E27FC236}">
                <a16:creationId xmlns:a16="http://schemas.microsoft.com/office/drawing/2014/main" id="{61CFB6D5-8669-9AFD-6378-9441E7D6BF57}"/>
              </a:ext>
            </a:extLst>
          </p:cNvPr>
          <p:cNvSpPr/>
          <p:nvPr/>
        </p:nvSpPr>
        <p:spPr>
          <a:xfrm>
            <a:off x="754041" y="2845128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F3C86D80-098D-4B92-B3F4-608E8539B045}"/>
              </a:ext>
            </a:extLst>
          </p:cNvPr>
          <p:cNvSpPr txBox="1"/>
          <p:nvPr/>
        </p:nvSpPr>
        <p:spPr>
          <a:xfrm>
            <a:off x="840224" y="2875588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4</a:t>
            </a:r>
            <a:endParaRPr lang="en-US" sz="1000" dirty="0"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8D4850-7B98-76C9-2791-2436E55DC141}"/>
              </a:ext>
            </a:extLst>
          </p:cNvPr>
          <p:cNvSpPr txBox="1"/>
          <p:nvPr/>
        </p:nvSpPr>
        <p:spPr>
          <a:xfrm>
            <a:off x="1056169" y="3126317"/>
            <a:ext cx="25215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j-ea"/>
              </a:rPr>
              <a:t>저장한 </a:t>
            </a:r>
            <a:r>
              <a:rPr lang="en-US" altLang="ko-KR" sz="1000" dirty="0">
                <a:latin typeface="+mj-ea"/>
              </a:rPr>
              <a:t>MCP</a:t>
            </a:r>
            <a:r>
              <a:rPr lang="ko-KR" altLang="en-US" sz="1000" dirty="0">
                <a:latin typeface="+mj-ea"/>
              </a:rPr>
              <a:t>를 실시간으로 테스트를 하기위해 </a:t>
            </a:r>
            <a:r>
              <a:rPr lang="en-US" altLang="ko-KR" sz="1000" b="1" dirty="0">
                <a:solidFill>
                  <a:srgbClr val="3A72ED"/>
                </a:solidFill>
                <a:latin typeface="+mj-ea"/>
              </a:rPr>
              <a:t>[</a:t>
            </a:r>
            <a:r>
              <a:rPr lang="ko-KR" altLang="en-US" sz="1000" b="1" dirty="0">
                <a:solidFill>
                  <a:srgbClr val="3A72ED"/>
                </a:solidFill>
                <a:latin typeface="+mj-ea"/>
              </a:rPr>
              <a:t>모델 선택</a:t>
            </a:r>
            <a:r>
              <a:rPr lang="en-US" altLang="ko-KR" sz="1000" b="1" dirty="0">
                <a:solidFill>
                  <a:srgbClr val="3A72ED"/>
                </a:solidFill>
                <a:latin typeface="+mj-ea"/>
              </a:rPr>
              <a:t>]</a:t>
            </a:r>
            <a:r>
              <a:rPr lang="ko-KR" altLang="en-US" sz="1000" dirty="0">
                <a:latin typeface="+mj-ea"/>
              </a:rPr>
              <a:t>과 </a:t>
            </a:r>
            <a:r>
              <a:rPr lang="en-US" altLang="ko-KR" sz="1000" b="1" dirty="0">
                <a:solidFill>
                  <a:srgbClr val="3A72ED"/>
                </a:solidFill>
                <a:latin typeface="+mj-ea"/>
              </a:rPr>
              <a:t>[</a:t>
            </a:r>
            <a:r>
              <a:rPr lang="ko-KR" altLang="en-US" sz="1000" b="1" dirty="0">
                <a:solidFill>
                  <a:srgbClr val="3A72ED"/>
                </a:solidFill>
                <a:latin typeface="+mj-ea"/>
              </a:rPr>
              <a:t>프롬프트 작성</a:t>
            </a:r>
            <a:r>
              <a:rPr lang="en-US" altLang="ko-KR" sz="1000" b="1" dirty="0">
                <a:solidFill>
                  <a:srgbClr val="3A72ED"/>
                </a:solidFill>
                <a:latin typeface="+mj-ea"/>
              </a:rPr>
              <a:t>]</a:t>
            </a:r>
            <a:r>
              <a:rPr lang="ko-KR" altLang="en-US" sz="1000" b="1" dirty="0">
                <a:solidFill>
                  <a:srgbClr val="3A72ED"/>
                </a:solidFill>
                <a:latin typeface="+mj-ea"/>
              </a:rPr>
              <a:t> </a:t>
            </a:r>
            <a:r>
              <a:rPr lang="ko-KR" altLang="en-US" sz="1000" dirty="0">
                <a:latin typeface="+mj-ea"/>
              </a:rPr>
              <a:t>후 실행 버튼을 클릭합니다</a:t>
            </a:r>
            <a:r>
              <a:rPr lang="en-US" altLang="ko-KR" sz="1000" dirty="0">
                <a:latin typeface="+mj-ea"/>
              </a:rPr>
              <a:t>.</a:t>
            </a:r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7D72C1A4-0FB4-0C24-E7EB-4EBABA0E4BED}"/>
              </a:ext>
            </a:extLst>
          </p:cNvPr>
          <p:cNvSpPr/>
          <p:nvPr/>
        </p:nvSpPr>
        <p:spPr>
          <a:xfrm>
            <a:off x="3962844" y="2672345"/>
            <a:ext cx="3088085" cy="3790368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62" name="Shape 8">
            <a:extLst>
              <a:ext uri="{FF2B5EF4-FFF2-40B4-BE49-F238E27FC236}">
                <a16:creationId xmlns:a16="http://schemas.microsoft.com/office/drawing/2014/main" id="{CB121771-E2B3-044E-FF97-A37C9448418F}"/>
              </a:ext>
            </a:extLst>
          </p:cNvPr>
          <p:cNvSpPr/>
          <p:nvPr/>
        </p:nvSpPr>
        <p:spPr>
          <a:xfrm>
            <a:off x="3970276" y="2679776"/>
            <a:ext cx="3077124" cy="97011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20ACFD7E-CA29-8149-50CD-16ACBC92225E}"/>
              </a:ext>
            </a:extLst>
          </p:cNvPr>
          <p:cNvSpPr/>
          <p:nvPr/>
        </p:nvSpPr>
        <p:spPr>
          <a:xfrm>
            <a:off x="3970276" y="3655267"/>
            <a:ext cx="3077124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EA1C50B8-F47E-1B19-E25D-5570572F17DA}"/>
              </a:ext>
            </a:extLst>
          </p:cNvPr>
          <p:cNvSpPr txBox="1"/>
          <p:nvPr/>
        </p:nvSpPr>
        <p:spPr>
          <a:xfrm>
            <a:off x="4242195" y="2865512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D671C00D-B07A-2A25-BBA7-15C1B5221817}"/>
              </a:ext>
            </a:extLst>
          </p:cNvPr>
          <p:cNvSpPr txBox="1"/>
          <p:nvPr/>
        </p:nvSpPr>
        <p:spPr>
          <a:xfrm>
            <a:off x="4499255" y="2872781"/>
            <a:ext cx="1648326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</a:rPr>
              <a:t>결과 확인</a:t>
            </a:r>
            <a:endParaRPr lang="en-US" altLang="ko-KR" sz="1200" dirty="0"/>
          </a:p>
        </p:txBody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CF9E1BD4-E0BE-D466-2FAE-B620A40318E3}"/>
              </a:ext>
            </a:extLst>
          </p:cNvPr>
          <p:cNvSpPr/>
          <p:nvPr/>
        </p:nvSpPr>
        <p:spPr>
          <a:xfrm>
            <a:off x="3970276" y="3662700"/>
            <a:ext cx="3077124" cy="28129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9F92E334-51F2-CB78-2C04-0221DF32FF0F}"/>
              </a:ext>
            </a:extLst>
          </p:cNvPr>
          <p:cNvSpPr/>
          <p:nvPr/>
        </p:nvSpPr>
        <p:spPr>
          <a:xfrm>
            <a:off x="4049237" y="3805644"/>
            <a:ext cx="29033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941B2D1B-D0E3-3150-F77B-D9A0628DFA32}"/>
              </a:ext>
            </a:extLst>
          </p:cNvPr>
          <p:cNvSpPr/>
          <p:nvPr/>
        </p:nvSpPr>
        <p:spPr>
          <a:xfrm>
            <a:off x="4128915" y="2832314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C87A6142-8489-F068-81EF-0EA7D839D00C}"/>
              </a:ext>
            </a:extLst>
          </p:cNvPr>
          <p:cNvSpPr txBox="1"/>
          <p:nvPr/>
        </p:nvSpPr>
        <p:spPr>
          <a:xfrm>
            <a:off x="4215098" y="2862774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5</a:t>
            </a:r>
            <a:endParaRPr lang="en-US" sz="1000" dirty="0"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A72921-18D4-8930-8480-8B8C98803D8A}"/>
              </a:ext>
            </a:extLst>
          </p:cNvPr>
          <p:cNvSpPr txBox="1"/>
          <p:nvPr/>
        </p:nvSpPr>
        <p:spPr>
          <a:xfrm>
            <a:off x="4431043" y="3113503"/>
            <a:ext cx="25215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j-ea"/>
              </a:rPr>
              <a:t>저장한 </a:t>
            </a:r>
            <a:r>
              <a:rPr lang="en-US" altLang="ko-KR" sz="1000" dirty="0">
                <a:latin typeface="+mj-ea"/>
              </a:rPr>
              <a:t>MCP</a:t>
            </a:r>
            <a:r>
              <a:rPr lang="ko-KR" altLang="en-US" sz="1000" dirty="0">
                <a:latin typeface="+mj-ea"/>
              </a:rPr>
              <a:t>를 실시간으로 테스트를 하기위해 </a:t>
            </a:r>
            <a:r>
              <a:rPr lang="en-US" altLang="ko-KR" sz="1000" b="1" dirty="0">
                <a:solidFill>
                  <a:srgbClr val="3A72ED"/>
                </a:solidFill>
                <a:latin typeface="+mj-ea"/>
              </a:rPr>
              <a:t>[</a:t>
            </a:r>
            <a:r>
              <a:rPr lang="ko-KR" altLang="en-US" sz="1000" b="1" dirty="0">
                <a:solidFill>
                  <a:srgbClr val="3A72ED"/>
                </a:solidFill>
                <a:latin typeface="+mj-ea"/>
              </a:rPr>
              <a:t>모델 선택</a:t>
            </a:r>
            <a:r>
              <a:rPr lang="en-US" altLang="ko-KR" sz="1000" b="1" dirty="0">
                <a:solidFill>
                  <a:srgbClr val="3A72ED"/>
                </a:solidFill>
                <a:latin typeface="+mj-ea"/>
              </a:rPr>
              <a:t>]</a:t>
            </a:r>
            <a:r>
              <a:rPr lang="ko-KR" altLang="en-US" sz="1000" dirty="0">
                <a:latin typeface="+mj-ea"/>
              </a:rPr>
              <a:t>과 </a:t>
            </a:r>
            <a:r>
              <a:rPr lang="en-US" altLang="ko-KR" sz="1000" b="1" dirty="0">
                <a:solidFill>
                  <a:srgbClr val="3A72ED"/>
                </a:solidFill>
                <a:latin typeface="+mj-ea"/>
              </a:rPr>
              <a:t>[</a:t>
            </a:r>
            <a:r>
              <a:rPr lang="ko-KR" altLang="en-US" sz="1000" b="1" dirty="0">
                <a:solidFill>
                  <a:srgbClr val="3A72ED"/>
                </a:solidFill>
                <a:latin typeface="+mj-ea"/>
              </a:rPr>
              <a:t>프롬프트 작성</a:t>
            </a:r>
            <a:r>
              <a:rPr lang="en-US" altLang="ko-KR" sz="1000" b="1" dirty="0">
                <a:solidFill>
                  <a:srgbClr val="3A72ED"/>
                </a:solidFill>
                <a:latin typeface="+mj-ea"/>
              </a:rPr>
              <a:t>]</a:t>
            </a:r>
            <a:r>
              <a:rPr lang="ko-KR" altLang="en-US" sz="1000" b="1" dirty="0">
                <a:solidFill>
                  <a:srgbClr val="3A72ED"/>
                </a:solidFill>
                <a:latin typeface="+mj-ea"/>
              </a:rPr>
              <a:t> </a:t>
            </a:r>
            <a:r>
              <a:rPr lang="ko-KR" altLang="en-US" sz="1000" dirty="0">
                <a:latin typeface="+mj-ea"/>
              </a:rPr>
              <a:t>후 실행 버튼을 클릭합니다</a:t>
            </a:r>
            <a:r>
              <a:rPr lang="en-US" altLang="ko-KR" sz="1000" dirty="0">
                <a:latin typeface="+mj-ea"/>
              </a:rPr>
              <a:t>.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3B4FDFE-F154-F7E5-7124-98E40A6D7603}"/>
              </a:ext>
            </a:extLst>
          </p:cNvPr>
          <p:cNvGrpSpPr/>
          <p:nvPr/>
        </p:nvGrpSpPr>
        <p:grpSpPr>
          <a:xfrm>
            <a:off x="893782" y="3910006"/>
            <a:ext cx="2520000" cy="2340000"/>
            <a:chOff x="390424" y="505618"/>
            <a:chExt cx="2520000" cy="2340000"/>
          </a:xfrm>
        </p:grpSpPr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2058BE8A-848D-A231-6C10-EA57DCDFAB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0424" y="505618"/>
              <a:ext cx="2520000" cy="2340000"/>
            </a:xfrm>
            <a:prstGeom prst="rect">
              <a:avLst/>
            </a:prstGeom>
          </p:spPr>
        </p:pic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8EB67BDE-C6E6-D60C-1D25-F65858C84E74}"/>
                </a:ext>
              </a:extLst>
            </p:cNvPr>
            <p:cNvSpPr/>
            <p:nvPr/>
          </p:nvSpPr>
          <p:spPr>
            <a:xfrm>
              <a:off x="390424" y="1407919"/>
              <a:ext cx="104733" cy="781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4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76228B3B-2B6E-1665-7578-C60EBEF80FDD}"/>
                </a:ext>
              </a:extLst>
            </p:cNvPr>
            <p:cNvSpPr/>
            <p:nvPr/>
          </p:nvSpPr>
          <p:spPr>
            <a:xfrm>
              <a:off x="495156" y="1407919"/>
              <a:ext cx="2415268" cy="13352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5EDC88C6-B8E0-0156-020A-26AAC249C1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2316931" y="5922288"/>
            <a:ext cx="95098" cy="152705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A275FC2E-11C8-6199-FA6A-ADD4F702E231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248838" y="3899160"/>
            <a:ext cx="2520000" cy="2340000"/>
          </a:xfrm>
          <a:prstGeom prst="rect">
            <a:avLst/>
          </a:prstGeom>
        </p:spPr>
      </p:pic>
      <p:sp>
        <p:nvSpPr>
          <p:cNvPr id="82" name="Shape 37">
            <a:extLst>
              <a:ext uri="{FF2B5EF4-FFF2-40B4-BE49-F238E27FC236}">
                <a16:creationId xmlns:a16="http://schemas.microsoft.com/office/drawing/2014/main" id="{7B16F8D3-CB07-BBE2-E565-A89E90697D90}"/>
              </a:ext>
            </a:extLst>
          </p:cNvPr>
          <p:cNvSpPr/>
          <p:nvPr/>
        </p:nvSpPr>
        <p:spPr>
          <a:xfrm>
            <a:off x="7141404" y="5299210"/>
            <a:ext cx="3280400" cy="1238098"/>
          </a:xfrm>
          <a:prstGeom prst="rect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83" name="Shape 38">
            <a:extLst>
              <a:ext uri="{FF2B5EF4-FFF2-40B4-BE49-F238E27FC236}">
                <a16:creationId xmlns:a16="http://schemas.microsoft.com/office/drawing/2014/main" id="{1436E974-4E16-193C-01DF-AC5EB7388836}"/>
              </a:ext>
            </a:extLst>
          </p:cNvPr>
          <p:cNvSpPr/>
          <p:nvPr/>
        </p:nvSpPr>
        <p:spPr>
          <a:xfrm>
            <a:off x="7164765" y="5281374"/>
            <a:ext cx="38405" cy="123809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4" name="Text 39">
            <a:extLst>
              <a:ext uri="{FF2B5EF4-FFF2-40B4-BE49-F238E27FC236}">
                <a16:creationId xmlns:a16="http://schemas.microsoft.com/office/drawing/2014/main" id="{EFAF5073-4849-6C32-9FFE-78CA482B7B26}"/>
              </a:ext>
            </a:extLst>
          </p:cNvPr>
          <p:cNvSpPr txBox="1"/>
          <p:nvPr/>
        </p:nvSpPr>
        <p:spPr>
          <a:xfrm>
            <a:off x="7627148" y="5413510"/>
            <a:ext cx="51444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5E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TIP</a:t>
            </a:r>
            <a:endParaRPr lang="en-US" sz="1200" dirty="0"/>
          </a:p>
        </p:txBody>
      </p:sp>
      <p:sp>
        <p:nvSpPr>
          <p:cNvPr id="85" name="Text 40">
            <a:extLst>
              <a:ext uri="{FF2B5EF4-FFF2-40B4-BE49-F238E27FC236}">
                <a16:creationId xmlns:a16="http://schemas.microsoft.com/office/drawing/2014/main" id="{50AC3D55-6375-7C29-F4F3-1FD2D451AA3D}"/>
              </a:ext>
            </a:extLst>
          </p:cNvPr>
          <p:cNvSpPr txBox="1"/>
          <p:nvPr/>
        </p:nvSpPr>
        <p:spPr>
          <a:xfrm>
            <a:off x="7337336" y="5662679"/>
            <a:ext cx="296470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/>
              <a:t>결과를 확인해보고 </a:t>
            </a:r>
            <a:r>
              <a:rPr lang="en-US" altLang="ko-KR" sz="1200" dirty="0"/>
              <a:t>MCP </a:t>
            </a:r>
            <a:r>
              <a:rPr lang="ko-KR" altLang="en-US" sz="1200" dirty="0"/>
              <a:t>상태를 </a:t>
            </a:r>
            <a:r>
              <a:rPr lang="en-US" altLang="ko-KR" sz="1200" dirty="0"/>
              <a:t>OFF</a:t>
            </a:r>
            <a:r>
              <a:rPr lang="ko-KR" altLang="en-US" sz="1200" dirty="0"/>
              <a:t>로 변경 후 </a:t>
            </a:r>
            <a:r>
              <a:rPr lang="en-US" altLang="ko-KR" sz="1200" dirty="0"/>
              <a:t>MCP</a:t>
            </a:r>
            <a:r>
              <a:rPr lang="ko-KR" altLang="en-US" sz="1200" dirty="0"/>
              <a:t>가 잘 작동되는지 확인이 가능합니다</a:t>
            </a:r>
            <a:r>
              <a:rPr lang="en-US" altLang="ko-KR" sz="1200" dirty="0"/>
              <a:t>.</a:t>
            </a:r>
          </a:p>
          <a:p>
            <a:pPr marL="0" indent="0" algn="l">
              <a:buNone/>
            </a:pPr>
            <a:r>
              <a:rPr lang="en-US" sz="1200" dirty="0"/>
              <a:t>MCP</a:t>
            </a:r>
            <a:r>
              <a:rPr lang="ko-KR" altLang="en-US" sz="1200" dirty="0"/>
              <a:t>모드와</a:t>
            </a:r>
            <a:r>
              <a:rPr lang="en-US" altLang="ko-KR" sz="1200" dirty="0"/>
              <a:t> LLM</a:t>
            </a:r>
            <a:r>
              <a:rPr lang="ko-KR" altLang="en-US" sz="1200" dirty="0"/>
              <a:t>모드로 비교 확인이 가능합니다</a:t>
            </a:r>
            <a:r>
              <a:rPr lang="en-US" altLang="ko-KR" sz="1200" dirty="0"/>
              <a:t>.</a:t>
            </a:r>
            <a:endParaRPr lang="en-US" sz="1200" dirty="0"/>
          </a:p>
        </p:txBody>
      </p:sp>
      <p:pic>
        <p:nvPicPr>
          <p:cNvPr id="86" name="Image 5" descr="preencoded.png">
            <a:extLst>
              <a:ext uri="{FF2B5EF4-FFF2-40B4-BE49-F238E27FC236}">
                <a16:creationId xmlns:a16="http://schemas.microsoft.com/office/drawing/2014/main" id="{4C3AE528-9418-D786-5842-31F4B24D6A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7357297" y="5406798"/>
            <a:ext cx="139092" cy="179104"/>
          </a:xfrm>
          <a:prstGeom prst="rect">
            <a:avLst/>
          </a:prstGeom>
        </p:spPr>
      </p:pic>
      <p:sp>
        <p:nvSpPr>
          <p:cNvPr id="6" name="Text 41">
            <a:extLst>
              <a:ext uri="{FF2B5EF4-FFF2-40B4-BE49-F238E27FC236}">
                <a16:creationId xmlns:a16="http://schemas.microsoft.com/office/drawing/2014/main" id="{28D0055F-A20B-45EA-B7B2-9BC25AEC2C5D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&gt;MCP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만들기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공유 </a:t>
            </a:r>
            <a:endParaRPr lang="en-US" altLang="ko-KR" sz="1401" dirty="0">
              <a:latin typeface="+mn-ea"/>
            </a:endParaRPr>
          </a:p>
          <a:p>
            <a:pPr algn="r"/>
            <a:endParaRPr lang="en-US" altLang="ko-KR" sz="1400" dirty="0">
              <a:latin typeface="+mn-ea"/>
            </a:endParaRP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E5FEBA39-3B28-9750-7ACB-57A886D0975D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9994BB-113F-BE19-EC62-6AA00CDCE63D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0090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E766-BE01-CCCB-3914-781AD97B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>
            <a:extLst>
              <a:ext uri="{FF2B5EF4-FFF2-40B4-BE49-F238E27FC236}">
                <a16:creationId xmlns:a16="http://schemas.microsoft.com/office/drawing/2014/main" id="{8E13E636-4646-89BA-B18A-64CCC211BEC0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&gt;MCP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만들기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공유 </a:t>
            </a:r>
            <a:endParaRPr lang="en-US" altLang="ko-KR" sz="1401" dirty="0">
              <a:latin typeface="+mn-ea"/>
            </a:endParaRPr>
          </a:p>
          <a:p>
            <a:pPr algn="r"/>
            <a:endParaRPr lang="en-US" altLang="ko-KR" sz="1400" dirty="0">
              <a:latin typeface="+mn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91C5716-AC4D-0DF7-BB01-ADCF9CF02D61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790B5-3A6A-902F-6D19-E86DABE4B6CA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j-ea"/>
                <a:ea typeface="+mj-ea"/>
              </a:rPr>
              <a:t>GrowFit</a:t>
            </a:r>
            <a:endParaRPr lang="ko-KR" altLang="en-US" sz="1517" dirty="0">
              <a:latin typeface="+mj-ea"/>
              <a:ea typeface="+mj-ea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1EE8971D-842B-A158-8D2D-92E9B1E070CE}"/>
              </a:ext>
            </a:extLst>
          </p:cNvPr>
          <p:cNvSpPr txBox="1"/>
          <p:nvPr/>
        </p:nvSpPr>
        <p:spPr>
          <a:xfrm>
            <a:off x="631107" y="1294685"/>
            <a:ext cx="560957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000" b="1" dirty="0">
                <a:latin typeface="+mj-ea"/>
                <a:ea typeface="+mj-ea"/>
              </a:rPr>
              <a:t>만든 </a:t>
            </a:r>
            <a:r>
              <a:rPr lang="en-US" altLang="ko-KR" sz="2000" b="1" dirty="0">
                <a:latin typeface="+mj-ea"/>
                <a:ea typeface="+mj-ea"/>
              </a:rPr>
              <a:t>MCP </a:t>
            </a:r>
            <a:r>
              <a:rPr lang="ko-KR" altLang="en-US" sz="2000" b="1" dirty="0">
                <a:latin typeface="+mj-ea"/>
                <a:ea typeface="+mj-ea"/>
              </a:rPr>
              <a:t>템플릿 클래스 공유 방법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DF5D7DF3-FD25-EB55-F849-F0150C1CE82A}"/>
              </a:ext>
            </a:extLst>
          </p:cNvPr>
          <p:cNvSpPr/>
          <p:nvPr/>
        </p:nvSpPr>
        <p:spPr>
          <a:xfrm>
            <a:off x="7885357" y="1963211"/>
            <a:ext cx="2474367" cy="323698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380B8A6F-B088-60FB-3198-494E7634FB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8047206" y="2048250"/>
            <a:ext cx="95098" cy="152705"/>
          </a:xfrm>
          <a:prstGeom prst="rect">
            <a:avLst/>
          </a:prstGeom>
        </p:spPr>
      </p:pic>
      <p:sp>
        <p:nvSpPr>
          <p:cNvPr id="10" name="Text 13">
            <a:extLst>
              <a:ext uri="{FF2B5EF4-FFF2-40B4-BE49-F238E27FC236}">
                <a16:creationId xmlns:a16="http://schemas.microsoft.com/office/drawing/2014/main" id="{B845C20C-8306-0AB3-F2EE-C4531BA5ED06}"/>
              </a:ext>
            </a:extLst>
          </p:cNvPr>
          <p:cNvSpPr txBox="1"/>
          <p:nvPr/>
        </p:nvSpPr>
        <p:spPr>
          <a:xfrm>
            <a:off x="8218198" y="2039106"/>
            <a:ext cx="20107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붉은색 커서는 클릭 위치를 나타냅니다.</a:t>
            </a:r>
            <a:endParaRPr lang="en-US" sz="900" dirty="0">
              <a:latin typeface="+mn-ea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E0FBF32-D717-AA92-FAAA-E5F9A8756A6C}"/>
              </a:ext>
            </a:extLst>
          </p:cNvPr>
          <p:cNvSpPr/>
          <p:nvPr/>
        </p:nvSpPr>
        <p:spPr>
          <a:xfrm>
            <a:off x="597768" y="2636978"/>
            <a:ext cx="3200299" cy="3761461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7148434-8092-1C16-31D9-391EAFE66127}"/>
              </a:ext>
            </a:extLst>
          </p:cNvPr>
          <p:cNvSpPr/>
          <p:nvPr/>
        </p:nvSpPr>
        <p:spPr>
          <a:xfrm>
            <a:off x="651101" y="2700582"/>
            <a:ext cx="3087257" cy="9486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30CAB9B-B8C1-C2EC-FA31-FFF3E0F82429}"/>
              </a:ext>
            </a:extLst>
          </p:cNvPr>
          <p:cNvSpPr/>
          <p:nvPr/>
        </p:nvSpPr>
        <p:spPr>
          <a:xfrm>
            <a:off x="605199" y="3590994"/>
            <a:ext cx="3188940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74E912B-D8F8-849E-D456-E678650407AB}"/>
              </a:ext>
            </a:extLst>
          </p:cNvPr>
          <p:cNvSpPr/>
          <p:nvPr/>
        </p:nvSpPr>
        <p:spPr>
          <a:xfrm>
            <a:off x="790935" y="2770779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AFDFD96-4694-5423-2E83-9889768354E2}"/>
              </a:ext>
            </a:extLst>
          </p:cNvPr>
          <p:cNvSpPr txBox="1"/>
          <p:nvPr/>
        </p:nvSpPr>
        <p:spPr>
          <a:xfrm>
            <a:off x="877118" y="2801239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</a:t>
            </a:r>
            <a:endParaRPr lang="en-US" sz="1000" dirty="0">
              <a:latin typeface="+mn-ea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A0024BD-52C4-14DA-2E6D-E6AEDD652EC2}"/>
              </a:ext>
            </a:extLst>
          </p:cNvPr>
          <p:cNvSpPr txBox="1"/>
          <p:nvPr/>
        </p:nvSpPr>
        <p:spPr>
          <a:xfrm>
            <a:off x="1143837" y="2798523"/>
            <a:ext cx="1549422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목적 설정</a:t>
            </a:r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9EEEF3A2-F336-D4A7-CB47-4621AB0F8420}"/>
              </a:ext>
            </a:extLst>
          </p:cNvPr>
          <p:cNvSpPr/>
          <p:nvPr/>
        </p:nvSpPr>
        <p:spPr>
          <a:xfrm>
            <a:off x="605199" y="3598427"/>
            <a:ext cx="3188940" cy="28129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291CE8A-E1AD-12D1-A607-5D30FDBFC1E4}"/>
              </a:ext>
            </a:extLst>
          </p:cNvPr>
          <p:cNvSpPr/>
          <p:nvPr/>
        </p:nvSpPr>
        <p:spPr>
          <a:xfrm>
            <a:off x="693944" y="3722499"/>
            <a:ext cx="30088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943F90E-A7CC-A3C0-D8FF-FCAED2DFD2ED}"/>
              </a:ext>
            </a:extLst>
          </p:cNvPr>
          <p:cNvSpPr txBox="1"/>
          <p:nvPr/>
        </p:nvSpPr>
        <p:spPr>
          <a:xfrm>
            <a:off x="724772" y="3142756"/>
            <a:ext cx="2978003" cy="32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어떤 작업에 사용할지 명확한 </a:t>
            </a:r>
            <a:r>
              <a:rPr lang="en-US" altLang="ko-KR" sz="1000" b="1" dirty="0">
                <a:solidFill>
                  <a:srgbClr val="3A72ED"/>
                </a:solidFill>
                <a:latin typeface="+mn-ea"/>
                <a:cs typeface="Noto Sans KR" pitchFamily="34" charset="-120"/>
              </a:rPr>
              <a:t>[</a:t>
            </a:r>
            <a:r>
              <a:rPr lang="ko-KR" altLang="en-US" sz="1000" b="1" dirty="0">
                <a:solidFill>
                  <a:srgbClr val="3A72ED"/>
                </a:solidFill>
                <a:latin typeface="+mn-ea"/>
                <a:cs typeface="Noto Sans KR" pitchFamily="34" charset="-120"/>
              </a:rPr>
              <a:t>목적</a:t>
            </a:r>
            <a:r>
              <a:rPr lang="en-US" altLang="ko-KR" sz="1000" b="1" dirty="0">
                <a:solidFill>
                  <a:srgbClr val="3A72ED"/>
                </a:solidFill>
                <a:latin typeface="+mn-ea"/>
                <a:cs typeface="Noto Sans KR" pitchFamily="34" charset="-120"/>
              </a:rPr>
              <a:t>]</a:t>
            </a:r>
            <a:r>
              <a:rPr lang="ko-KR" altLang="en-US" sz="1000" b="1" dirty="0">
                <a:solidFill>
                  <a:srgbClr val="3A72ED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선택합니다</a:t>
            </a:r>
            <a:r>
              <a:rPr lang="en-US" altLang="ko-KR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.</a:t>
            </a:r>
            <a:endParaRPr lang="en-US" altLang="ko-KR" sz="1000" dirty="0">
              <a:latin typeface="+mn-ea"/>
            </a:endParaRPr>
          </a:p>
          <a:p>
            <a:endParaRPr lang="en-US" altLang="ko-KR" sz="1000" dirty="0">
              <a:latin typeface="+mn-ea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2918FDA7-907C-6492-E072-E4E5F6C93BB7}"/>
              </a:ext>
            </a:extLst>
          </p:cNvPr>
          <p:cNvSpPr/>
          <p:nvPr/>
        </p:nvSpPr>
        <p:spPr>
          <a:xfrm>
            <a:off x="4018509" y="2635858"/>
            <a:ext cx="3088085" cy="3790368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8011312A-BDBB-DE53-08B9-D357EEA5D495}"/>
              </a:ext>
            </a:extLst>
          </p:cNvPr>
          <p:cNvSpPr/>
          <p:nvPr/>
        </p:nvSpPr>
        <p:spPr>
          <a:xfrm>
            <a:off x="4031896" y="2664011"/>
            <a:ext cx="3077124" cy="97011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1DEE2720-43A3-0F0B-2A8D-553C295072FC}"/>
              </a:ext>
            </a:extLst>
          </p:cNvPr>
          <p:cNvSpPr/>
          <p:nvPr/>
        </p:nvSpPr>
        <p:spPr>
          <a:xfrm>
            <a:off x="4025941" y="3618780"/>
            <a:ext cx="3077124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C5353CD7-35F0-9C4A-AFFD-3B30E4F7794D}"/>
              </a:ext>
            </a:extLst>
          </p:cNvPr>
          <p:cNvSpPr txBox="1"/>
          <p:nvPr/>
        </p:nvSpPr>
        <p:spPr>
          <a:xfrm>
            <a:off x="4297860" y="2829025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F2A61119-BED3-0C30-1F7D-3498D671C3AE}"/>
              </a:ext>
            </a:extLst>
          </p:cNvPr>
          <p:cNvSpPr txBox="1"/>
          <p:nvPr/>
        </p:nvSpPr>
        <p:spPr>
          <a:xfrm>
            <a:off x="4560875" y="2857016"/>
            <a:ext cx="1648326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</a:rPr>
              <a:t>도구 선택</a:t>
            </a:r>
            <a:endParaRPr lang="en-US" altLang="ko-KR" sz="1200" dirty="0"/>
          </a:p>
          <a:p>
            <a:endParaRPr lang="en-US" altLang="ko-KR" sz="1200" dirty="0">
              <a:latin typeface="+mn-ea"/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E4654A27-E400-274F-562C-01DC6C115BB6}"/>
              </a:ext>
            </a:extLst>
          </p:cNvPr>
          <p:cNvSpPr/>
          <p:nvPr/>
        </p:nvSpPr>
        <p:spPr>
          <a:xfrm>
            <a:off x="4031896" y="3646935"/>
            <a:ext cx="3077124" cy="276441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7D739B1C-4D40-5ABE-5FE6-C4DEE5CEF558}"/>
              </a:ext>
            </a:extLst>
          </p:cNvPr>
          <p:cNvSpPr/>
          <p:nvPr/>
        </p:nvSpPr>
        <p:spPr>
          <a:xfrm>
            <a:off x="4110857" y="3789879"/>
            <a:ext cx="29033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6720725-433F-33E0-1A1C-E8FC65123F96}"/>
              </a:ext>
            </a:extLst>
          </p:cNvPr>
          <p:cNvSpPr txBox="1"/>
          <p:nvPr/>
        </p:nvSpPr>
        <p:spPr>
          <a:xfrm>
            <a:off x="4219788" y="3145692"/>
            <a:ext cx="3024845" cy="32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b="1" dirty="0">
                <a:solidFill>
                  <a:srgbClr val="3A72ED"/>
                </a:solidFill>
                <a:latin typeface="+mn-ea"/>
              </a:rPr>
              <a:t>[</a:t>
            </a:r>
            <a:r>
              <a:rPr lang="ko-KR" altLang="en-US" sz="1000" b="1" dirty="0">
                <a:solidFill>
                  <a:srgbClr val="3A72ED"/>
                </a:solidFill>
                <a:latin typeface="+mn-ea"/>
              </a:rPr>
              <a:t>플랫폼 도구</a:t>
            </a:r>
            <a:r>
              <a:rPr lang="en-US" altLang="ko-KR" sz="1000" b="1" dirty="0">
                <a:solidFill>
                  <a:srgbClr val="3A72ED"/>
                </a:solidFill>
                <a:latin typeface="+mn-ea"/>
              </a:rPr>
              <a:t>]</a:t>
            </a:r>
            <a:r>
              <a:rPr lang="ko-KR" altLang="en-US" sz="1000" b="1" dirty="0">
                <a:solidFill>
                  <a:srgbClr val="3A72ED"/>
                </a:solidFill>
                <a:latin typeface="+mn-ea"/>
              </a:rPr>
              <a:t>를 </a:t>
            </a:r>
            <a:r>
              <a:rPr lang="ko-KR" altLang="en-US" sz="1000" dirty="0">
                <a:latin typeface="+mn-ea"/>
              </a:rPr>
              <a:t>선택합니다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endParaRPr lang="en-US" altLang="ko-KR" sz="1000" dirty="0">
              <a:latin typeface="+mn-ea"/>
            </a:endParaRPr>
          </a:p>
          <a:p>
            <a:endParaRPr lang="en-US" sz="1000" dirty="0">
              <a:latin typeface="+mn-ea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93F60602-B2EA-6DB5-3704-793AAFAC51EA}"/>
              </a:ext>
            </a:extLst>
          </p:cNvPr>
          <p:cNvSpPr/>
          <p:nvPr/>
        </p:nvSpPr>
        <p:spPr>
          <a:xfrm>
            <a:off x="4190535" y="2816549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BC94BDDB-0641-DBCA-7E50-ADF233E8484F}"/>
              </a:ext>
            </a:extLst>
          </p:cNvPr>
          <p:cNvSpPr txBox="1"/>
          <p:nvPr/>
        </p:nvSpPr>
        <p:spPr>
          <a:xfrm>
            <a:off x="4276718" y="2847009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1000" dirty="0">
              <a:latin typeface="+mn-ea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633E482A-8EF6-6A54-001A-4CA6E7D3590E}"/>
              </a:ext>
            </a:extLst>
          </p:cNvPr>
          <p:cNvSpPr txBox="1"/>
          <p:nvPr/>
        </p:nvSpPr>
        <p:spPr>
          <a:xfrm>
            <a:off x="7302433" y="2843273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51" name="Shape 58">
            <a:extLst>
              <a:ext uri="{FF2B5EF4-FFF2-40B4-BE49-F238E27FC236}">
                <a16:creationId xmlns:a16="http://schemas.microsoft.com/office/drawing/2014/main" id="{4D3ADEBC-8CBD-54F3-F979-B01794D2163B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52" name="Text 59">
            <a:extLst>
              <a:ext uri="{FF2B5EF4-FFF2-40B4-BE49-F238E27FC236}">
                <a16:creationId xmlns:a16="http://schemas.microsoft.com/office/drawing/2014/main" id="{E8DD52F5-1FEF-CDD6-0FBE-07160AB5519D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32</a:t>
            </a:r>
            <a:endParaRPr lang="en-US" sz="1000" dirty="0">
              <a:latin typeface="+mn-ea"/>
            </a:endParaRPr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9BB8417C-E1BA-DAAA-6789-913AB09E10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97" b="-97"/>
          <a:stretch/>
        </p:blipFill>
        <p:spPr>
          <a:xfrm>
            <a:off x="576196" y="1737292"/>
            <a:ext cx="571500" cy="48463"/>
          </a:xfrm>
          <a:prstGeom prst="rect">
            <a:avLst/>
          </a:prstGeom>
        </p:spPr>
      </p:pic>
      <p:sp>
        <p:nvSpPr>
          <p:cNvPr id="45" name="Shape 7">
            <a:extLst>
              <a:ext uri="{FF2B5EF4-FFF2-40B4-BE49-F238E27FC236}">
                <a16:creationId xmlns:a16="http://schemas.microsoft.com/office/drawing/2014/main" id="{B2A9A447-9803-557B-C685-AF48CFC6DD56}"/>
              </a:ext>
            </a:extLst>
          </p:cNvPr>
          <p:cNvSpPr/>
          <p:nvPr/>
        </p:nvSpPr>
        <p:spPr>
          <a:xfrm>
            <a:off x="7295001" y="2633079"/>
            <a:ext cx="3088085" cy="3790368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CA05F530-6D53-63DF-8BE7-234AF9D67A05}"/>
              </a:ext>
            </a:extLst>
          </p:cNvPr>
          <p:cNvSpPr/>
          <p:nvPr/>
        </p:nvSpPr>
        <p:spPr>
          <a:xfrm>
            <a:off x="7302433" y="2640510"/>
            <a:ext cx="3077124" cy="97011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98991EE4-A9A1-A0A3-BBEF-BBA6109ECA06}"/>
              </a:ext>
            </a:extLst>
          </p:cNvPr>
          <p:cNvSpPr/>
          <p:nvPr/>
        </p:nvSpPr>
        <p:spPr>
          <a:xfrm>
            <a:off x="7302433" y="3616001"/>
            <a:ext cx="3077124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28FE7126-727F-14F2-3918-1111E5F5BDE7}"/>
              </a:ext>
            </a:extLst>
          </p:cNvPr>
          <p:cNvSpPr txBox="1"/>
          <p:nvPr/>
        </p:nvSpPr>
        <p:spPr>
          <a:xfrm>
            <a:off x="7574352" y="2826246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57243F20-FDEF-DF2E-B953-DE096AC813C4}"/>
              </a:ext>
            </a:extLst>
          </p:cNvPr>
          <p:cNvSpPr txBox="1"/>
          <p:nvPr/>
        </p:nvSpPr>
        <p:spPr>
          <a:xfrm>
            <a:off x="7831412" y="2833515"/>
            <a:ext cx="1648326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</a:rPr>
              <a:t>이름 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</a:rPr>
              <a:t>&amp;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</a:rPr>
              <a:t>저장</a:t>
            </a:r>
            <a:endParaRPr lang="en-US" altLang="ko-KR" sz="1200" dirty="0"/>
          </a:p>
        </p:txBody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E65DF2DF-6A9E-AF16-1CDE-5FF176F93701}"/>
              </a:ext>
            </a:extLst>
          </p:cNvPr>
          <p:cNvSpPr/>
          <p:nvPr/>
        </p:nvSpPr>
        <p:spPr>
          <a:xfrm>
            <a:off x="7302433" y="3623434"/>
            <a:ext cx="3077124" cy="28129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7" name="Shape 15">
            <a:extLst>
              <a:ext uri="{FF2B5EF4-FFF2-40B4-BE49-F238E27FC236}">
                <a16:creationId xmlns:a16="http://schemas.microsoft.com/office/drawing/2014/main" id="{1284E628-9A44-AB4E-C4EE-24FDBAC1DC95}"/>
              </a:ext>
            </a:extLst>
          </p:cNvPr>
          <p:cNvSpPr/>
          <p:nvPr/>
        </p:nvSpPr>
        <p:spPr>
          <a:xfrm>
            <a:off x="7381394" y="3766378"/>
            <a:ext cx="29033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BAD66D8C-408E-E0AD-8883-FE20BEBE8A4C}"/>
              </a:ext>
            </a:extLst>
          </p:cNvPr>
          <p:cNvSpPr/>
          <p:nvPr/>
        </p:nvSpPr>
        <p:spPr>
          <a:xfrm>
            <a:off x="7461072" y="2793048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B264EFA6-7C43-C3E2-1589-3BBE05715DA7}"/>
              </a:ext>
            </a:extLst>
          </p:cNvPr>
          <p:cNvSpPr txBox="1"/>
          <p:nvPr/>
        </p:nvSpPr>
        <p:spPr>
          <a:xfrm>
            <a:off x="7547255" y="2823508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3</a:t>
            </a:r>
            <a:endParaRPr lang="en-US" sz="1000" dirty="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A0E4D8-9B68-0F4E-8E4D-4475B1AC1527}"/>
              </a:ext>
            </a:extLst>
          </p:cNvPr>
          <p:cNvSpPr txBox="1"/>
          <p:nvPr/>
        </p:nvSpPr>
        <p:spPr>
          <a:xfrm>
            <a:off x="7425999" y="3357804"/>
            <a:ext cx="53482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j-ea"/>
              </a:rPr>
              <a:t>MCP </a:t>
            </a:r>
            <a:r>
              <a:rPr lang="en-US" altLang="ko-KR" sz="1000" b="1" dirty="0">
                <a:solidFill>
                  <a:srgbClr val="2563EB"/>
                </a:solidFill>
                <a:latin typeface="+mj-ea"/>
              </a:rPr>
              <a:t>[</a:t>
            </a:r>
            <a:r>
              <a:rPr lang="ko-KR" altLang="en-US" sz="1000" b="1" dirty="0">
                <a:solidFill>
                  <a:srgbClr val="2563EB"/>
                </a:solidFill>
                <a:latin typeface="+mj-ea"/>
              </a:rPr>
              <a:t>이름</a:t>
            </a:r>
            <a:r>
              <a:rPr lang="en-US" altLang="ko-KR" sz="1000" b="1" dirty="0">
                <a:solidFill>
                  <a:srgbClr val="2563EB"/>
                </a:solidFill>
                <a:latin typeface="+mj-ea"/>
              </a:rPr>
              <a:t>], </a:t>
            </a:r>
            <a:r>
              <a:rPr lang="en-US" altLang="ko-KR" sz="1000" dirty="0">
                <a:latin typeface="+mj-ea"/>
              </a:rPr>
              <a:t>MCP </a:t>
            </a:r>
            <a:r>
              <a:rPr lang="en-US" altLang="ko-KR" sz="1000" b="1" dirty="0">
                <a:solidFill>
                  <a:srgbClr val="2563EB"/>
                </a:solidFill>
                <a:latin typeface="+mj-ea"/>
              </a:rPr>
              <a:t>[</a:t>
            </a:r>
            <a:r>
              <a:rPr lang="ko-KR" altLang="en-US" sz="1000" b="1" dirty="0">
                <a:solidFill>
                  <a:srgbClr val="2563EB"/>
                </a:solidFill>
                <a:latin typeface="+mj-ea"/>
              </a:rPr>
              <a:t>설명</a:t>
            </a:r>
            <a:r>
              <a:rPr lang="en-US" altLang="ko-KR" sz="1000" b="1" dirty="0">
                <a:solidFill>
                  <a:srgbClr val="3A72ED"/>
                </a:solidFill>
                <a:latin typeface="+mj-ea"/>
              </a:rPr>
              <a:t>]</a:t>
            </a:r>
            <a:r>
              <a:rPr lang="ko-KR" altLang="en-US" sz="1000" dirty="0">
                <a:latin typeface="+mj-ea"/>
              </a:rPr>
              <a:t> 작성</a:t>
            </a:r>
            <a:endParaRPr lang="en-US" altLang="ko-KR" sz="1000" dirty="0">
              <a:latin typeface="+mj-ea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7779F313-3BEC-B08A-2465-18844BA82BCE}"/>
              </a:ext>
            </a:extLst>
          </p:cNvPr>
          <p:cNvGrpSpPr/>
          <p:nvPr/>
        </p:nvGrpSpPr>
        <p:grpSpPr>
          <a:xfrm>
            <a:off x="939318" y="3803335"/>
            <a:ext cx="2520000" cy="2340000"/>
            <a:chOff x="7428586" y="597556"/>
            <a:chExt cx="3343742" cy="4896533"/>
          </a:xfrm>
        </p:grpSpPr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E1AE77DE-6D8C-C0EB-8F41-98E6718FC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8586" y="597556"/>
              <a:ext cx="3343742" cy="4896533"/>
            </a:xfrm>
            <a:prstGeom prst="rect">
              <a:avLst/>
            </a:prstGeom>
          </p:spPr>
        </p:pic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FED3D03C-A891-3A6C-3450-83724BDF636E}"/>
                </a:ext>
              </a:extLst>
            </p:cNvPr>
            <p:cNvSpPr/>
            <p:nvPr/>
          </p:nvSpPr>
          <p:spPr>
            <a:xfrm>
              <a:off x="7729227" y="1085510"/>
              <a:ext cx="138968" cy="1635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1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E7E95B1E-45FE-D911-FAFE-E68FF530D3D0}"/>
                </a:ext>
              </a:extLst>
            </p:cNvPr>
            <p:cNvSpPr/>
            <p:nvPr/>
          </p:nvSpPr>
          <p:spPr>
            <a:xfrm>
              <a:off x="7868194" y="1085510"/>
              <a:ext cx="2834639" cy="44085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E03F0FEB-BF7B-1B23-8331-9E4F7F019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1894663" y="4162742"/>
            <a:ext cx="95098" cy="152705"/>
          </a:xfrm>
          <a:prstGeom prst="rect">
            <a:avLst/>
          </a:prstGeom>
        </p:spPr>
      </p:pic>
      <p:grpSp>
        <p:nvGrpSpPr>
          <p:cNvPr id="74" name="그룹 73">
            <a:extLst>
              <a:ext uri="{FF2B5EF4-FFF2-40B4-BE49-F238E27FC236}">
                <a16:creationId xmlns:a16="http://schemas.microsoft.com/office/drawing/2014/main" id="{7B08E5A3-B92F-571F-43D0-CDCDC1DD39B6}"/>
              </a:ext>
            </a:extLst>
          </p:cNvPr>
          <p:cNvGrpSpPr/>
          <p:nvPr/>
        </p:nvGrpSpPr>
        <p:grpSpPr>
          <a:xfrm>
            <a:off x="4338918" y="3838967"/>
            <a:ext cx="2520000" cy="2408969"/>
            <a:chOff x="7278081" y="3502008"/>
            <a:chExt cx="2520000" cy="2408969"/>
          </a:xfrm>
        </p:grpSpPr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C83E603E-7D82-EE8E-3A87-BB016A3837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78081" y="3502008"/>
              <a:ext cx="2520000" cy="2340000"/>
            </a:xfrm>
            <a:prstGeom prst="rect">
              <a:avLst/>
            </a:prstGeom>
          </p:spPr>
        </p:pic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EED8BBBE-6FCA-F6B6-B3BC-CBFD237B0686}"/>
                </a:ext>
              </a:extLst>
            </p:cNvPr>
            <p:cNvSpPr/>
            <p:nvPr/>
          </p:nvSpPr>
          <p:spPr>
            <a:xfrm>
              <a:off x="7428586" y="3804165"/>
              <a:ext cx="104733" cy="781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2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51D08F8-2624-3D01-AFC0-18C57D1BB3F5}"/>
                </a:ext>
              </a:extLst>
            </p:cNvPr>
            <p:cNvSpPr/>
            <p:nvPr/>
          </p:nvSpPr>
          <p:spPr>
            <a:xfrm>
              <a:off x="7533318" y="3804165"/>
              <a:ext cx="2136316" cy="210681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AF69DA88-9E9F-83AB-A21F-69BBC0516F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4778357" y="4297079"/>
            <a:ext cx="95098" cy="152705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1C59E372-7820-B175-7E18-E1CDD71F82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892" y="4042425"/>
            <a:ext cx="2467319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62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651" cy="7563002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0696651" cy="75630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1295705"/>
            <a:ext cx="97447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빌더 활용 4단계</a:t>
            </a:r>
            <a:endParaRPr lang="en-US" sz="2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571500" y="1775765"/>
            <a:ext cx="571500" cy="5669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1333195" y="3356762"/>
            <a:ext cx="8029346" cy="384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61695" y="4156862"/>
            <a:ext cx="1904695" cy="1114654"/>
          </a:xfrm>
          <a:prstGeom prst="roundRect">
            <a:avLst>
              <a:gd name="adj" fmla="val 8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7"/>
          <p:cNvSpPr txBox="1"/>
          <p:nvPr/>
        </p:nvSpPr>
        <p:spPr>
          <a:xfrm>
            <a:off x="901598" y="4357116"/>
            <a:ext cx="162580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이해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931774" y="4689958"/>
            <a:ext cx="156545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워크플로우의 구조와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 이해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3000" y="2785262"/>
            <a:ext cx="1143000" cy="114300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 t="-120" b="-120"/>
          <a:stretch/>
        </p:blipFill>
        <p:spPr>
          <a:xfrm>
            <a:off x="1571854" y="3165653"/>
            <a:ext cx="285293" cy="381305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4695" y="2823667"/>
            <a:ext cx="342900" cy="3429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904695" y="282366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0"/>
          <p:cNvSpPr/>
          <p:nvPr/>
        </p:nvSpPr>
        <p:spPr>
          <a:xfrm>
            <a:off x="3184855" y="4156862"/>
            <a:ext cx="1904695" cy="1114654"/>
          </a:xfrm>
          <a:prstGeom prst="roundRect">
            <a:avLst>
              <a:gd name="adj" fmla="val 8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Text 11"/>
          <p:cNvSpPr txBox="1"/>
          <p:nvPr/>
        </p:nvSpPr>
        <p:spPr>
          <a:xfrm>
            <a:off x="3323844" y="4357116"/>
            <a:ext cx="162580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3354019" y="4689958"/>
            <a:ext cx="156545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노드를 추가하고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논리적으로 연결</a:t>
            </a:r>
            <a:endParaRPr lang="en-US" sz="10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565246" y="2785262"/>
            <a:ext cx="1143000" cy="1143000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13" b="-13"/>
          <a:stretch/>
        </p:blipFill>
        <p:spPr>
          <a:xfrm>
            <a:off x="3922776" y="3165653"/>
            <a:ext cx="428854" cy="381305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6941" y="2823667"/>
            <a:ext cx="342900" cy="3429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4326941" y="282366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Shape 14"/>
          <p:cNvSpPr/>
          <p:nvPr/>
        </p:nvSpPr>
        <p:spPr>
          <a:xfrm>
            <a:off x="5607101" y="4156862"/>
            <a:ext cx="1904695" cy="1114654"/>
          </a:xfrm>
          <a:prstGeom prst="roundRect">
            <a:avLst>
              <a:gd name="adj" fmla="val 8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 15"/>
          <p:cNvSpPr txBox="1"/>
          <p:nvPr/>
        </p:nvSpPr>
        <p:spPr>
          <a:xfrm>
            <a:off x="5747004" y="4357116"/>
            <a:ext cx="162580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300" dirty="0"/>
          </a:p>
        </p:txBody>
      </p:sp>
      <p:sp>
        <p:nvSpPr>
          <p:cNvPr id="28" name="Text 16"/>
          <p:cNvSpPr txBox="1"/>
          <p:nvPr/>
        </p:nvSpPr>
        <p:spPr>
          <a:xfrm>
            <a:off x="5777179" y="4689958"/>
            <a:ext cx="156545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워크플로우 실행 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수정(디버깅)</a:t>
            </a:r>
            <a:endParaRPr lang="en-US" sz="10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88406" y="2785262"/>
            <a:ext cx="1143000" cy="1143000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68796" y="3165653"/>
            <a:ext cx="381305" cy="381305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0101" y="2823667"/>
            <a:ext cx="342900" cy="34290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6750101" y="282366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Shape 18"/>
          <p:cNvSpPr/>
          <p:nvPr/>
        </p:nvSpPr>
        <p:spPr>
          <a:xfrm>
            <a:off x="8029346" y="4156862"/>
            <a:ext cx="1904695" cy="1114654"/>
          </a:xfrm>
          <a:prstGeom prst="roundRect">
            <a:avLst>
              <a:gd name="adj" fmla="val 8414"/>
            </a:avLst>
          </a:prstGeom>
          <a:solidFill>
            <a:srgbClr val="F0FDFA"/>
          </a:solidFill>
          <a:ln w="12700">
            <a:solidFill>
              <a:srgbClr val="4DD9C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" name="Text 19"/>
          <p:cNvSpPr txBox="1"/>
          <p:nvPr/>
        </p:nvSpPr>
        <p:spPr>
          <a:xfrm>
            <a:off x="8169250" y="4357116"/>
            <a:ext cx="162580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배포·공유</a:t>
            </a:r>
            <a:endParaRPr lang="en-US" sz="1300" dirty="0"/>
          </a:p>
        </p:txBody>
      </p:sp>
      <p:sp>
        <p:nvSpPr>
          <p:cNvPr id="35" name="Text 20"/>
          <p:cNvSpPr txBox="1"/>
          <p:nvPr/>
        </p:nvSpPr>
        <p:spPr>
          <a:xfrm>
            <a:off x="8114385" y="4712665"/>
            <a:ext cx="173461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에이전트를</a:t>
            </a:r>
            <a:endParaRPr lang="en-US" sz="1000" dirty="0"/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클래스에 </a:t>
            </a:r>
            <a:r>
              <a:rPr lang="en-US" sz="10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게시하고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활용</a:t>
            </a:r>
            <a:endParaRPr lang="en-US" sz="10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410651" y="2785262"/>
            <a:ext cx="1143000" cy="1143000"/>
          </a:xfrm>
          <a:prstGeom prst="rect">
            <a:avLst/>
          </a:prstGeom>
        </p:spPr>
      </p:pic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2"/>
          <a:srcRect l="-17" r="-17"/>
          <a:stretch/>
        </p:blipFill>
        <p:spPr>
          <a:xfrm>
            <a:off x="8814816" y="3165653"/>
            <a:ext cx="333756" cy="381305"/>
          </a:xfrm>
          <a:prstGeom prst="rect">
            <a:avLst/>
          </a:prstGeom>
        </p:spPr>
      </p:pic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72346" y="2823667"/>
            <a:ext cx="342900" cy="342900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9172346" y="2823667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14"/>
          <a:srcRect t="-80" b="-80"/>
          <a:stretch/>
        </p:blipFill>
        <p:spPr>
          <a:xfrm>
            <a:off x="2854757" y="3242462"/>
            <a:ext cx="142646" cy="228600"/>
          </a:xfrm>
          <a:prstGeom prst="rect">
            <a:avLst/>
          </a:prstGeom>
        </p:spPr>
      </p:pic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14"/>
          <a:srcRect t="-80" b="-80"/>
          <a:stretch/>
        </p:blipFill>
        <p:spPr>
          <a:xfrm>
            <a:off x="5277002" y="3242462"/>
            <a:ext cx="142646" cy="228600"/>
          </a:xfrm>
          <a:prstGeom prst="rect">
            <a:avLst/>
          </a:prstGeom>
        </p:spPr>
      </p:pic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14"/>
          <a:srcRect t="-80" b="-80"/>
          <a:stretch/>
        </p:blipFill>
        <p:spPr>
          <a:xfrm>
            <a:off x="7699248" y="3242462"/>
            <a:ext cx="142646" cy="228600"/>
          </a:xfrm>
          <a:prstGeom prst="rect">
            <a:avLst/>
          </a:prstGeom>
        </p:spPr>
      </p:pic>
      <p:sp>
        <p:nvSpPr>
          <p:cNvPr id="43" name="Text 41">
            <a:extLst>
              <a:ext uri="{FF2B5EF4-FFF2-40B4-BE49-F238E27FC236}">
                <a16:creationId xmlns:a16="http://schemas.microsoft.com/office/drawing/2014/main" id="{BC285E6F-22D3-5082-EA7F-670FAAF3A1B0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400" dirty="0" smtClean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&gt; </a:t>
            </a:r>
            <a:r>
              <a:rPr lang="ko-KR" altLang="en-US" sz="1400" dirty="0" smtClean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에이전트 </a:t>
            </a:r>
            <a:r>
              <a:rPr lang="ko-KR" altLang="en-US" sz="1400" dirty="0" err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빌더</a:t>
            </a:r>
            <a:endParaRPr lang="en-US" altLang="ko-KR" sz="1400" dirty="0">
              <a:latin typeface="+mj-ea"/>
              <a:ea typeface="+mj-ea"/>
            </a:endParaRPr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46EFA523-DB2D-06C2-DFCF-C020CE36098B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j-ea"/>
              <a:ea typeface="+mj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2597E8-5D86-9D8D-68BB-702037EB06C6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j-ea"/>
                <a:ea typeface="+mj-ea"/>
              </a:rPr>
              <a:t>GrowFit</a:t>
            </a:r>
            <a:endParaRPr lang="ko-KR" altLang="en-US" sz="1517" dirty="0">
              <a:latin typeface="+mj-ea"/>
              <a:ea typeface="+mj-ea"/>
            </a:endParaRPr>
          </a:p>
        </p:txBody>
      </p:sp>
      <p:sp>
        <p:nvSpPr>
          <p:cNvPr id="46" name="Shape 58">
            <a:extLst>
              <a:ext uri="{FF2B5EF4-FFF2-40B4-BE49-F238E27FC236}">
                <a16:creationId xmlns:a16="http://schemas.microsoft.com/office/drawing/2014/main" id="{9BDB5409-666A-A91A-836C-D29BAF9FD682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47" name="Text 59">
            <a:extLst>
              <a:ext uri="{FF2B5EF4-FFF2-40B4-BE49-F238E27FC236}">
                <a16:creationId xmlns:a16="http://schemas.microsoft.com/office/drawing/2014/main" id="{57218126-1D78-26B6-A74B-F6E6EF4DA2DB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33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582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0696651" cy="75630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1295705"/>
            <a:ext cx="97447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기본 워크플로우 노드 6종</a:t>
            </a:r>
            <a:endParaRPr lang="en-US" sz="2000" dirty="0">
              <a:latin typeface="+mn-ea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403" r="-403"/>
          <a:stretch/>
        </p:blipFill>
        <p:spPr>
          <a:xfrm>
            <a:off x="571500" y="1775765"/>
            <a:ext cx="571500" cy="5669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2118665"/>
            <a:ext cx="3038551" cy="2048256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771754" y="2318004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t="-134" b="-134"/>
          <a:stretch/>
        </p:blipFill>
        <p:spPr>
          <a:xfrm>
            <a:off x="933602" y="2451506"/>
            <a:ext cx="170993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419149" y="2427732"/>
            <a:ext cx="15197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시작 노드 (Start)</a:t>
            </a:r>
            <a:endParaRPr lang="en-US" sz="1300" dirty="0">
              <a:latin typeface="+mn-ea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771754" y="2947111"/>
            <a:ext cx="2631643" cy="91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71754" y="3089758"/>
            <a:ext cx="2829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기능</a:t>
            </a:r>
            <a:endParaRPr lang="en-US" sz="800" dirty="0">
              <a:latin typeface="+mn-ea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771754" y="3322930"/>
            <a:ext cx="27148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워크플로우의 시작점입니다.</a:t>
            </a:r>
            <a:endParaRPr lang="en-US" sz="1000" dirty="0">
              <a:latin typeface="+mn-e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사용자의 초기 입력 메시지를 받아 다음 단계로 전달합니다. 필수 노드입니다. </a:t>
            </a:r>
            <a:endParaRPr lang="en-US" sz="1000" dirty="0">
              <a:latin typeface="+mn-ea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3832250" y="2118665"/>
            <a:ext cx="3038551" cy="2048256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4032504" y="2318004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4179722" y="2451506"/>
            <a:ext cx="200254" cy="2286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679899" y="2427732"/>
            <a:ext cx="1417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종료 노드 (End)</a:t>
            </a:r>
            <a:endParaRPr lang="en-US" sz="1300" dirty="0">
              <a:latin typeface="+mn-ea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4032504" y="2947111"/>
            <a:ext cx="2631643" cy="914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4032504" y="3089758"/>
            <a:ext cx="2829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기능</a:t>
            </a:r>
            <a:endParaRPr lang="en-US" sz="800" dirty="0">
              <a:latin typeface="+mn-ea"/>
            </a:endParaRPr>
          </a:p>
        </p:txBody>
      </p:sp>
      <p:sp>
        <p:nvSpPr>
          <p:cNvPr id="22" name="Text 13"/>
          <p:cNvSpPr txBox="1"/>
          <p:nvPr/>
        </p:nvSpPr>
        <p:spPr>
          <a:xfrm>
            <a:off x="4032504" y="3322930"/>
            <a:ext cx="27148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워크플로우의 실행을 마치고 최종 결과를 사용자에게 출력합니다.</a:t>
            </a:r>
            <a:endParaRPr lang="en-US" sz="1000" dirty="0">
              <a:latin typeface="+mn-e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모든 흐름은 이 노드에서 끝납니다. </a:t>
            </a:r>
            <a:endParaRPr lang="en-US" sz="1000" dirty="0">
              <a:latin typeface="+mn-ea"/>
            </a:endParaRPr>
          </a:p>
        </p:txBody>
      </p:sp>
      <p:sp>
        <p:nvSpPr>
          <p:cNvPr id="23" name="Shape 14"/>
          <p:cNvSpPr/>
          <p:nvPr/>
        </p:nvSpPr>
        <p:spPr>
          <a:xfrm>
            <a:off x="7093001" y="2118665"/>
            <a:ext cx="3038551" cy="2048256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24" name="Shape 15"/>
          <p:cNvSpPr/>
          <p:nvPr/>
        </p:nvSpPr>
        <p:spPr>
          <a:xfrm>
            <a:off x="7292340" y="2318004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25842" y="2451506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940650" y="2427732"/>
            <a:ext cx="21543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프롬프트 노드 (Prompt)</a:t>
            </a:r>
            <a:endParaRPr lang="en-US" sz="1300" dirty="0">
              <a:latin typeface="+mn-ea"/>
            </a:endParaRPr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7292340" y="2947111"/>
            <a:ext cx="2632558" cy="9144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292340" y="3089758"/>
            <a:ext cx="2829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기능</a:t>
            </a:r>
            <a:endParaRPr lang="en-US" sz="800" dirty="0">
              <a:latin typeface="+mn-ea"/>
            </a:endParaRPr>
          </a:p>
        </p:txBody>
      </p:sp>
      <p:sp>
        <p:nvSpPr>
          <p:cNvPr id="29" name="Text 18"/>
          <p:cNvSpPr txBox="1"/>
          <p:nvPr/>
        </p:nvSpPr>
        <p:spPr>
          <a:xfrm>
            <a:off x="7292340" y="3322930"/>
            <a:ext cx="27148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LLM에게 구체적인 지시를 내립니다.</a:t>
            </a:r>
            <a:endParaRPr lang="en-US" sz="1000" dirty="0">
              <a:latin typeface="+mn-e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역할(Persona)을 부여하거나 특정 작업을 수행하도록 텍스트를 생성합니다. </a:t>
            </a:r>
            <a:endParaRPr lang="en-US" sz="1000" dirty="0">
              <a:latin typeface="+mn-ea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571500" y="4390034"/>
            <a:ext cx="3038551" cy="2048256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771754" y="4590288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890626" y="4723790"/>
            <a:ext cx="256946" cy="2286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419149" y="4700016"/>
            <a:ext cx="14630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스킬 노드 (Skill)</a:t>
            </a:r>
            <a:endParaRPr lang="en-US" sz="1300" dirty="0">
              <a:latin typeface="+mn-ea"/>
            </a:endParaRPr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771754" y="5218481"/>
            <a:ext cx="2631643" cy="9144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771754" y="5361127"/>
            <a:ext cx="2829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기능</a:t>
            </a:r>
            <a:endParaRPr lang="en-US" sz="800" dirty="0">
              <a:latin typeface="+mn-ea"/>
            </a:endParaRPr>
          </a:p>
        </p:txBody>
      </p:sp>
      <p:sp>
        <p:nvSpPr>
          <p:cNvPr id="36" name="Text 23"/>
          <p:cNvSpPr txBox="1"/>
          <p:nvPr/>
        </p:nvSpPr>
        <p:spPr>
          <a:xfrm>
            <a:off x="771754" y="5595214"/>
            <a:ext cx="27148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특정한 기능을 수행하는 도구입니다.</a:t>
            </a:r>
            <a:endParaRPr lang="en-US" sz="1000" dirty="0">
              <a:latin typeface="+mn-e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퀴즈 생성, 문법 교정, 학습 플래너 등 미리 정의된 기능을 실행합니다. </a:t>
            </a:r>
            <a:endParaRPr lang="en-US" sz="1000" dirty="0">
              <a:latin typeface="+mn-ea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3832250" y="4390034"/>
            <a:ext cx="3038551" cy="2048256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4032504" y="4609490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4151376" y="4742078"/>
            <a:ext cx="256946" cy="228600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679899" y="4590288"/>
            <a:ext cx="20674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지식베이스 노드 (Knowledge)</a:t>
            </a:r>
            <a:endParaRPr lang="en-US" sz="1300" dirty="0">
              <a:latin typeface="+mn-ea"/>
            </a:endParaRPr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4032504" y="5256886"/>
            <a:ext cx="2631643" cy="9144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4032504" y="5399532"/>
            <a:ext cx="2829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기능</a:t>
            </a:r>
            <a:endParaRPr lang="en-US" sz="800" dirty="0">
              <a:latin typeface="+mn-ea"/>
            </a:endParaRPr>
          </a:p>
        </p:txBody>
      </p:sp>
      <p:sp>
        <p:nvSpPr>
          <p:cNvPr id="43" name="Text 28"/>
          <p:cNvSpPr txBox="1"/>
          <p:nvPr/>
        </p:nvSpPr>
        <p:spPr>
          <a:xfrm>
            <a:off x="4032504" y="5632704"/>
            <a:ext cx="27148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RAG(검색 증강 생성) 기술을 활용합니다.</a:t>
            </a:r>
            <a:endParaRPr lang="en-US" sz="1000" dirty="0">
              <a:latin typeface="+mn-e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업로드된 문서에서 질문과 관련된 내용을 검색하여 참조합니다. </a:t>
            </a:r>
            <a:endParaRPr lang="en-US" sz="1000" dirty="0">
              <a:latin typeface="+mn-ea"/>
            </a:endParaRPr>
          </a:p>
        </p:txBody>
      </p:sp>
      <p:sp>
        <p:nvSpPr>
          <p:cNvPr id="44" name="Shape 29"/>
          <p:cNvSpPr/>
          <p:nvPr/>
        </p:nvSpPr>
        <p:spPr>
          <a:xfrm>
            <a:off x="7093001" y="4390034"/>
            <a:ext cx="3038551" cy="2048256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45" name="Shape 30"/>
          <p:cNvSpPr/>
          <p:nvPr/>
        </p:nvSpPr>
        <p:spPr>
          <a:xfrm>
            <a:off x="7292340" y="4590288"/>
            <a:ext cx="495605" cy="495605"/>
          </a:xfrm>
          <a:prstGeom prst="roundRect">
            <a:avLst>
              <a:gd name="adj" fmla="val 42577"/>
            </a:avLst>
          </a:prstGeom>
          <a:solidFill>
            <a:srgbClr val="CCFB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1"/>
          <a:srcRect t="-80" b="-80"/>
          <a:stretch/>
        </p:blipFill>
        <p:spPr>
          <a:xfrm>
            <a:off x="7397496" y="4723790"/>
            <a:ext cx="285293" cy="228600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7940650" y="4700016"/>
            <a:ext cx="19165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MCP 도구 노드 (MCP)</a:t>
            </a:r>
            <a:endParaRPr lang="en-US" sz="1300" dirty="0">
              <a:latin typeface="+mn-ea"/>
            </a:endParaRPr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7292340" y="5218481"/>
            <a:ext cx="2632558" cy="9144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7292340" y="5361127"/>
            <a:ext cx="2829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기능</a:t>
            </a:r>
            <a:endParaRPr lang="en-US" sz="800" dirty="0">
              <a:latin typeface="+mn-ea"/>
            </a:endParaRPr>
          </a:p>
        </p:txBody>
      </p:sp>
      <p:sp>
        <p:nvSpPr>
          <p:cNvPr id="50" name="Text 33"/>
          <p:cNvSpPr txBox="1"/>
          <p:nvPr/>
        </p:nvSpPr>
        <p:spPr>
          <a:xfrm>
            <a:off x="7292340" y="5595214"/>
            <a:ext cx="27148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외부 서비스와 연동합니다.</a:t>
            </a:r>
            <a:endParaRPr lang="en-US" sz="1000" dirty="0">
              <a:latin typeface="+mn-e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실시간 웹 검색, 계산, 환율 조회 등 외부 데이터를 가져와 처리합니다. </a:t>
            </a:r>
            <a:endParaRPr lang="en-US" sz="1000" dirty="0">
              <a:latin typeface="+mn-ea"/>
            </a:endParaRPr>
          </a:p>
        </p:txBody>
      </p:sp>
      <p:sp>
        <p:nvSpPr>
          <p:cNvPr id="53" name="Text 41">
            <a:extLst>
              <a:ext uri="{FF2B5EF4-FFF2-40B4-BE49-F238E27FC236}">
                <a16:creationId xmlns:a16="http://schemas.microsoft.com/office/drawing/2014/main" id="{D1D60026-959A-AA1B-CF28-37F7D6EF861B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400" dirty="0" smtClean="0">
                <a:solidFill>
                  <a:srgbClr val="64748B"/>
                </a:solidFill>
                <a:latin typeface="+mn-ea"/>
                <a:cs typeface="Noto Sans KR" pitchFamily="34" charset="-120"/>
              </a:rPr>
              <a:t>&gt; </a:t>
            </a:r>
            <a:r>
              <a:rPr lang="ko-KR" altLang="en-US" sz="1400" dirty="0" smtClean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 </a:t>
            </a:r>
            <a:r>
              <a:rPr lang="ko-KR" altLang="en-US" sz="14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빌더</a:t>
            </a:r>
            <a:endParaRPr lang="en-US" altLang="ko-KR" sz="1400" dirty="0">
              <a:latin typeface="+mn-ea"/>
            </a:endParaRPr>
          </a:p>
        </p:txBody>
      </p:sp>
      <p:sp>
        <p:nvSpPr>
          <p:cNvPr id="54" name="Shape 0">
            <a:extLst>
              <a:ext uri="{FF2B5EF4-FFF2-40B4-BE49-F238E27FC236}">
                <a16:creationId xmlns:a16="http://schemas.microsoft.com/office/drawing/2014/main" id="{AAEBC382-1B86-02A3-07CB-0A7027D26578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E322B3-6C6F-BDF8-9EBD-A91AD42DE8A1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sp>
        <p:nvSpPr>
          <p:cNvPr id="56" name="Shape 58">
            <a:extLst>
              <a:ext uri="{FF2B5EF4-FFF2-40B4-BE49-F238E27FC236}">
                <a16:creationId xmlns:a16="http://schemas.microsoft.com/office/drawing/2014/main" id="{9BDB5409-666A-A91A-836C-D29BAF9FD682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57" name="Text 59">
            <a:extLst>
              <a:ext uri="{FF2B5EF4-FFF2-40B4-BE49-F238E27FC236}">
                <a16:creationId xmlns:a16="http://schemas.microsoft.com/office/drawing/2014/main" id="{57218126-1D78-26B6-A74B-F6E6EF4DA2DB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34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0459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-457" y="0"/>
            <a:ext cx="10696651" cy="75630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1199693"/>
            <a:ext cx="97447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로직 &amp; 고급 노드 5종</a:t>
            </a:r>
            <a:endParaRPr lang="en-US" sz="2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t="-422" b="-422"/>
          <a:stretch/>
        </p:blipFill>
        <p:spPr>
          <a:xfrm>
            <a:off x="571500" y="1680667"/>
            <a:ext cx="571500" cy="4937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81558" y="2015338"/>
            <a:ext cx="3057754" cy="2333549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5"/>
          <p:cNvSpPr/>
          <p:nvPr/>
        </p:nvSpPr>
        <p:spPr>
          <a:xfrm>
            <a:off x="781812" y="221467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l="-461" r="-461"/>
          <a:stretch/>
        </p:blipFill>
        <p:spPr>
          <a:xfrm>
            <a:off x="890626" y="2339035"/>
            <a:ext cx="237744" cy="20939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71600" y="2220163"/>
            <a:ext cx="84399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노드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1371600" y="2496312"/>
            <a:ext cx="85039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366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Classification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781812" y="2786177"/>
            <a:ext cx="2650846" cy="914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81812" y="2910535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입력 의도를 분석하여 적절한 경로로 자동 분기합니다.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781812" y="3416198"/>
            <a:ext cx="2657246" cy="733349"/>
          </a:xfrm>
          <a:prstGeom prst="roundRect">
            <a:avLst>
              <a:gd name="adj" fmla="val 12955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10"/>
          <p:cNvSpPr/>
          <p:nvPr/>
        </p:nvSpPr>
        <p:spPr>
          <a:xfrm>
            <a:off x="781812" y="3416198"/>
            <a:ext cx="28346" cy="733349"/>
          </a:xfrm>
          <a:prstGeom prst="roundRect">
            <a:avLst>
              <a:gd name="adj" fmla="val 335153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1"/>
          <p:cNvSpPr txBox="1"/>
          <p:nvPr/>
        </p:nvSpPr>
        <p:spPr>
          <a:xfrm>
            <a:off x="905256" y="3511296"/>
            <a:ext cx="2628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예시</a:t>
            </a:r>
            <a:endParaRPr lang="en-US" sz="800" dirty="0"/>
          </a:p>
        </p:txBody>
      </p:sp>
      <p:sp>
        <p:nvSpPr>
          <p:cNvPr id="19" name="Text 12"/>
          <p:cNvSpPr txBox="1"/>
          <p:nvPr/>
        </p:nvSpPr>
        <p:spPr>
          <a:xfrm>
            <a:off x="905256" y="3706063"/>
            <a:ext cx="25146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"문의 내용이 환불/배송/기타 중 어디에 해당하는지 자동 분류"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3823106" y="2015338"/>
            <a:ext cx="3057754" cy="2333549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14"/>
          <p:cNvSpPr/>
          <p:nvPr/>
        </p:nvSpPr>
        <p:spPr>
          <a:xfrm>
            <a:off x="4022446" y="221467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t="-600" b="-600"/>
          <a:stretch/>
        </p:blipFill>
        <p:spPr>
          <a:xfrm>
            <a:off x="4160520" y="2339035"/>
            <a:ext cx="181051" cy="20939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613148" y="2220163"/>
            <a:ext cx="12070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조건분기 노드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4613148" y="2496312"/>
            <a:ext cx="10771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 / Else</a:t>
            </a:r>
            <a:endParaRPr lang="en-US" sz="8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4022446" y="2786177"/>
            <a:ext cx="2650846" cy="91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022446" y="2910535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값이나 특정 조건의 충족 여부에 따라 워크플로우 흐름을 제어합니다.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4022446" y="3416198"/>
            <a:ext cx="2657246" cy="733349"/>
          </a:xfrm>
          <a:prstGeom prst="roundRect">
            <a:avLst>
              <a:gd name="adj" fmla="val 12955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Shape 19"/>
          <p:cNvSpPr/>
          <p:nvPr/>
        </p:nvSpPr>
        <p:spPr>
          <a:xfrm>
            <a:off x="4022446" y="3416198"/>
            <a:ext cx="28346" cy="733349"/>
          </a:xfrm>
          <a:prstGeom prst="roundRect">
            <a:avLst>
              <a:gd name="adj" fmla="val 335153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Text 20"/>
          <p:cNvSpPr txBox="1"/>
          <p:nvPr/>
        </p:nvSpPr>
        <p:spPr>
          <a:xfrm>
            <a:off x="4146804" y="3511296"/>
            <a:ext cx="2628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예시</a:t>
            </a:r>
            <a:endParaRPr lang="en-US" sz="800" dirty="0"/>
          </a:p>
        </p:txBody>
      </p:sp>
      <p:sp>
        <p:nvSpPr>
          <p:cNvPr id="30" name="Text 21"/>
          <p:cNvSpPr txBox="1"/>
          <p:nvPr/>
        </p:nvSpPr>
        <p:spPr>
          <a:xfrm>
            <a:off x="4146804" y="3706063"/>
            <a:ext cx="25146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"회원 등급이 VIP인 경우 전담 상담원 봇으로 연결"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7063740" y="2015338"/>
            <a:ext cx="3057754" cy="2333549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23"/>
          <p:cNvSpPr/>
          <p:nvPr/>
        </p:nvSpPr>
        <p:spPr>
          <a:xfrm>
            <a:off x="7263994" y="221467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rcRect t="-600" b="-600"/>
          <a:stretch/>
        </p:blipFill>
        <p:spPr>
          <a:xfrm>
            <a:off x="7402068" y="2339035"/>
            <a:ext cx="181051" cy="20939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854696" y="2220163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 노드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7854696" y="2496312"/>
            <a:ext cx="762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</a:t>
            </a:r>
            <a:endParaRPr lang="en-US" sz="8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7263994" y="2786177"/>
            <a:ext cx="2650846" cy="9144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263994" y="2910535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데이터의 포맷을 변경하거나 결과에서 특정 값만 추출하여 가공합니다.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7263994" y="3416198"/>
            <a:ext cx="2657246" cy="733349"/>
          </a:xfrm>
          <a:prstGeom prst="roundRect">
            <a:avLst>
              <a:gd name="adj" fmla="val 1295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9" name="Shape 28"/>
          <p:cNvSpPr/>
          <p:nvPr/>
        </p:nvSpPr>
        <p:spPr>
          <a:xfrm>
            <a:off x="7263994" y="3416198"/>
            <a:ext cx="28346" cy="733349"/>
          </a:xfrm>
          <a:prstGeom prst="roundRect">
            <a:avLst>
              <a:gd name="adj" fmla="val 335153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0" name="Text 29"/>
          <p:cNvSpPr txBox="1"/>
          <p:nvPr/>
        </p:nvSpPr>
        <p:spPr>
          <a:xfrm>
            <a:off x="7387438" y="3511296"/>
            <a:ext cx="2628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예시</a:t>
            </a:r>
            <a:endParaRPr lang="en-US" sz="800" dirty="0"/>
          </a:p>
        </p:txBody>
      </p:sp>
      <p:sp>
        <p:nvSpPr>
          <p:cNvPr id="41" name="Text 30"/>
          <p:cNvSpPr txBox="1"/>
          <p:nvPr/>
        </p:nvSpPr>
        <p:spPr>
          <a:xfrm>
            <a:off x="7387438" y="3706063"/>
            <a:ext cx="25146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"복잡한 JSON 응답 데이터를 읽기 쉬운 텍스트 리포트로 변환"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2201875" y="4539082"/>
            <a:ext cx="3057754" cy="2333549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3" name="Shape 32"/>
          <p:cNvSpPr/>
          <p:nvPr/>
        </p:nvSpPr>
        <p:spPr>
          <a:xfrm>
            <a:off x="2402129" y="473933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9"/>
          <a:srcRect t="-600" b="-600"/>
          <a:stretch/>
        </p:blipFill>
        <p:spPr>
          <a:xfrm>
            <a:off x="2540203" y="4862779"/>
            <a:ext cx="181051" cy="2093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2992831" y="4743907"/>
            <a:ext cx="12070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상태설정 노드</a:t>
            </a:r>
            <a:endParaRPr lang="en-US" sz="1300" dirty="0"/>
          </a:p>
        </p:txBody>
      </p:sp>
      <p:sp>
        <p:nvSpPr>
          <p:cNvPr id="46" name="Text 34"/>
          <p:cNvSpPr txBox="1"/>
          <p:nvPr/>
        </p:nvSpPr>
        <p:spPr>
          <a:xfrm>
            <a:off x="2992831" y="5020056"/>
            <a:ext cx="10771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 State</a:t>
            </a:r>
            <a:endParaRPr lang="en-US" sz="8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2402129" y="5310835"/>
            <a:ext cx="2650846" cy="9144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2402129" y="5434279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문맥이나 사용자 정보를 변수에 저장하고 업데이트합니다.</a:t>
            </a:r>
            <a:endParaRPr lang="en-US" sz="1000" dirty="0"/>
          </a:p>
        </p:txBody>
      </p:sp>
      <p:sp>
        <p:nvSpPr>
          <p:cNvPr id="49" name="Shape 36"/>
          <p:cNvSpPr/>
          <p:nvPr/>
        </p:nvSpPr>
        <p:spPr>
          <a:xfrm>
            <a:off x="2402129" y="5939942"/>
            <a:ext cx="2657246" cy="733349"/>
          </a:xfrm>
          <a:prstGeom prst="roundRect">
            <a:avLst>
              <a:gd name="adj" fmla="val 12955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0" name="Shape 37"/>
          <p:cNvSpPr/>
          <p:nvPr/>
        </p:nvSpPr>
        <p:spPr>
          <a:xfrm>
            <a:off x="2402129" y="5939942"/>
            <a:ext cx="28346" cy="733349"/>
          </a:xfrm>
          <a:prstGeom prst="roundRect">
            <a:avLst>
              <a:gd name="adj" fmla="val 335153"/>
            </a:avLst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1" name="Text 38"/>
          <p:cNvSpPr txBox="1"/>
          <p:nvPr/>
        </p:nvSpPr>
        <p:spPr>
          <a:xfrm>
            <a:off x="2525573" y="6035040"/>
            <a:ext cx="2628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예시</a:t>
            </a:r>
            <a:endParaRPr lang="en-US" sz="800" dirty="0"/>
          </a:p>
        </p:txBody>
      </p:sp>
      <p:sp>
        <p:nvSpPr>
          <p:cNvPr id="52" name="Text 39"/>
          <p:cNvSpPr txBox="1"/>
          <p:nvPr/>
        </p:nvSpPr>
        <p:spPr>
          <a:xfrm>
            <a:off x="2525573" y="6230722"/>
            <a:ext cx="25146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언어 설정이나 관심사 정보를 기억하여 다음 대화에 반영"</a:t>
            </a:r>
            <a:endParaRPr lang="en-US" sz="900" dirty="0"/>
          </a:p>
        </p:txBody>
      </p:sp>
      <p:sp>
        <p:nvSpPr>
          <p:cNvPr id="53" name="Shape 40"/>
          <p:cNvSpPr/>
          <p:nvPr/>
        </p:nvSpPr>
        <p:spPr>
          <a:xfrm>
            <a:off x="5443423" y="4539082"/>
            <a:ext cx="3057754" cy="2333549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4" name="Shape 41"/>
          <p:cNvSpPr/>
          <p:nvPr/>
        </p:nvSpPr>
        <p:spPr>
          <a:xfrm>
            <a:off x="5643677" y="473933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E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67121" y="4862779"/>
            <a:ext cx="209398" cy="209398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6234379" y="4743907"/>
            <a:ext cx="12070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가드레일 노드</a:t>
            </a:r>
            <a:endParaRPr lang="en-US" sz="1300" dirty="0"/>
          </a:p>
        </p:txBody>
      </p:sp>
      <p:sp>
        <p:nvSpPr>
          <p:cNvPr id="57" name="Text 43"/>
          <p:cNvSpPr txBox="1"/>
          <p:nvPr/>
        </p:nvSpPr>
        <p:spPr>
          <a:xfrm>
            <a:off x="6234379" y="5020056"/>
            <a:ext cx="10771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Guardrail</a:t>
            </a:r>
            <a:endParaRPr lang="en-US" sz="800" dirty="0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5643677" y="5310835"/>
            <a:ext cx="2650846" cy="9144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5643677" y="5434279"/>
            <a:ext cx="27340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및 출력 데이터를 검사하여 부적절한 내용을 필터링하고 보안을 강화합니다.</a:t>
            </a:r>
            <a:endParaRPr lang="en-US" sz="1000" dirty="0"/>
          </a:p>
        </p:txBody>
      </p:sp>
      <p:sp>
        <p:nvSpPr>
          <p:cNvPr id="60" name="Shape 45"/>
          <p:cNvSpPr/>
          <p:nvPr/>
        </p:nvSpPr>
        <p:spPr>
          <a:xfrm>
            <a:off x="5643677" y="5939942"/>
            <a:ext cx="2657246" cy="733349"/>
          </a:xfrm>
          <a:prstGeom prst="roundRect">
            <a:avLst>
              <a:gd name="adj" fmla="val 12955"/>
            </a:avLst>
          </a:prstGeom>
          <a:solidFill>
            <a:srgbClr val="FFF1F2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61" name="Shape 46"/>
          <p:cNvSpPr/>
          <p:nvPr/>
        </p:nvSpPr>
        <p:spPr>
          <a:xfrm>
            <a:off x="5643677" y="5939942"/>
            <a:ext cx="28346" cy="733349"/>
          </a:xfrm>
          <a:prstGeom prst="roundRect">
            <a:avLst>
              <a:gd name="adj" fmla="val 335153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2" name="Text 47"/>
          <p:cNvSpPr txBox="1"/>
          <p:nvPr/>
        </p:nvSpPr>
        <p:spPr>
          <a:xfrm>
            <a:off x="5767121" y="6035040"/>
            <a:ext cx="2628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예시</a:t>
            </a:r>
            <a:endParaRPr lang="en-US" sz="800" dirty="0"/>
          </a:p>
        </p:txBody>
      </p:sp>
      <p:sp>
        <p:nvSpPr>
          <p:cNvPr id="63" name="Text 48"/>
          <p:cNvSpPr txBox="1"/>
          <p:nvPr/>
        </p:nvSpPr>
        <p:spPr>
          <a:xfrm>
            <a:off x="5767121" y="6230722"/>
            <a:ext cx="25146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"응답에 개인정보(전화번호 등)가 포함된 경우 마스킹 처리"</a:t>
            </a:r>
            <a:endParaRPr lang="en-US" sz="900" dirty="0"/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D5DEF856-2CAD-E1C8-D474-A27BF29DA3A8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400" dirty="0" smtClean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&gt; </a:t>
            </a:r>
            <a:r>
              <a:rPr lang="ko-KR" altLang="en-US" sz="1400" dirty="0" smtClean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에이전트 </a:t>
            </a:r>
            <a:r>
              <a:rPr lang="ko-KR" altLang="en-US" sz="1400" dirty="0" err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빌더</a:t>
            </a:r>
            <a:endParaRPr lang="en-US" altLang="ko-KR" sz="1400" dirty="0">
              <a:latin typeface="+mj-ea"/>
              <a:ea typeface="+mj-ea"/>
            </a:endParaRPr>
          </a:p>
        </p:txBody>
      </p:sp>
      <p:sp>
        <p:nvSpPr>
          <p:cNvPr id="67" name="Shape 0">
            <a:extLst>
              <a:ext uri="{FF2B5EF4-FFF2-40B4-BE49-F238E27FC236}">
                <a16:creationId xmlns:a16="http://schemas.microsoft.com/office/drawing/2014/main" id="{22403E5A-AEA4-F526-40B0-86FC1E48CDC5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j-ea"/>
              <a:ea typeface="+mj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BE005D-13A3-1273-79B4-6893F078ADDE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j-ea"/>
                <a:ea typeface="+mj-ea"/>
              </a:rPr>
              <a:t>GrowFit</a:t>
            </a:r>
            <a:endParaRPr lang="ko-KR" altLang="en-US" sz="1517" dirty="0">
              <a:latin typeface="+mj-ea"/>
              <a:ea typeface="+mj-ea"/>
            </a:endParaRPr>
          </a:p>
        </p:txBody>
      </p:sp>
      <p:sp>
        <p:nvSpPr>
          <p:cNvPr id="69" name="Shape 58">
            <a:extLst>
              <a:ext uri="{FF2B5EF4-FFF2-40B4-BE49-F238E27FC236}">
                <a16:creationId xmlns:a16="http://schemas.microsoft.com/office/drawing/2014/main" id="{9BDB5409-666A-A91A-836C-D29BAF9FD682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70" name="Text 59">
            <a:extLst>
              <a:ext uri="{FF2B5EF4-FFF2-40B4-BE49-F238E27FC236}">
                <a16:creationId xmlns:a16="http://schemas.microsoft.com/office/drawing/2014/main" id="{57218126-1D78-26B6-A74B-F6E6EF4DA2DB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35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30589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-458" y="-171543"/>
            <a:ext cx="10696651" cy="75630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1295705"/>
            <a:ext cx="97447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멀티모달 노드 3종 (이미지 </a:t>
            </a:r>
            <a:r>
              <a:rPr lang="en-US" sz="2000" b="1" dirty="0" err="1">
                <a:solidFill>
                  <a:srgbClr val="1E293B"/>
                </a:solidFill>
                <a:latin typeface="+mn-ea"/>
                <a:cs typeface="Noto Sans KR" pitchFamily="34" charset="-120"/>
              </a:rPr>
              <a:t>처리</a:t>
            </a:r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) - </a:t>
            </a:r>
            <a:r>
              <a:rPr lang="ko-KR" alt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준비중</a:t>
            </a:r>
            <a:endParaRPr lang="en-US" sz="2000" dirty="0">
              <a:latin typeface="+mn-ea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t="-418" b="-418"/>
          <a:stretch/>
        </p:blipFill>
        <p:spPr>
          <a:xfrm>
            <a:off x="571500" y="1775765"/>
            <a:ext cx="571500" cy="3931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2195474"/>
            <a:ext cx="3000146" cy="4104742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 l="-397" r="-397"/>
          <a:stretch/>
        </p:blipFill>
        <p:spPr>
          <a:xfrm>
            <a:off x="580644" y="2204618"/>
            <a:ext cx="2974543" cy="56693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687068" y="2490826"/>
            <a:ext cx="761695" cy="7616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1897380" y="2719426"/>
            <a:ext cx="342900" cy="3044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264615" y="3481121"/>
            <a:ext cx="160934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비전 분석 노드</a:t>
            </a:r>
            <a:endParaRPr lang="en-US" sz="1600" dirty="0">
              <a:latin typeface="+mn-ea"/>
            </a:endParaRPr>
          </a:p>
        </p:txBody>
      </p:sp>
      <p:sp>
        <p:nvSpPr>
          <p:cNvPr id="14" name="Text 7"/>
          <p:cNvSpPr txBox="1"/>
          <p:nvPr/>
        </p:nvSpPr>
        <p:spPr>
          <a:xfrm>
            <a:off x="771754" y="3909974"/>
            <a:ext cx="26005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이미지 내용을 심층 분석하여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인사이트와 설명을 도출합니다.</a:t>
            </a:r>
            <a:endParaRPr lang="en-US" sz="1100" dirty="0">
              <a:latin typeface="+mn-ea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809244" y="4624121"/>
            <a:ext cx="2523744" cy="1380744"/>
          </a:xfrm>
          <a:prstGeom prst="roundRect">
            <a:avLst>
              <a:gd name="adj" fmla="val 3654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0354" y="4852721"/>
            <a:ext cx="133502" cy="133502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28954" y="4823460"/>
            <a:ext cx="1921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입력:</a:t>
            </a: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이미지 파일 또는 URL</a:t>
            </a:r>
            <a:endParaRPr lang="en-US" sz="1000" dirty="0">
              <a:latin typeface="+mn-ea"/>
            </a:endParaRPr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00354" y="5153558"/>
            <a:ext cx="133502" cy="133502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228954" y="5125212"/>
            <a:ext cx="16614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출력:</a:t>
            </a: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분석 텍스트, 태그</a:t>
            </a:r>
            <a:endParaRPr lang="en-US" sz="1000" dirty="0">
              <a:latin typeface="+mn-ea"/>
            </a:endParaRPr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1000354" y="5454396"/>
            <a:ext cx="152705" cy="133502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248156" y="5426050"/>
            <a:ext cx="165506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예시:</a:t>
            </a:r>
            <a:r>
              <a:rPr 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문서 스캔 분석</a:t>
            </a:r>
            <a:endParaRPr lang="en-US" sz="1000" dirty="0">
              <a:latin typeface="+mn-e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스캔된 문서를 분석하여 요약</a:t>
            </a:r>
            <a:endParaRPr lang="en-US" sz="1000" dirty="0">
              <a:latin typeface="+mn-ea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3851453" y="2195474"/>
            <a:ext cx="3000146" cy="4104742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0"/>
          <a:srcRect l="-397" r="-397"/>
          <a:stretch/>
        </p:blipFill>
        <p:spPr>
          <a:xfrm>
            <a:off x="3860597" y="2204618"/>
            <a:ext cx="2974543" cy="56693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4967021" y="2490826"/>
            <a:ext cx="761695" cy="761695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195621" y="2719426"/>
            <a:ext cx="304495" cy="30449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4436669" y="3481121"/>
            <a:ext cx="183337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이미지 생성 노드</a:t>
            </a:r>
            <a:endParaRPr lang="en-US" sz="1600" dirty="0">
              <a:latin typeface="+mn-ea"/>
            </a:endParaRPr>
          </a:p>
        </p:txBody>
      </p:sp>
      <p:sp>
        <p:nvSpPr>
          <p:cNvPr id="27" name="Text 15"/>
          <p:cNvSpPr txBox="1"/>
          <p:nvPr/>
        </p:nvSpPr>
        <p:spPr>
          <a:xfrm>
            <a:off x="4050792" y="3909974"/>
            <a:ext cx="26005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텍스트 프롬프트를 기반으로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새로운 이미지를 창작합니다.</a:t>
            </a:r>
            <a:endParaRPr lang="en-US" sz="1100" dirty="0">
              <a:latin typeface="+mn-ea"/>
            </a:endParaRPr>
          </a:p>
        </p:txBody>
      </p:sp>
      <p:sp>
        <p:nvSpPr>
          <p:cNvPr id="28" name="Shape 16"/>
          <p:cNvSpPr/>
          <p:nvPr/>
        </p:nvSpPr>
        <p:spPr>
          <a:xfrm>
            <a:off x="4089197" y="4624121"/>
            <a:ext cx="2523744" cy="1380744"/>
          </a:xfrm>
          <a:prstGeom prst="roundRect">
            <a:avLst>
              <a:gd name="adj" fmla="val 3654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279392" y="4852721"/>
            <a:ext cx="133502" cy="133502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4507992" y="4823460"/>
            <a:ext cx="1495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입력:</a:t>
            </a: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텍스트 프롬프트</a:t>
            </a:r>
            <a:endParaRPr lang="en-US" sz="1000" dirty="0">
              <a:latin typeface="+mn-ea"/>
            </a:endParaRPr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279392" y="5153558"/>
            <a:ext cx="133502" cy="133502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4507992" y="5125212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출력:</a:t>
            </a: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생성된 이미지 URL</a:t>
            </a:r>
            <a:endParaRPr lang="en-US" sz="1000" dirty="0">
              <a:latin typeface="+mn-ea"/>
            </a:endParaRPr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4"/>
          <a:srcRect l="-837" r="-837"/>
          <a:stretch/>
        </p:blipFill>
        <p:spPr>
          <a:xfrm>
            <a:off x="4279392" y="5454396"/>
            <a:ext cx="152705" cy="133502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4527194" y="5426050"/>
            <a:ext cx="18233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예시:</a:t>
            </a:r>
            <a:r>
              <a:rPr 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로고 디자인</a:t>
            </a:r>
            <a:endParaRPr lang="en-US" sz="1000" dirty="0">
              <a:latin typeface="+mn-e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브랜드 키워드로 로고 초안 생성</a:t>
            </a:r>
            <a:endParaRPr lang="en-US" sz="1000" dirty="0">
              <a:latin typeface="+mn-ea"/>
            </a:endParaRPr>
          </a:p>
        </p:txBody>
      </p:sp>
      <p:sp>
        <p:nvSpPr>
          <p:cNvPr id="35" name="Shape 20"/>
          <p:cNvSpPr/>
          <p:nvPr/>
        </p:nvSpPr>
        <p:spPr>
          <a:xfrm>
            <a:off x="7130491" y="2195474"/>
            <a:ext cx="3000146" cy="4104742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5"/>
          <a:srcRect l="-409" r="-409"/>
          <a:stretch/>
        </p:blipFill>
        <p:spPr>
          <a:xfrm>
            <a:off x="7140550" y="2204618"/>
            <a:ext cx="2975458" cy="56693"/>
          </a:xfrm>
          <a:prstGeom prst="rect">
            <a:avLst/>
          </a:prstGeom>
        </p:spPr>
      </p:pic>
      <p:sp>
        <p:nvSpPr>
          <p:cNvPr id="37" name="Shape 21"/>
          <p:cNvSpPr/>
          <p:nvPr/>
        </p:nvSpPr>
        <p:spPr>
          <a:xfrm>
            <a:off x="8246974" y="2490826"/>
            <a:ext cx="761695" cy="76169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6"/>
          <a:srcRect l="-50" r="-50"/>
          <a:stretch/>
        </p:blipFill>
        <p:spPr>
          <a:xfrm>
            <a:off x="8513978" y="2719426"/>
            <a:ext cx="228600" cy="304495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7862011" y="3481121"/>
            <a:ext cx="153527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OCR 추출 노드</a:t>
            </a:r>
            <a:endParaRPr lang="en-US" sz="1600" dirty="0">
              <a:latin typeface="+mn-ea"/>
            </a:endParaRPr>
          </a:p>
        </p:txBody>
      </p:sp>
      <p:sp>
        <p:nvSpPr>
          <p:cNvPr id="40" name="Text 23"/>
          <p:cNvSpPr txBox="1"/>
          <p:nvPr/>
        </p:nvSpPr>
        <p:spPr>
          <a:xfrm>
            <a:off x="7330745" y="3909974"/>
            <a:ext cx="26005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이미지 속 텍스트를 인식하여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디지털 데이터로 변환합니다.</a:t>
            </a:r>
            <a:endParaRPr lang="en-US" sz="1100" dirty="0">
              <a:latin typeface="+mn-ea"/>
            </a:endParaRPr>
          </a:p>
        </p:txBody>
      </p:sp>
      <p:sp>
        <p:nvSpPr>
          <p:cNvPr id="41" name="Shape 24"/>
          <p:cNvSpPr/>
          <p:nvPr/>
        </p:nvSpPr>
        <p:spPr>
          <a:xfrm>
            <a:off x="7369150" y="4624121"/>
            <a:ext cx="2523744" cy="1380744"/>
          </a:xfrm>
          <a:prstGeom prst="roundRect">
            <a:avLst>
              <a:gd name="adj" fmla="val 3654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559345" y="4852721"/>
            <a:ext cx="133502" cy="133502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7787945" y="4823460"/>
            <a:ext cx="1991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입력:</a:t>
            </a: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텍스트가 포함된 이미지</a:t>
            </a:r>
            <a:endParaRPr lang="en-US" sz="1000" dirty="0">
              <a:latin typeface="+mn-ea"/>
            </a:endParaRPr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559345" y="5153558"/>
            <a:ext cx="133502" cy="133502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7787945" y="5125212"/>
            <a:ext cx="18544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출력:</a:t>
            </a: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추출된 텍스트 데이터</a:t>
            </a:r>
            <a:endParaRPr lang="en-US" sz="1000" dirty="0">
              <a:latin typeface="+mn-ea"/>
            </a:endParaRPr>
          </a:p>
        </p:txBody>
      </p:sp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19"/>
          <a:srcRect l="-837" r="-837"/>
          <a:stretch/>
        </p:blipFill>
        <p:spPr>
          <a:xfrm>
            <a:off x="7559345" y="5454396"/>
            <a:ext cx="152705" cy="133502"/>
          </a:xfrm>
          <a:prstGeom prst="rect">
            <a:avLst/>
          </a:prstGeom>
        </p:spPr>
      </p:pic>
      <p:sp>
        <p:nvSpPr>
          <p:cNvPr id="47" name="Text 27"/>
          <p:cNvSpPr txBox="1"/>
          <p:nvPr/>
        </p:nvSpPr>
        <p:spPr>
          <a:xfrm>
            <a:off x="7807147" y="5426050"/>
            <a:ext cx="169438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예시:</a:t>
            </a:r>
            <a:r>
              <a:rPr 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명함 인식</a:t>
            </a:r>
            <a:endParaRPr lang="en-US" sz="1000" dirty="0">
              <a:latin typeface="+mn-e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명함을 찍어 연락처 자동 저장</a:t>
            </a:r>
            <a:endParaRPr lang="en-US" sz="1000" dirty="0">
              <a:latin typeface="+mn-ea"/>
            </a:endParaRPr>
          </a:p>
        </p:txBody>
      </p:sp>
      <p:sp>
        <p:nvSpPr>
          <p:cNvPr id="48" name="Shape 28"/>
          <p:cNvSpPr/>
          <p:nvPr/>
        </p:nvSpPr>
        <p:spPr>
          <a:xfrm>
            <a:off x="571500" y="6579108"/>
            <a:ext cx="9553651" cy="733349"/>
          </a:xfrm>
          <a:prstGeom prst="roundRect">
            <a:avLst>
              <a:gd name="adj" fmla="val 12955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49" name="Image 1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09244" y="6848856"/>
            <a:ext cx="190195" cy="190195"/>
          </a:xfrm>
          <a:prstGeom prst="rect">
            <a:avLst/>
          </a:prstGeom>
        </p:spPr>
      </p:pic>
      <p:sp>
        <p:nvSpPr>
          <p:cNvPr id="50" name="Text 29"/>
          <p:cNvSpPr txBox="1"/>
          <p:nvPr/>
        </p:nvSpPr>
        <p:spPr>
          <a:xfrm>
            <a:off x="1114654" y="6741871"/>
            <a:ext cx="66961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5985"/>
                </a:solidFill>
                <a:latin typeface="+mn-ea"/>
                <a:cs typeface="Noto Sans KR" pitchFamily="34" charset="-120"/>
              </a:rPr>
              <a:t>멀티모달 워크플로우 팁</a:t>
            </a:r>
            <a:endParaRPr lang="en-US" sz="1000" dirty="0">
              <a:latin typeface="+mn-ea"/>
            </a:endParaRPr>
          </a:p>
        </p:txBody>
      </p:sp>
      <p:sp>
        <p:nvSpPr>
          <p:cNvPr id="51" name="Text 30"/>
          <p:cNvSpPr txBox="1"/>
          <p:nvPr/>
        </p:nvSpPr>
        <p:spPr>
          <a:xfrm>
            <a:off x="1114654" y="6960413"/>
            <a:ext cx="8006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C4A6E"/>
                </a:solidFill>
                <a:latin typeface="+mn-ea"/>
                <a:cs typeface="Noto Sans KR" pitchFamily="34" charset="-120"/>
              </a:rPr>
              <a:t>비전 분석 노드 뒤에 '조건 분기' 노드를 연결하면, 이미지 분석 결과(예: "문서", "풍경")에 따라 다른 처리를 수행할 수 있습니다.</a:t>
            </a:r>
            <a:endParaRPr lang="en-US" sz="900" dirty="0">
              <a:latin typeface="+mn-ea"/>
            </a:endParaRPr>
          </a:p>
        </p:txBody>
      </p:sp>
      <p:sp>
        <p:nvSpPr>
          <p:cNvPr id="54" name="Text 41">
            <a:extLst>
              <a:ext uri="{FF2B5EF4-FFF2-40B4-BE49-F238E27FC236}">
                <a16:creationId xmlns:a16="http://schemas.microsoft.com/office/drawing/2014/main" id="{06DD9353-D804-E673-18F5-787BC19CD3AF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400" dirty="0" smtClean="0">
                <a:solidFill>
                  <a:srgbClr val="64748B"/>
                </a:solidFill>
                <a:latin typeface="+mn-ea"/>
                <a:cs typeface="Noto Sans KR" pitchFamily="34" charset="-120"/>
              </a:rPr>
              <a:t>&gt; </a:t>
            </a:r>
            <a:r>
              <a:rPr lang="ko-KR" altLang="en-US" sz="1400" dirty="0" smtClean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 </a:t>
            </a:r>
            <a:r>
              <a:rPr lang="ko-KR" altLang="en-US" sz="14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빌더</a:t>
            </a:r>
            <a:endParaRPr lang="en-US" altLang="ko-KR" sz="1400" dirty="0">
              <a:latin typeface="+mn-ea"/>
            </a:endParaRPr>
          </a:p>
        </p:txBody>
      </p:sp>
      <p:sp>
        <p:nvSpPr>
          <p:cNvPr id="55" name="Shape 0">
            <a:extLst>
              <a:ext uri="{FF2B5EF4-FFF2-40B4-BE49-F238E27FC236}">
                <a16:creationId xmlns:a16="http://schemas.microsoft.com/office/drawing/2014/main" id="{0531362C-1C18-98A5-2211-CA65E5F97250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DF950D-2154-B4CB-C3E6-4F7CAAE481A1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sp>
        <p:nvSpPr>
          <p:cNvPr id="58" name="Text 59">
            <a:extLst>
              <a:ext uri="{FF2B5EF4-FFF2-40B4-BE49-F238E27FC236}">
                <a16:creationId xmlns:a16="http://schemas.microsoft.com/office/drawing/2014/main" id="{57218126-1D78-26B6-A74B-F6E6EF4DA2DB}"/>
              </a:ext>
            </a:extLst>
          </p:cNvPr>
          <p:cNvSpPr txBox="1"/>
          <p:nvPr/>
        </p:nvSpPr>
        <p:spPr>
          <a:xfrm>
            <a:off x="10268694" y="7294123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36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3035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FC0DC-9D03-0724-D416-408C1927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Text 804">
            <a:extLst>
              <a:ext uri="{FF2B5EF4-FFF2-40B4-BE49-F238E27FC236}">
                <a16:creationId xmlns:a16="http://schemas.microsoft.com/office/drawing/2014/main" id="{29B5A449-FA83-45F0-89FC-38E733E9172B}"/>
              </a:ext>
            </a:extLst>
          </p:cNvPr>
          <p:cNvSpPr txBox="1"/>
          <p:nvPr/>
        </p:nvSpPr>
        <p:spPr>
          <a:xfrm>
            <a:off x="552224" y="1300000"/>
            <a:ext cx="6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000" b="1" dirty="0">
                <a:solidFill>
                  <a:srgbClr val="111827"/>
                </a:solidFill>
                <a:latin typeface="+mn-ea"/>
                <a:cs typeface="Noto Sans KR" pitchFamily="34" charset="-120"/>
              </a:rPr>
              <a:t>에이전트 핵심 개념 4가지</a:t>
            </a:r>
          </a:p>
        </p:txBody>
      </p:sp>
      <p:sp>
        <p:nvSpPr>
          <p:cNvPr id="805" name="Text 805">
            <a:extLst>
              <a:ext uri="{FF2B5EF4-FFF2-40B4-BE49-F238E27FC236}">
                <a16:creationId xmlns:a16="http://schemas.microsoft.com/office/drawing/2014/main" id="{568830F2-5422-40CA-A8E5-C3409E56662C}"/>
              </a:ext>
            </a:extLst>
          </p:cNvPr>
          <p:cNvSpPr txBox="1"/>
          <p:nvPr/>
        </p:nvSpPr>
        <p:spPr>
          <a:xfrm>
            <a:off x="571500" y="1963150"/>
            <a:ext cx="9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1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에이전트 빌더의 핵심 개념을 이해하면 워크플로우 설계가 쉬워집니다.</a:t>
            </a:r>
          </a:p>
        </p:txBody>
      </p:sp>
      <p:sp>
        <p:nvSpPr>
          <p:cNvPr id="806" name="Shape 806">
            <a:extLst>
              <a:ext uri="{FF2B5EF4-FFF2-40B4-BE49-F238E27FC236}">
                <a16:creationId xmlns:a16="http://schemas.microsoft.com/office/drawing/2014/main" id="{FA1C6ABE-54CC-5058-4B61-1F204E08D56B}"/>
              </a:ext>
            </a:extLst>
          </p:cNvPr>
          <p:cNvSpPr/>
          <p:nvPr/>
        </p:nvSpPr>
        <p:spPr>
          <a:xfrm>
            <a:off x="499276" y="2363150"/>
            <a:ext cx="2350000" cy="2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07" name="Shape 807">
            <a:extLst>
              <a:ext uri="{FF2B5EF4-FFF2-40B4-BE49-F238E27FC236}">
                <a16:creationId xmlns:a16="http://schemas.microsoft.com/office/drawing/2014/main" id="{6F79934A-05A3-08D3-97A1-ED71EEE4D338}"/>
              </a:ext>
            </a:extLst>
          </p:cNvPr>
          <p:cNvSpPr/>
          <p:nvPr/>
        </p:nvSpPr>
        <p:spPr>
          <a:xfrm>
            <a:off x="1374276" y="2563150"/>
            <a:ext cx="600000" cy="6000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08" name="Text 808">
            <a:extLst>
              <a:ext uri="{FF2B5EF4-FFF2-40B4-BE49-F238E27FC236}">
                <a16:creationId xmlns:a16="http://schemas.microsoft.com/office/drawing/2014/main" id="{C86EC5EC-4768-797F-BC3C-1004F7AA1614}"/>
              </a:ext>
            </a:extLst>
          </p:cNvPr>
          <p:cNvSpPr txBox="1"/>
          <p:nvPr/>
        </p:nvSpPr>
        <p:spPr>
          <a:xfrm>
            <a:off x="1424276" y="2713150"/>
            <a:ext cx="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solidFill>
                  <a:srgbClr val="3B82F6"/>
                </a:solidFill>
                <a:latin typeface="+mn-ea"/>
                <a:cs typeface="Noto Sans KR" pitchFamily="34" charset="-120"/>
              </a:rPr>
              <a:t>1</a:t>
            </a:r>
          </a:p>
        </p:txBody>
      </p:sp>
      <p:sp>
        <p:nvSpPr>
          <p:cNvPr id="809" name="Text 809">
            <a:extLst>
              <a:ext uri="{FF2B5EF4-FFF2-40B4-BE49-F238E27FC236}">
                <a16:creationId xmlns:a16="http://schemas.microsoft.com/office/drawing/2014/main" id="{34746464-F022-4A84-87C6-C3604E1C30EE}"/>
              </a:ext>
            </a:extLst>
          </p:cNvPr>
          <p:cNvSpPr txBox="1"/>
          <p:nvPr/>
        </p:nvSpPr>
        <p:spPr>
          <a:xfrm>
            <a:off x="599276" y="3313150"/>
            <a:ext cx="21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워크플로우</a:t>
            </a:r>
          </a:p>
        </p:txBody>
      </p:sp>
      <p:sp>
        <p:nvSpPr>
          <p:cNvPr id="810" name="Text 810">
            <a:extLst>
              <a:ext uri="{FF2B5EF4-FFF2-40B4-BE49-F238E27FC236}">
                <a16:creationId xmlns:a16="http://schemas.microsoft.com/office/drawing/2014/main" id="{38442597-6E90-07F4-6035-497B4E5D09F5}"/>
              </a:ext>
            </a:extLst>
          </p:cNvPr>
          <p:cNvSpPr txBox="1"/>
          <p:nvPr/>
        </p:nvSpPr>
        <p:spPr>
          <a:xfrm>
            <a:off x="639276" y="3713150"/>
            <a:ext cx="207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노드(블록)와 연결선으로 이루어진 작업 흐름입니다. 시작부터 끝까지 AI가 어떤 순서로 일할지 정하는 설계도입니다.</a:t>
            </a:r>
          </a:p>
        </p:txBody>
      </p:sp>
      <p:sp>
        <p:nvSpPr>
          <p:cNvPr id="811" name="Shape 811">
            <a:extLst>
              <a:ext uri="{FF2B5EF4-FFF2-40B4-BE49-F238E27FC236}">
                <a16:creationId xmlns:a16="http://schemas.microsoft.com/office/drawing/2014/main" id="{D7110B2F-A89F-86FD-64C9-A5C8B08FCBC7}"/>
              </a:ext>
            </a:extLst>
          </p:cNvPr>
          <p:cNvSpPr/>
          <p:nvPr/>
        </p:nvSpPr>
        <p:spPr>
          <a:xfrm>
            <a:off x="2979276" y="2363150"/>
            <a:ext cx="2350000" cy="2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12" name="Shape 812">
            <a:extLst>
              <a:ext uri="{FF2B5EF4-FFF2-40B4-BE49-F238E27FC236}">
                <a16:creationId xmlns:a16="http://schemas.microsoft.com/office/drawing/2014/main" id="{1BA916EB-C7DD-5192-7558-B0874F28A0FB}"/>
              </a:ext>
            </a:extLst>
          </p:cNvPr>
          <p:cNvSpPr/>
          <p:nvPr/>
        </p:nvSpPr>
        <p:spPr>
          <a:xfrm>
            <a:off x="3854276" y="2563150"/>
            <a:ext cx="600000" cy="6000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13" name="Text 813">
            <a:extLst>
              <a:ext uri="{FF2B5EF4-FFF2-40B4-BE49-F238E27FC236}">
                <a16:creationId xmlns:a16="http://schemas.microsoft.com/office/drawing/2014/main" id="{E654FBEC-A397-019B-6E59-E7FD9F103BF2}"/>
              </a:ext>
            </a:extLst>
          </p:cNvPr>
          <p:cNvSpPr txBox="1"/>
          <p:nvPr/>
        </p:nvSpPr>
        <p:spPr>
          <a:xfrm>
            <a:off x="3904276" y="2713150"/>
            <a:ext cx="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solidFill>
                  <a:srgbClr val="22C55E"/>
                </a:solidFill>
                <a:latin typeface="+mn-ea"/>
                <a:cs typeface="Noto Sans KR" pitchFamily="34" charset="-120"/>
              </a:rPr>
              <a:t>2</a:t>
            </a:r>
          </a:p>
        </p:txBody>
      </p:sp>
      <p:sp>
        <p:nvSpPr>
          <p:cNvPr id="814" name="Text 814">
            <a:extLst>
              <a:ext uri="{FF2B5EF4-FFF2-40B4-BE49-F238E27FC236}">
                <a16:creationId xmlns:a16="http://schemas.microsoft.com/office/drawing/2014/main" id="{D6073814-F1C9-0BCB-CE8D-DB9BAC9BEAFC}"/>
              </a:ext>
            </a:extLst>
          </p:cNvPr>
          <p:cNvSpPr txBox="1"/>
          <p:nvPr/>
        </p:nvSpPr>
        <p:spPr>
          <a:xfrm>
            <a:off x="3079276" y="3313150"/>
            <a:ext cx="21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노드</a:t>
            </a:r>
          </a:p>
        </p:txBody>
      </p:sp>
      <p:sp>
        <p:nvSpPr>
          <p:cNvPr id="815" name="Text 815">
            <a:extLst>
              <a:ext uri="{FF2B5EF4-FFF2-40B4-BE49-F238E27FC236}">
                <a16:creationId xmlns:a16="http://schemas.microsoft.com/office/drawing/2014/main" id="{C2A167E7-A658-F9B0-0492-74519F12D8A3}"/>
              </a:ext>
            </a:extLst>
          </p:cNvPr>
          <p:cNvSpPr txBox="1"/>
          <p:nvPr/>
        </p:nvSpPr>
        <p:spPr>
          <a:xfrm>
            <a:off x="3119276" y="3713150"/>
            <a:ext cx="207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워크플로우의 각 단계를 담당하는 블록입니다. 프롬프트, 분류, 도구 호출 등 다양한 종류가 있습니다.</a:t>
            </a:r>
          </a:p>
        </p:txBody>
      </p:sp>
      <p:sp>
        <p:nvSpPr>
          <p:cNvPr id="816" name="Shape 816">
            <a:extLst>
              <a:ext uri="{FF2B5EF4-FFF2-40B4-BE49-F238E27FC236}">
                <a16:creationId xmlns:a16="http://schemas.microsoft.com/office/drawing/2014/main" id="{F6E6B4B4-77E0-C97D-77B4-2BF7352AE074}"/>
              </a:ext>
            </a:extLst>
          </p:cNvPr>
          <p:cNvSpPr/>
          <p:nvPr/>
        </p:nvSpPr>
        <p:spPr>
          <a:xfrm>
            <a:off x="5459276" y="2363150"/>
            <a:ext cx="2350000" cy="2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17" name="Shape 817">
            <a:extLst>
              <a:ext uri="{FF2B5EF4-FFF2-40B4-BE49-F238E27FC236}">
                <a16:creationId xmlns:a16="http://schemas.microsoft.com/office/drawing/2014/main" id="{07465F99-6DF5-2114-AB47-E61FB8D81CB5}"/>
              </a:ext>
            </a:extLst>
          </p:cNvPr>
          <p:cNvSpPr/>
          <p:nvPr/>
        </p:nvSpPr>
        <p:spPr>
          <a:xfrm>
            <a:off x="6334276" y="2563150"/>
            <a:ext cx="600000" cy="60000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18" name="Text 818">
            <a:extLst>
              <a:ext uri="{FF2B5EF4-FFF2-40B4-BE49-F238E27FC236}">
                <a16:creationId xmlns:a16="http://schemas.microsoft.com/office/drawing/2014/main" id="{7F41170B-063F-8058-A914-73B690B523CF}"/>
              </a:ext>
            </a:extLst>
          </p:cNvPr>
          <p:cNvSpPr txBox="1"/>
          <p:nvPr/>
        </p:nvSpPr>
        <p:spPr>
          <a:xfrm>
            <a:off x="6384276" y="2713150"/>
            <a:ext cx="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solidFill>
                  <a:srgbClr val="A855F7"/>
                </a:solidFill>
                <a:latin typeface="+mn-ea"/>
                <a:cs typeface="Noto Sans KR" pitchFamily="34" charset="-120"/>
              </a:rPr>
              <a:t>3</a:t>
            </a:r>
          </a:p>
        </p:txBody>
      </p:sp>
      <p:sp>
        <p:nvSpPr>
          <p:cNvPr id="819" name="Text 819">
            <a:extLst>
              <a:ext uri="{FF2B5EF4-FFF2-40B4-BE49-F238E27FC236}">
                <a16:creationId xmlns:a16="http://schemas.microsoft.com/office/drawing/2014/main" id="{10235680-C666-02AF-A42C-48E08DDC3E6C}"/>
              </a:ext>
            </a:extLst>
          </p:cNvPr>
          <p:cNvSpPr txBox="1"/>
          <p:nvPr/>
        </p:nvSpPr>
        <p:spPr>
          <a:xfrm>
            <a:off x="5559276" y="3313150"/>
            <a:ext cx="21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스킬</a:t>
            </a:r>
          </a:p>
        </p:txBody>
      </p:sp>
      <p:sp>
        <p:nvSpPr>
          <p:cNvPr id="820" name="Text 820">
            <a:extLst>
              <a:ext uri="{FF2B5EF4-FFF2-40B4-BE49-F238E27FC236}">
                <a16:creationId xmlns:a16="http://schemas.microsoft.com/office/drawing/2014/main" id="{791EDA1F-BF48-F333-818D-C502EF6F4EF4}"/>
              </a:ext>
            </a:extLst>
          </p:cNvPr>
          <p:cNvSpPr txBox="1"/>
          <p:nvPr/>
        </p:nvSpPr>
        <p:spPr>
          <a:xfrm>
            <a:off x="5599276" y="3713150"/>
            <a:ext cx="207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재사용 가능한 AI 능력 모듈입니다. </a:t>
            </a:r>
            <a:endParaRPr lang="en-US" altLang="ko-KR" sz="900" dirty="0">
              <a:solidFill>
                <a:srgbClr val="64748B"/>
              </a:solidFill>
              <a:latin typeface="+mn-ea"/>
              <a:cs typeface="Noto Sans KR" pitchFamily="34" charset="-120"/>
            </a:endParaRPr>
          </a:p>
          <a:p>
            <a:pPr algn="ctr"/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한 번 만들면 여러 에이전트에서 반복해서 사용할 수 있습니다.</a:t>
            </a:r>
          </a:p>
        </p:txBody>
      </p:sp>
      <p:sp>
        <p:nvSpPr>
          <p:cNvPr id="821" name="Shape 821">
            <a:extLst>
              <a:ext uri="{FF2B5EF4-FFF2-40B4-BE49-F238E27FC236}">
                <a16:creationId xmlns:a16="http://schemas.microsoft.com/office/drawing/2014/main" id="{3E12DD6B-E383-D9E1-8A72-603780679232}"/>
              </a:ext>
            </a:extLst>
          </p:cNvPr>
          <p:cNvSpPr/>
          <p:nvPr/>
        </p:nvSpPr>
        <p:spPr>
          <a:xfrm>
            <a:off x="7939276" y="2363150"/>
            <a:ext cx="2350000" cy="2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22" name="Shape 822">
            <a:extLst>
              <a:ext uri="{FF2B5EF4-FFF2-40B4-BE49-F238E27FC236}">
                <a16:creationId xmlns:a16="http://schemas.microsoft.com/office/drawing/2014/main" id="{0CC72BFD-C1FF-CA21-B699-D613E95511B1}"/>
              </a:ext>
            </a:extLst>
          </p:cNvPr>
          <p:cNvSpPr/>
          <p:nvPr/>
        </p:nvSpPr>
        <p:spPr>
          <a:xfrm>
            <a:off x="8814276" y="2563150"/>
            <a:ext cx="600000" cy="6000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23" name="Text 823">
            <a:extLst>
              <a:ext uri="{FF2B5EF4-FFF2-40B4-BE49-F238E27FC236}">
                <a16:creationId xmlns:a16="http://schemas.microsoft.com/office/drawing/2014/main" id="{E200444B-7125-8D9E-3BAC-12777F48A924}"/>
              </a:ext>
            </a:extLst>
          </p:cNvPr>
          <p:cNvSpPr txBox="1"/>
          <p:nvPr/>
        </p:nvSpPr>
        <p:spPr>
          <a:xfrm>
            <a:off x="8864276" y="2713150"/>
            <a:ext cx="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solidFill>
                  <a:srgbClr val="F59E0B"/>
                </a:solidFill>
                <a:latin typeface="+mn-ea"/>
                <a:cs typeface="Noto Sans KR" pitchFamily="34" charset="-120"/>
              </a:rPr>
              <a:t>4</a:t>
            </a:r>
          </a:p>
        </p:txBody>
      </p:sp>
      <p:sp>
        <p:nvSpPr>
          <p:cNvPr id="824" name="Text 824">
            <a:extLst>
              <a:ext uri="{FF2B5EF4-FFF2-40B4-BE49-F238E27FC236}">
                <a16:creationId xmlns:a16="http://schemas.microsoft.com/office/drawing/2014/main" id="{13C27351-2898-F196-6B03-98B8EE044D18}"/>
              </a:ext>
            </a:extLst>
          </p:cNvPr>
          <p:cNvSpPr txBox="1"/>
          <p:nvPr/>
        </p:nvSpPr>
        <p:spPr>
          <a:xfrm>
            <a:off x="8039276" y="3313150"/>
            <a:ext cx="21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세션</a:t>
            </a:r>
          </a:p>
        </p:txBody>
      </p:sp>
      <p:sp>
        <p:nvSpPr>
          <p:cNvPr id="825" name="Text 825">
            <a:extLst>
              <a:ext uri="{FF2B5EF4-FFF2-40B4-BE49-F238E27FC236}">
                <a16:creationId xmlns:a16="http://schemas.microsoft.com/office/drawing/2014/main" id="{1DA03390-ED85-1B65-0422-800DF13EB3CF}"/>
              </a:ext>
            </a:extLst>
          </p:cNvPr>
          <p:cNvSpPr txBox="1"/>
          <p:nvPr/>
        </p:nvSpPr>
        <p:spPr>
          <a:xfrm>
            <a:off x="8079276" y="3713150"/>
            <a:ext cx="207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에이전트와의 연속 대화 단위입니다. 이전 대화 내용을 기억하며 맥락을 이어갑니다.</a:t>
            </a:r>
          </a:p>
        </p:txBody>
      </p:sp>
      <p:sp>
        <p:nvSpPr>
          <p:cNvPr id="826" name="Text 826">
            <a:extLst>
              <a:ext uri="{FF2B5EF4-FFF2-40B4-BE49-F238E27FC236}">
                <a16:creationId xmlns:a16="http://schemas.microsoft.com/office/drawing/2014/main" id="{82D5DD62-8BCA-EFFD-EFAA-933A59265AA5}"/>
              </a:ext>
            </a:extLst>
          </p:cNvPr>
          <p:cNvSpPr txBox="1"/>
          <p:nvPr/>
        </p:nvSpPr>
        <p:spPr>
          <a:xfrm>
            <a:off x="499276" y="5163150"/>
            <a:ext cx="90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MCP 도구 vs 에이전트 비교</a:t>
            </a:r>
          </a:p>
        </p:txBody>
      </p:sp>
      <p:sp>
        <p:nvSpPr>
          <p:cNvPr id="827" name="Shape 827">
            <a:extLst>
              <a:ext uri="{FF2B5EF4-FFF2-40B4-BE49-F238E27FC236}">
                <a16:creationId xmlns:a16="http://schemas.microsoft.com/office/drawing/2014/main" id="{3C5993EB-C539-3C7C-EC2C-07CB55AF518B}"/>
              </a:ext>
            </a:extLst>
          </p:cNvPr>
          <p:cNvSpPr/>
          <p:nvPr/>
        </p:nvSpPr>
        <p:spPr>
          <a:xfrm>
            <a:off x="484176" y="5563151"/>
            <a:ext cx="9600000" cy="450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28" name="Text 828">
            <a:extLst>
              <a:ext uri="{FF2B5EF4-FFF2-40B4-BE49-F238E27FC236}">
                <a16:creationId xmlns:a16="http://schemas.microsoft.com/office/drawing/2014/main" id="{AE0B79F0-A1D7-45FB-AE14-5EA6BF6AD70D}"/>
              </a:ext>
            </a:extLst>
          </p:cNvPr>
          <p:cNvSpPr txBox="1"/>
          <p:nvPr/>
        </p:nvSpPr>
        <p:spPr>
          <a:xfrm>
            <a:off x="719276" y="5650300"/>
            <a:ext cx="28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구분</a:t>
            </a:r>
          </a:p>
        </p:txBody>
      </p:sp>
      <p:sp>
        <p:nvSpPr>
          <p:cNvPr id="829" name="Text 829">
            <a:extLst>
              <a:ext uri="{FF2B5EF4-FFF2-40B4-BE49-F238E27FC236}">
                <a16:creationId xmlns:a16="http://schemas.microsoft.com/office/drawing/2014/main" id="{1F679F2D-1F1D-7DFB-10F9-CD045340ED9A}"/>
              </a:ext>
            </a:extLst>
          </p:cNvPr>
          <p:cNvSpPr txBox="1"/>
          <p:nvPr/>
        </p:nvSpPr>
        <p:spPr>
          <a:xfrm>
            <a:off x="3719276" y="5650300"/>
            <a:ext cx="28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MCP 도구 (Step 5)</a:t>
            </a:r>
          </a:p>
        </p:txBody>
      </p:sp>
      <p:sp>
        <p:nvSpPr>
          <p:cNvPr id="830" name="Text 830">
            <a:extLst>
              <a:ext uri="{FF2B5EF4-FFF2-40B4-BE49-F238E27FC236}">
                <a16:creationId xmlns:a16="http://schemas.microsoft.com/office/drawing/2014/main" id="{1F9D4A7E-95DA-CD7B-3548-5B961D4799B9}"/>
              </a:ext>
            </a:extLst>
          </p:cNvPr>
          <p:cNvSpPr txBox="1"/>
          <p:nvPr/>
        </p:nvSpPr>
        <p:spPr>
          <a:xfrm>
            <a:off x="6919276" y="5650300"/>
            <a:ext cx="3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에이전트 빌더 (Step 6)</a:t>
            </a:r>
          </a:p>
        </p:txBody>
      </p:sp>
      <p:sp>
        <p:nvSpPr>
          <p:cNvPr id="831" name="Shape 831">
            <a:extLst>
              <a:ext uri="{FF2B5EF4-FFF2-40B4-BE49-F238E27FC236}">
                <a16:creationId xmlns:a16="http://schemas.microsoft.com/office/drawing/2014/main" id="{943B74AC-596C-2015-670D-254E2CC4DD1D}"/>
              </a:ext>
            </a:extLst>
          </p:cNvPr>
          <p:cNvSpPr/>
          <p:nvPr/>
        </p:nvSpPr>
        <p:spPr>
          <a:xfrm>
            <a:off x="499276" y="6013150"/>
            <a:ext cx="9600000" cy="1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32" name="Text 832">
            <a:extLst>
              <a:ext uri="{FF2B5EF4-FFF2-40B4-BE49-F238E27FC236}">
                <a16:creationId xmlns:a16="http://schemas.microsoft.com/office/drawing/2014/main" id="{8B8E4AE7-1CEA-42D0-FCD5-C98FACEFF8A4}"/>
              </a:ext>
            </a:extLst>
          </p:cNvPr>
          <p:cNvSpPr txBox="1"/>
          <p:nvPr/>
        </p:nvSpPr>
        <p:spPr>
          <a:xfrm>
            <a:off x="719276" y="6063150"/>
            <a:ext cx="28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5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역할</a:t>
            </a:r>
          </a:p>
        </p:txBody>
      </p:sp>
      <p:sp>
        <p:nvSpPr>
          <p:cNvPr id="833" name="Text 833">
            <a:extLst>
              <a:ext uri="{FF2B5EF4-FFF2-40B4-BE49-F238E27FC236}">
                <a16:creationId xmlns:a16="http://schemas.microsoft.com/office/drawing/2014/main" id="{C94CC3F0-BD13-246E-CAED-A4B0BE94A3AD}"/>
              </a:ext>
            </a:extLst>
          </p:cNvPr>
          <p:cNvSpPr txBox="1"/>
          <p:nvPr/>
        </p:nvSpPr>
        <p:spPr>
          <a:xfrm>
            <a:off x="3719276" y="6063150"/>
            <a:ext cx="28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AI에게 쥐여주는 도구</a:t>
            </a:r>
          </a:p>
        </p:txBody>
      </p:sp>
      <p:sp>
        <p:nvSpPr>
          <p:cNvPr id="834" name="Text 834">
            <a:extLst>
              <a:ext uri="{FF2B5EF4-FFF2-40B4-BE49-F238E27FC236}">
                <a16:creationId xmlns:a16="http://schemas.microsoft.com/office/drawing/2014/main" id="{F59A75E5-5F5B-3B70-8E8A-6F0F29B5A0C6}"/>
              </a:ext>
            </a:extLst>
          </p:cNvPr>
          <p:cNvSpPr txBox="1"/>
          <p:nvPr/>
        </p:nvSpPr>
        <p:spPr>
          <a:xfrm>
            <a:off x="6919276" y="6063150"/>
            <a:ext cx="3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AI의 행동 흐름을 설계</a:t>
            </a:r>
          </a:p>
        </p:txBody>
      </p:sp>
      <p:sp>
        <p:nvSpPr>
          <p:cNvPr id="835" name="Shape 835">
            <a:extLst>
              <a:ext uri="{FF2B5EF4-FFF2-40B4-BE49-F238E27FC236}">
                <a16:creationId xmlns:a16="http://schemas.microsoft.com/office/drawing/2014/main" id="{91C820BC-F0A2-EFBE-4BB1-589DF5F985A6}"/>
              </a:ext>
            </a:extLst>
          </p:cNvPr>
          <p:cNvSpPr/>
          <p:nvPr/>
        </p:nvSpPr>
        <p:spPr>
          <a:xfrm>
            <a:off x="499276" y="6413150"/>
            <a:ext cx="9600000" cy="1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36" name="Text 836">
            <a:extLst>
              <a:ext uri="{FF2B5EF4-FFF2-40B4-BE49-F238E27FC236}">
                <a16:creationId xmlns:a16="http://schemas.microsoft.com/office/drawing/2014/main" id="{03E03793-D2B4-37E6-1D9C-A57A6F1EB5D5}"/>
              </a:ext>
            </a:extLst>
          </p:cNvPr>
          <p:cNvSpPr txBox="1"/>
          <p:nvPr/>
        </p:nvSpPr>
        <p:spPr>
          <a:xfrm>
            <a:off x="719276" y="6463150"/>
            <a:ext cx="28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5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비유</a:t>
            </a:r>
          </a:p>
        </p:txBody>
      </p:sp>
      <p:sp>
        <p:nvSpPr>
          <p:cNvPr id="837" name="Text 837">
            <a:extLst>
              <a:ext uri="{FF2B5EF4-FFF2-40B4-BE49-F238E27FC236}">
                <a16:creationId xmlns:a16="http://schemas.microsoft.com/office/drawing/2014/main" id="{6A8582F4-5B0F-D20F-F441-FFAD5BB36E71}"/>
              </a:ext>
            </a:extLst>
          </p:cNvPr>
          <p:cNvSpPr txBox="1"/>
          <p:nvPr/>
        </p:nvSpPr>
        <p:spPr>
          <a:xfrm>
            <a:off x="3719276" y="6463150"/>
            <a:ext cx="28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연필, 계산기, 사전 같은 도구</a:t>
            </a:r>
          </a:p>
        </p:txBody>
      </p:sp>
      <p:sp>
        <p:nvSpPr>
          <p:cNvPr id="838" name="Text 838">
            <a:extLst>
              <a:ext uri="{FF2B5EF4-FFF2-40B4-BE49-F238E27FC236}">
                <a16:creationId xmlns:a16="http://schemas.microsoft.com/office/drawing/2014/main" id="{F3FDE4C4-9AE3-2E0C-DA83-D5BCB042388B}"/>
              </a:ext>
            </a:extLst>
          </p:cNvPr>
          <p:cNvSpPr txBox="1"/>
          <p:nvPr/>
        </p:nvSpPr>
        <p:spPr>
          <a:xfrm>
            <a:off x="6919276" y="6463150"/>
            <a:ext cx="3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업무 매뉴얼, 순서도 같은 절차</a:t>
            </a:r>
          </a:p>
        </p:txBody>
      </p:sp>
      <p:sp>
        <p:nvSpPr>
          <p:cNvPr id="839" name="Shape 839">
            <a:extLst>
              <a:ext uri="{FF2B5EF4-FFF2-40B4-BE49-F238E27FC236}">
                <a16:creationId xmlns:a16="http://schemas.microsoft.com/office/drawing/2014/main" id="{12188FFE-3B07-F7AB-5353-56C697E40B4A}"/>
              </a:ext>
            </a:extLst>
          </p:cNvPr>
          <p:cNvSpPr/>
          <p:nvPr/>
        </p:nvSpPr>
        <p:spPr>
          <a:xfrm>
            <a:off x="499276" y="6813150"/>
            <a:ext cx="9600000" cy="1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sp>
        <p:nvSpPr>
          <p:cNvPr id="840" name="Text 840">
            <a:extLst>
              <a:ext uri="{FF2B5EF4-FFF2-40B4-BE49-F238E27FC236}">
                <a16:creationId xmlns:a16="http://schemas.microsoft.com/office/drawing/2014/main" id="{406E1A3B-3A27-979D-8CE4-D62A019A55C0}"/>
              </a:ext>
            </a:extLst>
          </p:cNvPr>
          <p:cNvSpPr txBox="1"/>
          <p:nvPr/>
        </p:nvSpPr>
        <p:spPr>
          <a:xfrm>
            <a:off x="719276" y="6863150"/>
            <a:ext cx="28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5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관계</a:t>
            </a:r>
          </a:p>
        </p:txBody>
      </p:sp>
      <p:sp>
        <p:nvSpPr>
          <p:cNvPr id="841" name="Text 841">
            <a:extLst>
              <a:ext uri="{FF2B5EF4-FFF2-40B4-BE49-F238E27FC236}">
                <a16:creationId xmlns:a16="http://schemas.microsoft.com/office/drawing/2014/main" id="{65BD05CC-AEDC-0609-B00E-CAB2B0F96926}"/>
              </a:ext>
            </a:extLst>
          </p:cNvPr>
          <p:cNvSpPr txBox="1"/>
          <p:nvPr/>
        </p:nvSpPr>
        <p:spPr>
          <a:xfrm>
            <a:off x="3719276" y="6863150"/>
            <a:ext cx="28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에이전트 안에서 MCP 노드로 사용</a:t>
            </a:r>
          </a:p>
        </p:txBody>
      </p:sp>
      <p:sp>
        <p:nvSpPr>
          <p:cNvPr id="842" name="Text 842">
            <a:extLst>
              <a:ext uri="{FF2B5EF4-FFF2-40B4-BE49-F238E27FC236}">
                <a16:creationId xmlns:a16="http://schemas.microsoft.com/office/drawing/2014/main" id="{F79C6EA8-69F5-6C6A-DA90-2935893F4A02}"/>
              </a:ext>
            </a:extLst>
          </p:cNvPr>
          <p:cNvSpPr txBox="1"/>
          <p:nvPr/>
        </p:nvSpPr>
        <p:spPr>
          <a:xfrm>
            <a:off x="6919276" y="6863150"/>
            <a:ext cx="3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MCP 도구를 워크플로우의 한 단계로 활용</a:t>
            </a:r>
          </a:p>
        </p:txBody>
      </p:sp>
      <p:sp>
        <p:nvSpPr>
          <p:cNvPr id="2" name="Text 41">
            <a:extLst>
              <a:ext uri="{FF2B5EF4-FFF2-40B4-BE49-F238E27FC236}">
                <a16:creationId xmlns:a16="http://schemas.microsoft.com/office/drawing/2014/main" id="{9BAA7CD7-21E1-F035-A475-ECA9F40F994A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400" dirty="0" smtClean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&gt; </a:t>
            </a:r>
            <a:r>
              <a:rPr lang="ko-KR" altLang="en-US" sz="1400" dirty="0" smtClean="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에이전트 </a:t>
            </a:r>
            <a:r>
              <a:rPr lang="ko-KR" altLang="en-US" sz="1400" dirty="0" err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빌더</a:t>
            </a:r>
            <a:endParaRPr lang="en-US" altLang="ko-KR" sz="1400" dirty="0">
              <a:latin typeface="+mj-ea"/>
              <a:ea typeface="+mj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276C60F5-904F-2CB3-3D4C-9072099DCD90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159EF-60E7-5FD4-74B7-39028693A6AD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j-ea"/>
                <a:ea typeface="+mj-ea"/>
              </a:rPr>
              <a:t>GrowFit</a:t>
            </a:r>
            <a:endParaRPr lang="ko-KR" altLang="en-US" sz="1517" dirty="0">
              <a:latin typeface="+mj-ea"/>
              <a:ea typeface="+mj-ea"/>
            </a:endParaRPr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EA8F0CF7-74A8-8510-832C-905CE62621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20" b="-420"/>
          <a:stretch/>
        </p:blipFill>
        <p:spPr>
          <a:xfrm>
            <a:off x="571500" y="1809598"/>
            <a:ext cx="761695" cy="38405"/>
          </a:xfrm>
          <a:prstGeom prst="rect">
            <a:avLst/>
          </a:prstGeom>
        </p:spPr>
      </p:pic>
      <p:sp>
        <p:nvSpPr>
          <p:cNvPr id="45" name="Shape 58">
            <a:extLst>
              <a:ext uri="{FF2B5EF4-FFF2-40B4-BE49-F238E27FC236}">
                <a16:creationId xmlns:a16="http://schemas.microsoft.com/office/drawing/2014/main" id="{9BDB5409-666A-A91A-836C-D29BAF9FD682}"/>
              </a:ext>
            </a:extLst>
          </p:cNvPr>
          <p:cNvSpPr/>
          <p:nvPr/>
        </p:nvSpPr>
        <p:spPr>
          <a:xfrm>
            <a:off x="288148" y="7279206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46" name="Text 59">
            <a:extLst>
              <a:ext uri="{FF2B5EF4-FFF2-40B4-BE49-F238E27FC236}">
                <a16:creationId xmlns:a16="http://schemas.microsoft.com/office/drawing/2014/main" id="{57218126-1D78-26B6-A74B-F6E6EF4DA2DB}"/>
              </a:ext>
            </a:extLst>
          </p:cNvPr>
          <p:cNvSpPr txBox="1"/>
          <p:nvPr/>
        </p:nvSpPr>
        <p:spPr>
          <a:xfrm>
            <a:off x="10240617" y="7365123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37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4447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21233" b="-21233"/>
          <a:stretch/>
        </p:blipFill>
        <p:spPr>
          <a:xfrm>
            <a:off x="409144" y="1157292"/>
            <a:ext cx="117127" cy="166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06097" y="1277457"/>
            <a:ext cx="10195708" cy="300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스킬 만들기 — AI 도움받기로 생성 &amp; 개선</a:t>
            </a:r>
            <a:endParaRPr lang="en-US" sz="2000" dirty="0">
              <a:latin typeface="+mn-ea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659847" y="2001250"/>
            <a:ext cx="10195708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"AI 도움받기" 기능으로 스킬을 자연어 설명만으로 자동 생성하고, 예시 추가와 개선하기로 품질을 높입니다.</a:t>
            </a:r>
            <a:endParaRPr lang="en-US" sz="1100" dirty="0">
              <a:latin typeface="+mn-ea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893701" y="2458450"/>
            <a:ext cx="4075530" cy="23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4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스킬 생성 4단계</a:t>
            </a:r>
            <a:endParaRPr lang="en-US" sz="1140" dirty="0">
              <a:latin typeface="+mn-ea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6294" y="2500167"/>
            <a:ext cx="126372" cy="15082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76296" y="2792988"/>
            <a:ext cx="4117206" cy="518249"/>
          </a:xfrm>
          <a:prstGeom prst="roundRect">
            <a:avLst>
              <a:gd name="adj" fmla="val 3994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784594" y="2901289"/>
            <a:ext cx="168050" cy="20056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750900" y="2901289"/>
            <a:ext cx="224514" cy="20056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78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1</a:t>
            </a:r>
            <a:endParaRPr lang="en-US" sz="878" dirty="0">
              <a:latin typeface="+mn-ea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085439" y="2901291"/>
            <a:ext cx="2093893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AI 도움받기 선택</a:t>
            </a:r>
            <a:endParaRPr lang="en-US" sz="878" dirty="0">
              <a:latin typeface="+mn-ea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085439" y="3068158"/>
            <a:ext cx="247973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 빌더 &gt; 스킬 노드 클릭 &gt; "AI 도움받기" 탭 선택</a:t>
            </a:r>
            <a:endParaRPr lang="en-US" sz="790" dirty="0">
              <a:latin typeface="+mn-ea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76296" y="3410715"/>
            <a:ext cx="4117206" cy="518249"/>
          </a:xfrm>
          <a:prstGeom prst="roundRect">
            <a:avLst>
              <a:gd name="adj" fmla="val 3994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784594" y="3519818"/>
            <a:ext cx="168050" cy="20056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750900" y="3519818"/>
            <a:ext cx="224514" cy="20056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78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2</a:t>
            </a:r>
            <a:endParaRPr lang="en-US" sz="878" dirty="0">
              <a:latin typeface="+mn-ea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1085440" y="3519820"/>
            <a:ext cx="2528132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자연어 설명 입력</a:t>
            </a:r>
            <a:endParaRPr lang="en-US" sz="878" dirty="0">
              <a:latin typeface="+mn-ea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1085436" y="3686688"/>
            <a:ext cx="2943551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원하는 스킬 기능을 설명 (예: "긴 문서를 핵심만 요약해주는 도우미")</a:t>
            </a:r>
            <a:endParaRPr lang="en-US" sz="790" dirty="0">
              <a:latin typeface="+mn-ea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76296" y="4029244"/>
            <a:ext cx="4117206" cy="518249"/>
          </a:xfrm>
          <a:prstGeom prst="roundRect">
            <a:avLst>
              <a:gd name="adj" fmla="val 3994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784594" y="4138348"/>
            <a:ext cx="168050" cy="20056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750900" y="4138348"/>
            <a:ext cx="224514" cy="20056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78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3</a:t>
            </a:r>
            <a:endParaRPr lang="en-US" sz="878" dirty="0">
              <a:latin typeface="+mn-ea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1085440" y="4138350"/>
            <a:ext cx="1875430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스킬 자동 생성</a:t>
            </a:r>
            <a:endParaRPr lang="en-US" sz="878" dirty="0">
              <a:latin typeface="+mn-ea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1085438" y="4305218"/>
            <a:ext cx="206700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"스킬 생성" 클릭 시 AI가 skill.md 파일 자동 작성</a:t>
            </a:r>
            <a:endParaRPr lang="en-US" sz="790" dirty="0">
              <a:latin typeface="+mn-ea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76296" y="4647774"/>
            <a:ext cx="4117206" cy="518249"/>
          </a:xfrm>
          <a:prstGeom prst="roundRect">
            <a:avLst>
              <a:gd name="adj" fmla="val 3994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784594" y="4756877"/>
            <a:ext cx="168050" cy="20056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750900" y="4756877"/>
            <a:ext cx="224514" cy="20056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78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4</a:t>
            </a:r>
            <a:endParaRPr lang="en-US" sz="878" dirty="0">
              <a:latin typeface="+mn-ea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1085439" y="4756879"/>
            <a:ext cx="1807538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품질 향상 및 저장</a:t>
            </a:r>
            <a:endParaRPr lang="en-US" sz="878" dirty="0">
              <a:latin typeface="+mn-ea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1085440" y="4923747"/>
            <a:ext cx="211069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"예시 추가" / "개선하기"로 품질을 높인 후 저장</a:t>
            </a:r>
            <a:endParaRPr lang="en-US" sz="790" dirty="0">
              <a:latin typeface="+mn-ea"/>
            </a:endParaRPr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5188122" y="2493713"/>
            <a:ext cx="4803198" cy="3004401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9079973" y="2501738"/>
            <a:ext cx="906530" cy="208583"/>
          </a:xfrm>
          <a:prstGeom prst="roundRect">
            <a:avLst>
              <a:gd name="adj" fmla="val 24615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6"/>
          <p:cNvSpPr txBox="1"/>
          <p:nvPr/>
        </p:nvSpPr>
        <p:spPr>
          <a:xfrm>
            <a:off x="9081109" y="2501735"/>
            <a:ext cx="955935" cy="20938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6854" tIns="33427" rIns="66854" bIns="33427" rtlCol="0" anchor="ctr"/>
          <a:lstStyle/>
          <a:p>
            <a:r>
              <a:rPr lang="en-US" sz="702" b="1" dirty="0">
                <a:solidFill>
                  <a:srgbClr val="FFFFFF"/>
                </a:solidFill>
                <a:latin typeface="+mn-ea"/>
                <a:cs typeface="ui-sans-serif" pitchFamily="34" charset="-120"/>
              </a:rPr>
              <a:t>Generated skill.md</a:t>
            </a:r>
            <a:endParaRPr lang="en-US" sz="702" dirty="0">
              <a:latin typeface="+mn-ea"/>
            </a:endParaRPr>
          </a:p>
        </p:txBody>
      </p:sp>
      <p:sp>
        <p:nvSpPr>
          <p:cNvPr id="48" name="Shape 37"/>
          <p:cNvSpPr/>
          <p:nvPr/>
        </p:nvSpPr>
        <p:spPr>
          <a:xfrm>
            <a:off x="5323727" y="3847899"/>
            <a:ext cx="4525593" cy="802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8"/>
          <p:cNvSpPr txBox="1"/>
          <p:nvPr/>
        </p:nvSpPr>
        <p:spPr>
          <a:xfrm>
            <a:off x="5325243" y="2635710"/>
            <a:ext cx="4591465" cy="11456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94A3B8"/>
                </a:solidFill>
                <a:latin typeface="+mn-ea"/>
                <a:cs typeface="ui-monospace" pitchFamily="34" charset="-120"/>
              </a:rPr>
              <a:t>---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93C5FD"/>
                </a:solidFill>
                <a:latin typeface="+mn-ea"/>
                <a:cs typeface="ui-monospace" pitchFamily="34" charset="-120"/>
              </a:rPr>
              <a:t>name:</a:t>
            </a:r>
            <a:r>
              <a:rPr lang="en-US" sz="790" dirty="0">
                <a:solidFill>
                  <a:srgbClr val="86EFAC"/>
                </a:solidFill>
                <a:latin typeface="+mn-ea"/>
                <a:cs typeface="ui-monospace" pitchFamily="34" charset="-120"/>
              </a:rPr>
              <a:t>핵심문서요약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93C5FD"/>
                </a:solidFill>
                <a:latin typeface="+mn-ea"/>
                <a:cs typeface="ui-monospace" pitchFamily="34" charset="-120"/>
              </a:rPr>
              <a:t>description:</a:t>
            </a:r>
            <a:r>
              <a:rPr lang="en-US" sz="790" dirty="0">
                <a:solidFill>
                  <a:srgbClr val="94A3B8"/>
                </a:solidFill>
                <a:latin typeface="+mn-ea"/>
                <a:cs typeface="ui-monospace" pitchFamily="34" charset="-120"/>
              </a:rPr>
              <a:t> 긴 문서의 핵심 내용을 요약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93C5FD"/>
                </a:solidFill>
                <a:latin typeface="+mn-ea"/>
                <a:cs typeface="ui-monospace" pitchFamily="34" charset="-120"/>
              </a:rPr>
              <a:t>trigger:</a:t>
            </a:r>
            <a:r>
              <a:rPr lang="en-US" sz="790" dirty="0">
                <a:solidFill>
                  <a:srgbClr val="94A3B8"/>
                </a:solidFill>
                <a:latin typeface="+mn-ea"/>
                <a:cs typeface="ui-monospace" pitchFamily="34" charset="-120"/>
              </a:rPr>
              <a:t> "요약", "핵심", "문서요약"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93C5FD"/>
                </a:solidFill>
                <a:latin typeface="+mn-ea"/>
                <a:cs typeface="ui-monospace" pitchFamily="34" charset="-120"/>
              </a:rPr>
              <a:t>model:</a:t>
            </a:r>
            <a:r>
              <a:rPr lang="en-US" sz="790" dirty="0">
                <a:solidFill>
                  <a:srgbClr val="94A3B8"/>
                </a:solidFill>
                <a:latin typeface="+mn-ea"/>
                <a:cs typeface="ui-monospace" pitchFamily="34" charset="-120"/>
              </a:rPr>
              <a:t> gpt-4.1-mini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93C5FD"/>
                </a:solidFill>
                <a:latin typeface="+mn-ea"/>
                <a:cs typeface="ui-monospace" pitchFamily="34" charset="-120"/>
              </a:rPr>
              <a:t>temperature:</a:t>
            </a:r>
            <a:r>
              <a:rPr lang="en-US" sz="790" dirty="0">
                <a:solidFill>
                  <a:srgbClr val="94A3B8"/>
                </a:solidFill>
                <a:latin typeface="+mn-ea"/>
                <a:cs typeface="ui-monospace" pitchFamily="34" charset="-120"/>
              </a:rPr>
              <a:t> 0.2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94A3B8"/>
                </a:solidFill>
                <a:latin typeface="+mn-ea"/>
                <a:cs typeface="ui-monospace" pitchFamily="34" charset="-120"/>
              </a:rPr>
              <a:t> ---</a:t>
            </a:r>
            <a:endParaRPr lang="en-US" sz="790" dirty="0">
              <a:latin typeface="+mn-ea"/>
            </a:endParaRPr>
          </a:p>
        </p:txBody>
      </p:sp>
      <p:sp>
        <p:nvSpPr>
          <p:cNvPr id="50" name="Text 39"/>
          <p:cNvSpPr txBox="1"/>
          <p:nvPr/>
        </p:nvSpPr>
        <p:spPr>
          <a:xfrm>
            <a:off x="5327502" y="3918499"/>
            <a:ext cx="4689490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dirty="0">
                <a:solidFill>
                  <a:srgbClr val="D8B4FE"/>
                </a:solidFill>
                <a:latin typeface="+mn-ea"/>
                <a:cs typeface="ui-monospace" pitchFamily="34" charset="-120"/>
              </a:rPr>
              <a:t># 핵심문서요약</a:t>
            </a:r>
            <a:endParaRPr lang="en-US" sz="790" dirty="0">
              <a:latin typeface="+mn-ea"/>
            </a:endParaRPr>
          </a:p>
        </p:txBody>
      </p:sp>
      <p:sp>
        <p:nvSpPr>
          <p:cNvPr id="51" name="Text 40"/>
          <p:cNvSpPr txBox="1"/>
          <p:nvPr/>
        </p:nvSpPr>
        <p:spPr>
          <a:xfrm>
            <a:off x="5325986" y="4147940"/>
            <a:ext cx="4623617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dirty="0">
                <a:solidFill>
                  <a:srgbClr val="FDE047"/>
                </a:solidFill>
                <a:latin typeface="+mn-ea"/>
                <a:cs typeface="ui-monospace" pitchFamily="34" charset="-120"/>
              </a:rPr>
              <a:t>## 역할</a:t>
            </a:r>
            <a:endParaRPr lang="en-US" sz="790" dirty="0">
              <a:latin typeface="+mn-ea"/>
            </a:endParaRPr>
          </a:p>
        </p:txBody>
      </p:sp>
      <p:sp>
        <p:nvSpPr>
          <p:cNvPr id="52" name="Text 41"/>
          <p:cNvSpPr txBox="1"/>
          <p:nvPr/>
        </p:nvSpPr>
        <p:spPr>
          <a:xfrm>
            <a:off x="5325243" y="4311600"/>
            <a:ext cx="4591465" cy="326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CBD5E1"/>
                </a:solidFill>
                <a:latin typeface="+mn-ea"/>
                <a:cs typeface="ui-monospace" pitchFamily="34" charset="-120"/>
              </a:rPr>
              <a:t>긴 문서의 주요 내용을 빠르고 정확하게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CBD5E1"/>
                </a:solidFill>
                <a:latin typeface="+mn-ea"/>
                <a:cs typeface="ui-monospace" pitchFamily="34" charset="-120"/>
              </a:rPr>
              <a:t>파악할 수 있도록 핵심만 요약합니다.</a:t>
            </a:r>
            <a:endParaRPr lang="en-US" sz="790" dirty="0">
              <a:latin typeface="+mn-ea"/>
            </a:endParaRPr>
          </a:p>
        </p:txBody>
      </p:sp>
      <p:sp>
        <p:nvSpPr>
          <p:cNvPr id="53" name="Text 42"/>
          <p:cNvSpPr txBox="1"/>
          <p:nvPr/>
        </p:nvSpPr>
        <p:spPr>
          <a:xfrm>
            <a:off x="5327502" y="4703894"/>
            <a:ext cx="4689490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dirty="0">
                <a:solidFill>
                  <a:srgbClr val="FDE047"/>
                </a:solidFill>
                <a:latin typeface="+mn-ea"/>
                <a:cs typeface="ui-monospace" pitchFamily="34" charset="-120"/>
              </a:rPr>
              <a:t>## 지시사항</a:t>
            </a:r>
            <a:endParaRPr lang="en-US" sz="790" dirty="0">
              <a:latin typeface="+mn-ea"/>
            </a:endParaRPr>
          </a:p>
        </p:txBody>
      </p:sp>
      <p:sp>
        <p:nvSpPr>
          <p:cNvPr id="54" name="Text 43"/>
          <p:cNvSpPr txBox="1"/>
          <p:nvPr/>
        </p:nvSpPr>
        <p:spPr>
          <a:xfrm>
            <a:off x="5325243" y="4866747"/>
            <a:ext cx="4591465" cy="49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CBD5E1"/>
                </a:solidFill>
                <a:latin typeface="+mn-ea"/>
                <a:cs typeface="ui-monospace" pitchFamily="34" charset="-120"/>
              </a:rPr>
              <a:t>- 주요 주제와 핵심 아이디어 파악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CBD5E1"/>
                </a:solidFill>
                <a:latin typeface="+mn-ea"/>
                <a:cs typeface="ui-monospace" pitchFamily="34" charset="-120"/>
              </a:rPr>
              <a:t>- 불필요한 세부사항 제외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CBD5E1"/>
                </a:solidFill>
                <a:latin typeface="+mn-ea"/>
                <a:cs typeface="ui-monospace" pitchFamily="34" charset="-120"/>
              </a:rPr>
              <a:t>- 명확하고 간결한 문장으로 정리</a:t>
            </a:r>
            <a:endParaRPr lang="en-US" sz="790" dirty="0">
              <a:latin typeface="+mn-ea"/>
            </a:endParaRPr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6"/>
          <a:srcRect t="-9" b="-9"/>
          <a:stretch/>
        </p:blipFill>
        <p:spPr>
          <a:xfrm>
            <a:off x="5128120" y="5782108"/>
            <a:ext cx="2406729" cy="718809"/>
          </a:xfrm>
          <a:prstGeom prst="rect">
            <a:avLst/>
          </a:prstGeom>
        </p:spPr>
      </p:pic>
      <p:sp>
        <p:nvSpPr>
          <p:cNvPr id="57" name="Shape 44"/>
          <p:cNvSpPr/>
          <p:nvPr/>
        </p:nvSpPr>
        <p:spPr>
          <a:xfrm>
            <a:off x="5236423" y="5891210"/>
            <a:ext cx="200562" cy="200562"/>
          </a:xfrm>
          <a:prstGeom prst="roundRect">
            <a:avLst>
              <a:gd name="adj" fmla="val 13333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7"/>
          <a:srcRect t="-13533" b="-13533"/>
          <a:stretch/>
        </p:blipFill>
        <p:spPr>
          <a:xfrm>
            <a:off x="5290977" y="5924106"/>
            <a:ext cx="92258" cy="133975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5503568" y="5908060"/>
            <a:ext cx="574406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예시 추가</a:t>
            </a:r>
            <a:endParaRPr lang="en-US" sz="878" dirty="0">
              <a:latin typeface="+mn-ea"/>
            </a:endParaRPr>
          </a:p>
        </p:txBody>
      </p:sp>
      <p:sp>
        <p:nvSpPr>
          <p:cNvPr id="60" name="Text 46"/>
          <p:cNvSpPr txBox="1"/>
          <p:nvPr/>
        </p:nvSpPr>
        <p:spPr>
          <a:xfrm>
            <a:off x="5236423" y="6124663"/>
            <a:ext cx="2256710" cy="26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입력-출력 예시로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AI 응답 정확도 향상</a:t>
            </a:r>
            <a:endParaRPr lang="en-US" sz="790" dirty="0">
              <a:latin typeface="+mn-ea"/>
            </a:endParaRPr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6"/>
          <a:srcRect t="-9" b="-9"/>
          <a:stretch/>
        </p:blipFill>
        <p:spPr>
          <a:xfrm>
            <a:off x="7635129" y="5782108"/>
            <a:ext cx="2406729" cy="718809"/>
          </a:xfrm>
          <a:prstGeom prst="rect">
            <a:avLst/>
          </a:prstGeom>
        </p:spPr>
      </p:pic>
      <p:sp>
        <p:nvSpPr>
          <p:cNvPr id="62" name="Shape 47"/>
          <p:cNvSpPr/>
          <p:nvPr/>
        </p:nvSpPr>
        <p:spPr>
          <a:xfrm>
            <a:off x="7743431" y="5891210"/>
            <a:ext cx="200562" cy="200562"/>
          </a:xfrm>
          <a:prstGeom prst="roundRect">
            <a:avLst>
              <a:gd name="adj" fmla="val 133333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8"/>
          <a:srcRect t="-14341" b="-14341"/>
          <a:stretch/>
        </p:blipFill>
        <p:spPr>
          <a:xfrm>
            <a:off x="7785149" y="5924106"/>
            <a:ext cx="117127" cy="133975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8010578" y="5908060"/>
            <a:ext cx="501402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개선하기</a:t>
            </a:r>
            <a:endParaRPr lang="en-US" sz="878" dirty="0">
              <a:latin typeface="+mn-ea"/>
            </a:endParaRPr>
          </a:p>
        </p:txBody>
      </p:sp>
      <p:sp>
        <p:nvSpPr>
          <p:cNvPr id="65" name="Text 49"/>
          <p:cNvSpPr txBox="1"/>
          <p:nvPr/>
        </p:nvSpPr>
        <p:spPr>
          <a:xfrm>
            <a:off x="7743433" y="6124663"/>
            <a:ext cx="2256710" cy="26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AI가 자동 분석 후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스킬 품질 개선</a:t>
            </a:r>
            <a:endParaRPr lang="en-US" sz="790" dirty="0">
              <a:latin typeface="+mn-ea"/>
            </a:endParaRPr>
          </a:p>
        </p:txBody>
      </p:sp>
      <p:sp>
        <p:nvSpPr>
          <p:cNvPr id="67" name="Text 41">
            <a:extLst>
              <a:ext uri="{FF2B5EF4-FFF2-40B4-BE49-F238E27FC236}">
                <a16:creationId xmlns:a16="http://schemas.microsoft.com/office/drawing/2014/main" id="{E9893F88-551D-9480-E816-5BE6C8E3D510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400" dirty="0" smtClean="0">
                <a:solidFill>
                  <a:srgbClr val="64748B"/>
                </a:solidFill>
                <a:latin typeface="+mn-ea"/>
                <a:cs typeface="Noto Sans KR" pitchFamily="34" charset="-120"/>
              </a:rPr>
              <a:t>&gt; </a:t>
            </a:r>
            <a:r>
              <a:rPr lang="ko-KR" altLang="en-US" sz="1400" dirty="0" smtClean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 </a:t>
            </a:r>
            <a:r>
              <a:rPr lang="ko-KR" altLang="en-US" sz="14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빌더</a:t>
            </a:r>
            <a:endParaRPr lang="en-US" altLang="ko-KR" sz="1400" dirty="0">
              <a:latin typeface="+mn-ea"/>
            </a:endParaRPr>
          </a:p>
        </p:txBody>
      </p:sp>
      <p:sp>
        <p:nvSpPr>
          <p:cNvPr id="68" name="Shape 0">
            <a:extLst>
              <a:ext uri="{FF2B5EF4-FFF2-40B4-BE49-F238E27FC236}">
                <a16:creationId xmlns:a16="http://schemas.microsoft.com/office/drawing/2014/main" id="{280D5005-6638-6968-4435-FC81F11A48FB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F7003A-07ED-2737-60D1-BAF07A75C9ED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pic>
        <p:nvPicPr>
          <p:cNvPr id="70" name="Image 2" descr="preencoded.png">
            <a:extLst>
              <a:ext uri="{FF2B5EF4-FFF2-40B4-BE49-F238E27FC236}">
                <a16:creationId xmlns:a16="http://schemas.microsoft.com/office/drawing/2014/main" id="{BA5BBE97-43C4-956E-E0DC-9458FE9F641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97" b="-97"/>
          <a:stretch/>
        </p:blipFill>
        <p:spPr>
          <a:xfrm>
            <a:off x="576196" y="1737292"/>
            <a:ext cx="571500" cy="48463"/>
          </a:xfrm>
          <a:prstGeom prst="rect">
            <a:avLst/>
          </a:prstGeom>
        </p:spPr>
      </p:pic>
      <p:sp>
        <p:nvSpPr>
          <p:cNvPr id="71" name="Shape 16"/>
          <p:cNvSpPr/>
          <p:nvPr/>
        </p:nvSpPr>
        <p:spPr>
          <a:xfrm>
            <a:off x="680422" y="5503039"/>
            <a:ext cx="4133655" cy="944246"/>
          </a:xfrm>
          <a:prstGeom prst="roundRect">
            <a:avLst>
              <a:gd name="adj" fmla="val 12955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/>
        </p:spPr>
        <p:txBody>
          <a:bodyPr/>
          <a:lstStyle/>
          <a:p>
            <a:endParaRPr lang="ko-KR" altLang="en-US" sz="1720" dirty="0">
              <a:latin typeface="+mn-ea"/>
            </a:endParaRPr>
          </a:p>
        </p:txBody>
      </p:sp>
      <p:pic>
        <p:nvPicPr>
          <p:cNvPr id="72" name="Image 2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788722" y="5628187"/>
            <a:ext cx="100278" cy="133971"/>
          </a:xfrm>
          <a:prstGeom prst="rect">
            <a:avLst/>
          </a:prstGeom>
        </p:spPr>
      </p:pic>
      <p:sp>
        <p:nvSpPr>
          <p:cNvPr id="73" name="Text 17"/>
          <p:cNvSpPr txBox="1"/>
          <p:nvPr/>
        </p:nvSpPr>
        <p:spPr>
          <a:xfrm>
            <a:off x="955585" y="5611340"/>
            <a:ext cx="2950575" cy="13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b="1" dirty="0">
                <a:solidFill>
                  <a:srgbClr val="D97706"/>
                </a:solidFill>
                <a:latin typeface="+mn-ea"/>
                <a:cs typeface="Noto Sans KR" pitchFamily="34" charset="-120"/>
              </a:rPr>
              <a:t>활용 </a:t>
            </a:r>
            <a:r>
              <a:rPr lang="en-US" altLang="ko-KR" sz="1000" b="1" dirty="0">
                <a:solidFill>
                  <a:srgbClr val="D97706"/>
                </a:solidFill>
                <a:latin typeface="+mn-ea"/>
                <a:cs typeface="Noto Sans KR" pitchFamily="34" charset="-120"/>
              </a:rPr>
              <a:t>Tip</a:t>
            </a:r>
            <a:endParaRPr lang="en-US" sz="1000" dirty="0">
              <a:latin typeface="+mn-ea"/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939952" y="5852108"/>
            <a:ext cx="2307251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79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ㆍ</a:t>
            </a:r>
            <a:r>
              <a:rPr lang="en-US" sz="79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입력</a:t>
            </a:r>
            <a:r>
              <a:rPr lang="en-US" sz="79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내용 구체적 설명</a:t>
            </a:r>
            <a:endParaRPr lang="en-US" sz="790" dirty="0">
              <a:latin typeface="+mn-ea"/>
            </a:endParaRPr>
          </a:p>
        </p:txBody>
      </p:sp>
      <p:sp>
        <p:nvSpPr>
          <p:cNvPr id="39" name="Text 32"/>
          <p:cNvSpPr txBox="1"/>
          <p:nvPr/>
        </p:nvSpPr>
        <p:spPr>
          <a:xfrm>
            <a:off x="2981446" y="5870068"/>
            <a:ext cx="2307251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79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ㆍ</a:t>
            </a:r>
            <a:r>
              <a:rPr lang="en-US" sz="79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원하는</a:t>
            </a:r>
            <a:r>
              <a:rPr lang="en-US" sz="79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출력 형식 명시</a:t>
            </a:r>
            <a:endParaRPr lang="en-US" sz="790" dirty="0">
              <a:latin typeface="+mn-ea"/>
            </a:endParaRPr>
          </a:p>
        </p:txBody>
      </p:sp>
      <p:sp>
        <p:nvSpPr>
          <p:cNvPr id="41" name="Text 33"/>
          <p:cNvSpPr txBox="1"/>
          <p:nvPr/>
        </p:nvSpPr>
        <p:spPr>
          <a:xfrm>
            <a:off x="939952" y="6052668"/>
            <a:ext cx="2307251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79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ㆍ</a:t>
            </a:r>
            <a:r>
              <a:rPr lang="en-US" sz="79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특별</a:t>
            </a:r>
            <a:r>
              <a:rPr lang="en-US" sz="79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규칙/제약 포함</a:t>
            </a:r>
            <a:endParaRPr lang="en-US" sz="790" dirty="0">
              <a:latin typeface="+mn-ea"/>
            </a:endParaRPr>
          </a:p>
        </p:txBody>
      </p:sp>
      <p:sp>
        <p:nvSpPr>
          <p:cNvPr id="43" name="Text 34"/>
          <p:cNvSpPr txBox="1"/>
          <p:nvPr/>
        </p:nvSpPr>
        <p:spPr>
          <a:xfrm>
            <a:off x="2981446" y="6070629"/>
            <a:ext cx="2307251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79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ㆍ</a:t>
            </a:r>
            <a:r>
              <a:rPr lang="en-US" sz="790" dirty="0" err="1">
                <a:solidFill>
                  <a:srgbClr val="334155"/>
                </a:solidFill>
                <a:latin typeface="+mn-ea"/>
                <a:cs typeface="Noto Sans KR" pitchFamily="34" charset="-120"/>
              </a:rPr>
              <a:t>구체적</a:t>
            </a:r>
            <a:r>
              <a:rPr lang="en-US" sz="790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 예시 제공</a:t>
            </a:r>
            <a:endParaRPr lang="en-US" sz="790" dirty="0">
              <a:latin typeface="+mn-ea"/>
            </a:endParaRPr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9BDB5409-666A-A91A-836C-D29BAF9FD682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74" name="Text 59">
            <a:extLst>
              <a:ext uri="{FF2B5EF4-FFF2-40B4-BE49-F238E27FC236}">
                <a16:creationId xmlns:a16="http://schemas.microsoft.com/office/drawing/2014/main" id="{57218126-1D78-26B6-A74B-F6E6EF4DA2DB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38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037803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21233" b="-21233"/>
          <a:stretch/>
        </p:blipFill>
        <p:spPr>
          <a:xfrm>
            <a:off x="409144" y="1157292"/>
            <a:ext cx="117127" cy="166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07700" y="1298445"/>
            <a:ext cx="10195708" cy="300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스킬 저장 &amp; 내 스킬 라이브러리 — 한 번 만들면 계속 활용!</a:t>
            </a:r>
            <a:endParaRPr lang="en-US" sz="2000" dirty="0">
              <a:latin typeface="+mn-ea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660246" y="1997216"/>
            <a:ext cx="10195708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"내 스킬에 저장"하면 라이브러리에 보관되어, 새 에이전트를 만들 때마다 선택만 하면 바로 사용할 수 있습니다.</a:t>
            </a:r>
            <a:endParaRPr lang="en-US" sz="1100" dirty="0">
              <a:latin typeface="+mn-ea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812895" y="2693620"/>
            <a:ext cx="4114407" cy="23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4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스킬 저장 3단계</a:t>
            </a:r>
            <a:endParaRPr lang="en-US" sz="1140" dirty="0">
              <a:latin typeface="+mn-ea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653522" y="2735337"/>
            <a:ext cx="125385" cy="15082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2019" y="3028155"/>
            <a:ext cx="4145190" cy="785396"/>
          </a:xfrm>
          <a:prstGeom prst="roundRect">
            <a:avLst>
              <a:gd name="adj" fmla="val 26080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1228016" y="3170156"/>
            <a:ext cx="353553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STEP 1</a:t>
            </a:r>
            <a:endParaRPr lang="en-US" sz="790" dirty="0">
              <a:latin typeface="+mn-ea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1246693" y="3344243"/>
            <a:ext cx="3597855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3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"내 스킬에 저장" 클릭</a:t>
            </a:r>
            <a:endParaRPr lang="en-US" sz="1053" dirty="0">
              <a:latin typeface="+mn-ea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228016" y="3537583"/>
            <a:ext cx="353553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skill.md 확인 후 저장 버튼</a:t>
            </a:r>
            <a:endParaRPr lang="en-US" sz="790" dirty="0">
              <a:latin typeface="+mn-ea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l="-481" r="-481"/>
          <a:stretch/>
        </p:blipFill>
        <p:spPr>
          <a:xfrm>
            <a:off x="934804" y="3788686"/>
            <a:ext cx="45719" cy="16686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2019" y="3913832"/>
            <a:ext cx="4145190" cy="785396"/>
          </a:xfrm>
          <a:prstGeom prst="roundRect">
            <a:avLst>
              <a:gd name="adj" fmla="val 26080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1228016" y="4055832"/>
            <a:ext cx="353553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STEP 2</a:t>
            </a:r>
            <a:endParaRPr lang="en-US" sz="790" dirty="0">
              <a:latin typeface="+mn-ea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1246693" y="4230722"/>
            <a:ext cx="3597855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3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이름 &amp; 설명 입력</a:t>
            </a:r>
            <a:endParaRPr lang="en-US" sz="1053" dirty="0">
              <a:latin typeface="+mn-ea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1246693" y="4431286"/>
            <a:ext cx="359785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알아보기 쉬운 이름 지정</a:t>
            </a:r>
            <a:endParaRPr lang="en-US" sz="790" dirty="0">
              <a:latin typeface="+mn-ea"/>
            </a:endParaRPr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l="-481" r="-481"/>
          <a:stretch/>
        </p:blipFill>
        <p:spPr>
          <a:xfrm>
            <a:off x="934804" y="4674362"/>
            <a:ext cx="45719" cy="16686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2019" y="4799508"/>
            <a:ext cx="4145190" cy="785396"/>
          </a:xfrm>
          <a:prstGeom prst="roundRect">
            <a:avLst>
              <a:gd name="adj" fmla="val 2608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/>
          <p:cNvSpPr txBox="1"/>
          <p:nvPr/>
        </p:nvSpPr>
        <p:spPr>
          <a:xfrm>
            <a:off x="1228016" y="4941509"/>
            <a:ext cx="353553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dirty="0">
                <a:solidFill>
                  <a:srgbClr val="60A5FA"/>
                </a:solidFill>
                <a:latin typeface="+mn-ea"/>
                <a:cs typeface="Noto Sans KR" pitchFamily="34" charset="-120"/>
              </a:rPr>
              <a:t>STEP 3</a:t>
            </a:r>
            <a:endParaRPr lang="en-US" sz="790" dirty="0">
              <a:latin typeface="+mn-ea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1246693" y="5116398"/>
            <a:ext cx="3597855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3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"저장하기" 완료!</a:t>
            </a:r>
            <a:endParaRPr lang="en-US" sz="1053" dirty="0">
              <a:latin typeface="+mn-ea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1246693" y="5316963"/>
            <a:ext cx="359785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내 스킬 라이브러리에 보관</a:t>
            </a:r>
            <a:endParaRPr lang="en-US" sz="790" dirty="0">
              <a:latin typeface="+mn-ea"/>
            </a:endParaRPr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6"/>
          <a:srcRect t="-7" b="-7"/>
          <a:stretch/>
        </p:blipFill>
        <p:spPr>
          <a:xfrm>
            <a:off x="4957062" y="2602932"/>
            <a:ext cx="5404712" cy="4214183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5166445" y="3146853"/>
            <a:ext cx="4989150" cy="802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5"/>
          <p:cNvSpPr txBox="1"/>
          <p:nvPr/>
        </p:nvSpPr>
        <p:spPr>
          <a:xfrm>
            <a:off x="5400700" y="2812317"/>
            <a:ext cx="4822283" cy="23505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114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내 스킬 라이브러리 활용법 </a:t>
            </a:r>
            <a:endParaRPr lang="en-US" sz="1140" dirty="0">
              <a:latin typeface="+mn-ea"/>
            </a:endParaRPr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5166449" y="2854033"/>
            <a:ext cx="166866" cy="150821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5166448" y="3288048"/>
            <a:ext cx="2431599" cy="894501"/>
          </a:xfrm>
          <a:prstGeom prst="roundRect">
            <a:avLst>
              <a:gd name="adj" fmla="val 13411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299618" y="3422021"/>
            <a:ext cx="267147" cy="267147"/>
          </a:xfrm>
          <a:prstGeom prst="rect">
            <a:avLst/>
          </a:prstGeom>
        </p:spPr>
      </p:pic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9"/>
          <a:srcRect t="-16800" b="-16800"/>
          <a:stretch/>
        </p:blipFill>
        <p:spPr>
          <a:xfrm>
            <a:off x="5383054" y="3488610"/>
            <a:ext cx="100280" cy="133975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634153" y="3472564"/>
            <a:ext cx="729239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검색 &amp; 정렬</a:t>
            </a:r>
            <a:endParaRPr lang="en-US" sz="878" dirty="0">
              <a:latin typeface="+mn-ea"/>
            </a:endParaRPr>
          </a:p>
        </p:txBody>
      </p:sp>
      <p:sp>
        <p:nvSpPr>
          <p:cNvPr id="41" name="Text 28"/>
          <p:cNvSpPr txBox="1"/>
          <p:nvPr/>
        </p:nvSpPr>
        <p:spPr>
          <a:xfrm>
            <a:off x="5299622" y="3756558"/>
            <a:ext cx="2231841" cy="275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스킬 이름으로 검색,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최신순/이름순 정렬로 빠르게 찾기</a:t>
            </a:r>
            <a:endParaRPr lang="en-US" sz="790" dirty="0">
              <a:latin typeface="+mn-ea"/>
            </a:endParaRPr>
          </a:p>
        </p:txBody>
      </p:sp>
      <p:sp>
        <p:nvSpPr>
          <p:cNvPr id="42" name="Shape 29"/>
          <p:cNvSpPr/>
          <p:nvPr/>
        </p:nvSpPr>
        <p:spPr>
          <a:xfrm>
            <a:off x="7726405" y="3288048"/>
            <a:ext cx="2431599" cy="894501"/>
          </a:xfrm>
          <a:prstGeom prst="roundRect">
            <a:avLst>
              <a:gd name="adj" fmla="val 134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68401" y="3430845"/>
            <a:ext cx="267147" cy="267147"/>
          </a:xfrm>
          <a:prstGeom prst="rect">
            <a:avLst/>
          </a:prstGeom>
        </p:spPr>
      </p:pic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0"/>
          <a:srcRect t="-13533" b="-13533"/>
          <a:stretch/>
        </p:blipFill>
        <p:spPr>
          <a:xfrm>
            <a:off x="7956649" y="3497435"/>
            <a:ext cx="92258" cy="133975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8202935" y="3480587"/>
            <a:ext cx="574406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바로 적용</a:t>
            </a:r>
            <a:endParaRPr lang="en-US" sz="878" dirty="0">
              <a:latin typeface="+mn-ea"/>
            </a:endParaRPr>
          </a:p>
        </p:txBody>
      </p:sp>
      <p:sp>
        <p:nvSpPr>
          <p:cNvPr id="46" name="Text 31"/>
          <p:cNvSpPr txBox="1"/>
          <p:nvPr/>
        </p:nvSpPr>
        <p:spPr>
          <a:xfrm>
            <a:off x="7868403" y="3764582"/>
            <a:ext cx="2214993" cy="275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체크박스 선택 → "N개 스킬 적용"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클릭 → 에이전트에 즉시 연결</a:t>
            </a:r>
            <a:endParaRPr lang="en-US" sz="790" dirty="0">
              <a:latin typeface="+mn-ea"/>
            </a:endParaRPr>
          </a:p>
        </p:txBody>
      </p:sp>
      <p:sp>
        <p:nvSpPr>
          <p:cNvPr id="47" name="Shape 32"/>
          <p:cNvSpPr/>
          <p:nvPr/>
        </p:nvSpPr>
        <p:spPr>
          <a:xfrm>
            <a:off x="5166448" y="4316522"/>
            <a:ext cx="2431599" cy="877654"/>
          </a:xfrm>
          <a:prstGeom prst="roundRect">
            <a:avLst>
              <a:gd name="adj" fmla="val 1392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299618" y="4449695"/>
            <a:ext cx="267147" cy="267147"/>
          </a:xfrm>
          <a:prstGeom prst="rect">
            <a:avLst/>
          </a:prstGeom>
        </p:spPr>
      </p:pic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1"/>
          <a:srcRect t="-16800" b="-16800"/>
          <a:stretch/>
        </p:blipFill>
        <p:spPr>
          <a:xfrm>
            <a:off x="5383054" y="4517086"/>
            <a:ext cx="100280" cy="133975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5634153" y="4500237"/>
            <a:ext cx="729239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수정 &amp; 관리</a:t>
            </a:r>
            <a:endParaRPr lang="en-US" sz="878" dirty="0">
              <a:latin typeface="+mn-ea"/>
            </a:endParaRPr>
          </a:p>
        </p:txBody>
      </p:sp>
      <p:sp>
        <p:nvSpPr>
          <p:cNvPr id="51" name="Text 34"/>
          <p:cNvSpPr txBox="1"/>
          <p:nvPr/>
        </p:nvSpPr>
        <p:spPr>
          <a:xfrm>
            <a:off x="5299622" y="4784232"/>
            <a:ext cx="2231841" cy="275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저장된 스킬의 skill.md를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언제든 편집하여 업데이트</a:t>
            </a:r>
            <a:endParaRPr lang="en-US" sz="790" dirty="0">
              <a:latin typeface="+mn-ea"/>
            </a:endParaRPr>
          </a:p>
        </p:txBody>
      </p:sp>
      <p:sp>
        <p:nvSpPr>
          <p:cNvPr id="52" name="Shape 35"/>
          <p:cNvSpPr/>
          <p:nvPr/>
        </p:nvSpPr>
        <p:spPr>
          <a:xfrm>
            <a:off x="7726405" y="4316522"/>
            <a:ext cx="2431599" cy="877654"/>
          </a:xfrm>
          <a:prstGeom prst="roundRect">
            <a:avLst>
              <a:gd name="adj" fmla="val 1392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60378" y="4449695"/>
            <a:ext cx="267147" cy="267147"/>
          </a:xfrm>
          <a:prstGeom prst="rect">
            <a:avLst/>
          </a:prstGeom>
        </p:spPr>
      </p:pic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2"/>
          <a:srcRect t="-8450" b="-8450"/>
          <a:stretch/>
        </p:blipFill>
        <p:spPr>
          <a:xfrm>
            <a:off x="7943814" y="4517086"/>
            <a:ext cx="100280" cy="133975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8194913" y="4500237"/>
            <a:ext cx="574406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복제 활용</a:t>
            </a:r>
            <a:endParaRPr lang="en-US" sz="878" dirty="0">
              <a:latin typeface="+mn-ea"/>
            </a:endParaRPr>
          </a:p>
        </p:txBody>
      </p:sp>
      <p:sp>
        <p:nvSpPr>
          <p:cNvPr id="56" name="Text 37"/>
          <p:cNvSpPr txBox="1"/>
          <p:nvPr/>
        </p:nvSpPr>
        <p:spPr>
          <a:xfrm>
            <a:off x="7860381" y="4784232"/>
            <a:ext cx="2231841" cy="275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기존 스킬 복제 → 약간만 수정</a:t>
            </a:r>
            <a:endParaRPr lang="en-US" sz="790" dirty="0">
              <a:latin typeface="+mn-ea"/>
            </a:endParaRPr>
          </a:p>
          <a:p>
            <a:r>
              <a:rPr lang="en-US" sz="79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→ 새 스킬 빠르게 생성</a:t>
            </a:r>
            <a:endParaRPr lang="en-US" sz="790" dirty="0">
              <a:latin typeface="+mn-ea"/>
            </a:endParaRPr>
          </a:p>
        </p:txBody>
      </p:sp>
      <p:sp>
        <p:nvSpPr>
          <p:cNvPr id="57" name="Shape 38"/>
          <p:cNvSpPr/>
          <p:nvPr/>
        </p:nvSpPr>
        <p:spPr>
          <a:xfrm>
            <a:off x="5166445" y="5592891"/>
            <a:ext cx="4989150" cy="802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39"/>
          <p:cNvSpPr txBox="1"/>
          <p:nvPr/>
        </p:nvSpPr>
        <p:spPr>
          <a:xfrm>
            <a:off x="5166446" y="5734891"/>
            <a:ext cx="5156818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kern="0" spc="4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에이전트에서 스킬 사용 흐름</a:t>
            </a:r>
            <a:endParaRPr lang="en-US" sz="790" dirty="0">
              <a:latin typeface="+mn-ea"/>
            </a:endParaRPr>
          </a:p>
        </p:txBody>
      </p:sp>
      <p:sp>
        <p:nvSpPr>
          <p:cNvPr id="59" name="Shape 40"/>
          <p:cNvSpPr/>
          <p:nvPr/>
        </p:nvSpPr>
        <p:spPr>
          <a:xfrm>
            <a:off x="5166445" y="5969144"/>
            <a:ext cx="4989150" cy="643399"/>
          </a:xfrm>
          <a:prstGeom prst="roundRect">
            <a:avLst>
              <a:gd name="adj" fmla="val 2590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731227" y="6069424"/>
            <a:ext cx="267147" cy="267147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5705554" y="6069422"/>
            <a:ext cx="317688" cy="26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1</a:t>
            </a:r>
            <a:endParaRPr lang="en-US" sz="790" dirty="0">
              <a:latin typeface="+mn-ea"/>
            </a:endParaRPr>
          </a:p>
        </p:txBody>
      </p:sp>
      <p:sp>
        <p:nvSpPr>
          <p:cNvPr id="62" name="Text 42"/>
          <p:cNvSpPr txBox="1"/>
          <p:nvPr/>
        </p:nvSpPr>
        <p:spPr>
          <a:xfrm>
            <a:off x="5512212" y="6370268"/>
            <a:ext cx="705974" cy="1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2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스킬 노드 추가</a:t>
            </a:r>
            <a:endParaRPr lang="en-US" sz="702" dirty="0">
              <a:latin typeface="+mn-ea"/>
            </a:endParaRPr>
          </a:p>
        </p:txBody>
      </p:sp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927371" y="6069424"/>
            <a:ext cx="267147" cy="267147"/>
          </a:xfrm>
          <a:prstGeom prst="rect">
            <a:avLst/>
          </a:prstGeom>
        </p:spPr>
      </p:pic>
      <p:sp>
        <p:nvSpPr>
          <p:cNvPr id="64" name="Text 43"/>
          <p:cNvSpPr/>
          <p:nvPr/>
        </p:nvSpPr>
        <p:spPr>
          <a:xfrm>
            <a:off x="6902500" y="6069422"/>
            <a:ext cx="317688" cy="26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2</a:t>
            </a:r>
            <a:endParaRPr lang="en-US" sz="790" dirty="0">
              <a:latin typeface="+mn-ea"/>
            </a:endParaRPr>
          </a:p>
        </p:txBody>
      </p:sp>
      <p:sp>
        <p:nvSpPr>
          <p:cNvPr id="65" name="Text 44"/>
          <p:cNvSpPr txBox="1"/>
          <p:nvPr/>
        </p:nvSpPr>
        <p:spPr>
          <a:xfrm>
            <a:off x="6758098" y="6370268"/>
            <a:ext cx="608100" cy="1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2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내 스킬 선택</a:t>
            </a:r>
            <a:endParaRPr lang="en-US" sz="702" dirty="0">
              <a:latin typeface="+mn-ea"/>
            </a:endParaRPr>
          </a:p>
        </p:txBody>
      </p:sp>
      <p:pic>
        <p:nvPicPr>
          <p:cNvPr id="66" name="Image 1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124317" y="6069424"/>
            <a:ext cx="267147" cy="267147"/>
          </a:xfrm>
          <a:prstGeom prst="rect">
            <a:avLst/>
          </a:prstGeom>
        </p:spPr>
      </p:pic>
      <p:sp>
        <p:nvSpPr>
          <p:cNvPr id="67" name="Text 45"/>
          <p:cNvSpPr/>
          <p:nvPr/>
        </p:nvSpPr>
        <p:spPr>
          <a:xfrm>
            <a:off x="8099446" y="6069422"/>
            <a:ext cx="317688" cy="26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3</a:t>
            </a:r>
            <a:endParaRPr lang="en-US" sz="790" dirty="0">
              <a:latin typeface="+mn-ea"/>
            </a:endParaRPr>
          </a:p>
        </p:txBody>
      </p:sp>
      <p:sp>
        <p:nvSpPr>
          <p:cNvPr id="68" name="Text 46"/>
          <p:cNvSpPr txBox="1"/>
          <p:nvPr/>
        </p:nvSpPr>
        <p:spPr>
          <a:xfrm>
            <a:off x="8034468" y="6370268"/>
            <a:ext cx="451663" cy="1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2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노드 연결</a:t>
            </a:r>
            <a:endParaRPr lang="en-US" sz="702" dirty="0">
              <a:latin typeface="+mn-ea"/>
            </a:endParaRPr>
          </a:p>
        </p:txBody>
      </p:sp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321264" y="6069424"/>
            <a:ext cx="267147" cy="267147"/>
          </a:xfrm>
          <a:prstGeom prst="rect">
            <a:avLst/>
          </a:prstGeom>
        </p:spPr>
      </p:pic>
      <p:sp>
        <p:nvSpPr>
          <p:cNvPr id="70" name="Text 47"/>
          <p:cNvSpPr/>
          <p:nvPr/>
        </p:nvSpPr>
        <p:spPr>
          <a:xfrm>
            <a:off x="9296393" y="6069422"/>
            <a:ext cx="317688" cy="26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0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4</a:t>
            </a:r>
            <a:endParaRPr lang="en-US" sz="790" dirty="0">
              <a:latin typeface="+mn-ea"/>
            </a:endParaRPr>
          </a:p>
        </p:txBody>
      </p:sp>
      <p:sp>
        <p:nvSpPr>
          <p:cNvPr id="71" name="Text 48"/>
          <p:cNvSpPr txBox="1"/>
          <p:nvPr/>
        </p:nvSpPr>
        <p:spPr>
          <a:xfrm>
            <a:off x="9231415" y="6370268"/>
            <a:ext cx="451663" cy="1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2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실행 확인</a:t>
            </a:r>
            <a:endParaRPr lang="en-US" sz="702" dirty="0">
              <a:latin typeface="+mn-ea"/>
            </a:endParaRPr>
          </a:p>
        </p:txBody>
      </p:sp>
      <p:pic>
        <p:nvPicPr>
          <p:cNvPr id="73" name="Image 2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93577" y="3253586"/>
            <a:ext cx="313086" cy="334536"/>
          </a:xfrm>
          <a:prstGeom prst="rect">
            <a:avLst/>
          </a:prstGeom>
        </p:spPr>
      </p:pic>
      <p:sp>
        <p:nvSpPr>
          <p:cNvPr id="74" name="Text 50"/>
          <p:cNvSpPr/>
          <p:nvPr/>
        </p:nvSpPr>
        <p:spPr>
          <a:xfrm>
            <a:off x="768219" y="3253586"/>
            <a:ext cx="360387" cy="33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4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1</a:t>
            </a:r>
            <a:endParaRPr lang="en-US" sz="1140" dirty="0">
              <a:latin typeface="+mn-ea"/>
            </a:endParaRPr>
          </a:p>
        </p:txBody>
      </p:sp>
      <p:pic>
        <p:nvPicPr>
          <p:cNvPr id="75" name="Image 2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93577" y="4139263"/>
            <a:ext cx="313086" cy="334536"/>
          </a:xfrm>
          <a:prstGeom prst="rect">
            <a:avLst/>
          </a:prstGeom>
        </p:spPr>
      </p:pic>
      <p:sp>
        <p:nvSpPr>
          <p:cNvPr id="76" name="Text 51"/>
          <p:cNvSpPr/>
          <p:nvPr/>
        </p:nvSpPr>
        <p:spPr>
          <a:xfrm>
            <a:off x="768219" y="4139263"/>
            <a:ext cx="360387" cy="33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4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2</a:t>
            </a:r>
            <a:endParaRPr lang="en-US" sz="1140" dirty="0">
              <a:latin typeface="+mn-ea"/>
            </a:endParaRPr>
          </a:p>
        </p:txBody>
      </p:sp>
      <p:pic>
        <p:nvPicPr>
          <p:cNvPr id="77" name="Image 2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93577" y="5025742"/>
            <a:ext cx="313086" cy="334536"/>
          </a:xfrm>
          <a:prstGeom prst="rect">
            <a:avLst/>
          </a:prstGeom>
        </p:spPr>
      </p:pic>
      <p:pic>
        <p:nvPicPr>
          <p:cNvPr id="78" name="Image 24" descr="preencoded.png"/>
          <p:cNvPicPr>
            <a:picLocks noChangeAspect="1"/>
          </p:cNvPicPr>
          <p:nvPr/>
        </p:nvPicPr>
        <p:blipFill>
          <a:blip r:embed="rId17"/>
          <a:srcRect l="-760" r="-760"/>
          <a:stretch/>
        </p:blipFill>
        <p:spPr>
          <a:xfrm>
            <a:off x="895799" y="5117197"/>
            <a:ext cx="125385" cy="150821"/>
          </a:xfrm>
          <a:prstGeom prst="rect">
            <a:avLst/>
          </a:prstGeom>
        </p:spPr>
      </p:pic>
      <p:sp>
        <p:nvSpPr>
          <p:cNvPr id="79" name="Text 41">
            <a:extLst>
              <a:ext uri="{FF2B5EF4-FFF2-40B4-BE49-F238E27FC236}">
                <a16:creationId xmlns:a16="http://schemas.microsoft.com/office/drawing/2014/main" id="{E9893F88-551D-9480-E816-5BE6C8E3D510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400" dirty="0" smtClean="0">
                <a:solidFill>
                  <a:srgbClr val="64748B"/>
                </a:solidFill>
                <a:latin typeface="+mn-ea"/>
                <a:cs typeface="Noto Sans KR" pitchFamily="34" charset="-120"/>
              </a:rPr>
              <a:t>&gt; </a:t>
            </a:r>
            <a:r>
              <a:rPr lang="ko-KR" altLang="en-US" sz="1400" dirty="0" smtClean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 </a:t>
            </a:r>
            <a:r>
              <a:rPr lang="ko-KR" altLang="en-US" sz="14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빌더</a:t>
            </a:r>
            <a:endParaRPr lang="en-US" altLang="ko-KR" sz="1400" dirty="0">
              <a:latin typeface="+mn-ea"/>
            </a:endParaRPr>
          </a:p>
        </p:txBody>
      </p:sp>
      <p:sp>
        <p:nvSpPr>
          <p:cNvPr id="80" name="Shape 0">
            <a:extLst>
              <a:ext uri="{FF2B5EF4-FFF2-40B4-BE49-F238E27FC236}">
                <a16:creationId xmlns:a16="http://schemas.microsoft.com/office/drawing/2014/main" id="{280D5005-6638-6968-4435-FC81F11A48FB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8F7003A-07ED-2737-60D1-BAF07A75C9ED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pic>
        <p:nvPicPr>
          <p:cNvPr id="82" name="Image 2" descr="preencoded.png">
            <a:extLst>
              <a:ext uri="{FF2B5EF4-FFF2-40B4-BE49-F238E27FC236}">
                <a16:creationId xmlns:a16="http://schemas.microsoft.com/office/drawing/2014/main" id="{BA5BBE97-43C4-956E-E0DC-9458FE9F6413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-97" b="-97"/>
          <a:stretch/>
        </p:blipFill>
        <p:spPr>
          <a:xfrm>
            <a:off x="576196" y="1737292"/>
            <a:ext cx="571500" cy="48463"/>
          </a:xfrm>
          <a:prstGeom prst="rect">
            <a:avLst/>
          </a:prstGeom>
        </p:spPr>
      </p:pic>
      <p:sp>
        <p:nvSpPr>
          <p:cNvPr id="83" name="Shape 29">
            <a:extLst>
              <a:ext uri="{FF2B5EF4-FFF2-40B4-BE49-F238E27FC236}">
                <a16:creationId xmlns:a16="http://schemas.microsoft.com/office/drawing/2014/main" id="{5FA52A1B-15A8-2540-6758-1737A54F127A}"/>
              </a:ext>
            </a:extLst>
          </p:cNvPr>
          <p:cNvSpPr/>
          <p:nvPr/>
        </p:nvSpPr>
        <p:spPr>
          <a:xfrm>
            <a:off x="526271" y="5818944"/>
            <a:ext cx="4208160" cy="996751"/>
          </a:xfrm>
          <a:prstGeom prst="roundRect">
            <a:avLst>
              <a:gd name="adj" fmla="val 1553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pic>
        <p:nvPicPr>
          <p:cNvPr id="84" name="Image 18" descr="preencoded.png">
            <a:extLst>
              <a:ext uri="{FF2B5EF4-FFF2-40B4-BE49-F238E27FC236}">
                <a16:creationId xmlns:a16="http://schemas.microsoft.com/office/drawing/2014/main" id="{B0D72A7C-FDEC-1EA2-DC92-131A87DB2864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76821" y="5937768"/>
            <a:ext cx="135731" cy="18097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76596" y="5958901"/>
            <a:ext cx="4044910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latin typeface="+mn-ea"/>
                <a:cs typeface="Noto Sans KR" pitchFamily="34" charset="-120"/>
              </a:rPr>
              <a:t> 핵심 포인트</a:t>
            </a:r>
            <a:endParaRPr lang="en-US" sz="878" dirty="0">
              <a:latin typeface="+mn-ea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742276" y="6182726"/>
            <a:ext cx="4145190" cy="57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878" dirty="0">
                <a:latin typeface="+mn-ea"/>
                <a:cs typeface="Noto Sans KR" pitchFamily="34" charset="-120"/>
              </a:rPr>
              <a:t>스킬을 한 번 만들어 라이브러리에 저장하면, 새 에이전트를 만들 때 </a:t>
            </a:r>
            <a:r>
              <a:rPr lang="en-US" sz="878" dirty="0" err="1">
                <a:latin typeface="+mn-ea"/>
                <a:cs typeface="Noto Sans KR" pitchFamily="34" charset="-120"/>
              </a:rPr>
              <a:t>처음부터</a:t>
            </a:r>
            <a:r>
              <a:rPr lang="en-US" sz="878" dirty="0">
                <a:latin typeface="+mn-ea"/>
                <a:cs typeface="Noto Sans KR" pitchFamily="34" charset="-120"/>
              </a:rPr>
              <a:t> </a:t>
            </a:r>
          </a:p>
          <a:p>
            <a:pPr algn="just"/>
            <a:r>
              <a:rPr lang="en-US" sz="878" dirty="0" err="1">
                <a:latin typeface="+mn-ea"/>
                <a:cs typeface="Noto Sans KR" pitchFamily="34" charset="-120"/>
              </a:rPr>
              <a:t>다시</a:t>
            </a:r>
            <a:r>
              <a:rPr lang="en-US" sz="878" dirty="0">
                <a:latin typeface="+mn-ea"/>
                <a:cs typeface="Noto Sans KR" pitchFamily="34" charset="-120"/>
              </a:rPr>
              <a:t> 정의할 필요 없이 라이브러리에서 선택만 하면 됩니다. </a:t>
            </a:r>
          </a:p>
          <a:p>
            <a:pPr algn="just"/>
            <a:r>
              <a:rPr lang="en-US" sz="878" dirty="0" err="1">
                <a:latin typeface="+mn-ea"/>
                <a:cs typeface="Noto Sans KR" pitchFamily="34" charset="-120"/>
              </a:rPr>
              <a:t>자주</a:t>
            </a:r>
            <a:r>
              <a:rPr lang="en-US" sz="878" dirty="0">
                <a:latin typeface="+mn-ea"/>
                <a:cs typeface="Noto Sans KR" pitchFamily="34" charset="-120"/>
              </a:rPr>
              <a:t> 쓰는 역할(요약, 교정, 번역 등)은 미리 만들어두세요!</a:t>
            </a:r>
            <a:endParaRPr lang="en-US" sz="878" dirty="0">
              <a:latin typeface="+mn-ea"/>
            </a:endParaRPr>
          </a:p>
        </p:txBody>
      </p:sp>
      <p:sp>
        <p:nvSpPr>
          <p:cNvPr id="85" name="Shape 58">
            <a:extLst>
              <a:ext uri="{FF2B5EF4-FFF2-40B4-BE49-F238E27FC236}">
                <a16:creationId xmlns:a16="http://schemas.microsoft.com/office/drawing/2014/main" id="{9BDB5409-666A-A91A-836C-D29BAF9FD682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86" name="Text 59">
            <a:extLst>
              <a:ext uri="{FF2B5EF4-FFF2-40B4-BE49-F238E27FC236}">
                <a16:creationId xmlns:a16="http://schemas.microsoft.com/office/drawing/2014/main" id="{57218126-1D78-26B6-A74B-F6E6EF4DA2DB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39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8633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6"/>
          <p:cNvSpPr txBox="1"/>
          <p:nvPr/>
        </p:nvSpPr>
        <p:spPr>
          <a:xfrm>
            <a:off x="588919" y="1280595"/>
            <a:ext cx="4557543" cy="33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테스트 &amp; 실행 인터페이스</a:t>
            </a:r>
            <a:endParaRPr lang="en-US" sz="2000" dirty="0"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04092" y="2066234"/>
            <a:ext cx="4028062" cy="4678193"/>
          </a:xfrm>
          <a:prstGeom prst="roundRect">
            <a:avLst>
              <a:gd name="adj" fmla="val 12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612115" y="2076109"/>
            <a:ext cx="33694" cy="465660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79823" y="2359736"/>
            <a:ext cx="3543508" cy="23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16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테스트 &amp; 검증 단계 </a:t>
            </a:r>
            <a:endParaRPr lang="en-US" sz="1316" dirty="0">
              <a:latin typeface="+mn-ea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5571" y="2392631"/>
            <a:ext cx="166866" cy="16686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13798" y="2904570"/>
            <a:ext cx="1859599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3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워크플로우 검증</a:t>
            </a:r>
            <a:endParaRPr lang="en-US" sz="1053" dirty="0">
              <a:latin typeface="+mn-ea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1213800" y="3138026"/>
            <a:ext cx="1789003" cy="326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에이전트 빌더에서 "검증하기" 클릭</a:t>
            </a:r>
            <a:endParaRPr lang="en-US" sz="878" dirty="0">
              <a:latin typeface="+mn-ea"/>
            </a:endParaRPr>
          </a:p>
          <a:p>
            <a:r>
              <a:rPr lang="en-US" sz="790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→ 각 노드가 순서대로 실행됨</a:t>
            </a:r>
            <a:endParaRPr lang="en-US" sz="878" dirty="0">
              <a:latin typeface="+mn-ea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1213798" y="3840905"/>
            <a:ext cx="1670270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3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노드별 결과 확인</a:t>
            </a:r>
            <a:endParaRPr lang="en-US" sz="1053" dirty="0">
              <a:latin typeface="+mn-ea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1213800" y="4074363"/>
            <a:ext cx="1608497" cy="326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실행 상태: </a:t>
            </a:r>
            <a:r>
              <a:rPr lang="en-US" sz="878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완료 / 검사 중 / 대기</a:t>
            </a:r>
            <a:endParaRPr lang="en-US" sz="878" dirty="0">
              <a:latin typeface="+mn-ea"/>
            </a:endParaRPr>
          </a:p>
          <a:p>
            <a:r>
              <a:rPr lang="en-US" sz="790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각 노드 결과를 개별 확인 가능</a:t>
            </a:r>
            <a:endParaRPr lang="en-US" sz="878" dirty="0">
              <a:latin typeface="+mn-ea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1213800" y="4777243"/>
            <a:ext cx="1850775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3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오류 디버깅</a:t>
            </a:r>
            <a:endParaRPr lang="en-US" sz="1053" dirty="0">
              <a:latin typeface="+mn-ea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1213800" y="5011502"/>
            <a:ext cx="1780178" cy="326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실패한 노드 클릭 → 오류 내용 확인</a:t>
            </a:r>
            <a:endParaRPr lang="en-US" sz="878" dirty="0">
              <a:latin typeface="+mn-ea"/>
            </a:endParaRPr>
          </a:p>
          <a:p>
            <a:r>
              <a:rPr lang="en-US" sz="790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프롬프트/MCP/지식 설정 수정 후 재검증</a:t>
            </a:r>
            <a:endParaRPr lang="en-US" sz="878" dirty="0">
              <a:latin typeface="+mn-ea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1223609" y="5720451"/>
            <a:ext cx="1823498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3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게시 및 공유</a:t>
            </a:r>
            <a:endParaRPr lang="en-US" sz="1053" dirty="0">
              <a:latin typeface="+mn-ea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1223606" y="5954710"/>
            <a:ext cx="1755307" cy="326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검증 통과 → "게시" 버튼으로 공개</a:t>
            </a:r>
            <a:endParaRPr lang="en-US" sz="878" dirty="0">
              <a:latin typeface="+mn-ea"/>
            </a:endParaRPr>
          </a:p>
          <a:p>
            <a:r>
              <a:rPr lang="en-US" sz="790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"편집으로 돌아가기"로 수정 가능</a:t>
            </a:r>
            <a:endParaRPr lang="en-US" sz="878" dirty="0">
              <a:latin typeface="+mn-ea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 t="-2089" b="-2089"/>
          <a:stretch/>
        </p:blipFill>
        <p:spPr>
          <a:xfrm>
            <a:off x="933061" y="2971156"/>
            <a:ext cx="10311" cy="29520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80808" y="5269185"/>
            <a:ext cx="297552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▲ 워크플로우 검증 진행 화면</a:t>
            </a:r>
            <a:endParaRPr lang="en-US" sz="790" dirty="0">
              <a:latin typeface="+mn-ea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7516216" y="5269185"/>
            <a:ext cx="297552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▲ 검증 완료 &amp; 실행 화면</a:t>
            </a:r>
            <a:endParaRPr lang="en-US" sz="790" dirty="0">
              <a:latin typeface="+mn-ea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rcRect t="-13" b="-13"/>
          <a:stretch/>
        </p:blipFill>
        <p:spPr>
          <a:xfrm>
            <a:off x="4919407" y="5536737"/>
            <a:ext cx="5439962" cy="121760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095096" y="5946680"/>
            <a:ext cx="5220000" cy="8023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5"/>
          <p:cNvSpPr txBox="1"/>
          <p:nvPr/>
        </p:nvSpPr>
        <p:spPr>
          <a:xfrm>
            <a:off x="5095098" y="5712426"/>
            <a:ext cx="5457660" cy="1684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상태 표시등 가이드</a:t>
            </a:r>
            <a:endParaRPr lang="en-US" sz="878" dirty="0">
              <a:latin typeface="+mn-ea"/>
            </a:endParaRPr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675920" y="6155267"/>
            <a:ext cx="133975" cy="13397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617359" y="6355827"/>
            <a:ext cx="259124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완료</a:t>
            </a:r>
            <a:endParaRPr lang="en-US" sz="790" dirty="0">
              <a:latin typeface="+mn-ea"/>
            </a:endParaRPr>
          </a:p>
        </p:txBody>
      </p:sp>
      <p:sp>
        <p:nvSpPr>
          <p:cNvPr id="36" name="Text 27"/>
          <p:cNvSpPr txBox="1"/>
          <p:nvPr/>
        </p:nvSpPr>
        <p:spPr>
          <a:xfrm>
            <a:off x="5432841" y="6522694"/>
            <a:ext cx="622540" cy="125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2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노드 실행 성공</a:t>
            </a:r>
            <a:endParaRPr lang="en-US" sz="702" dirty="0">
              <a:latin typeface="+mn-ea"/>
            </a:endParaRPr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8">
            <a:alphaModFix amt="68000"/>
          </a:blip>
          <a:srcRect/>
          <a:stretch/>
        </p:blipFill>
        <p:spPr>
          <a:xfrm>
            <a:off x="7039734" y="6155267"/>
            <a:ext cx="133975" cy="13397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916187" y="6355827"/>
            <a:ext cx="38587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검사 중</a:t>
            </a:r>
            <a:endParaRPr lang="en-US" sz="790" dirty="0">
              <a:latin typeface="+mn-ea"/>
            </a:endParaRPr>
          </a:p>
        </p:txBody>
      </p:sp>
      <p:sp>
        <p:nvSpPr>
          <p:cNvPr id="39" name="Text 29"/>
          <p:cNvSpPr txBox="1"/>
          <p:nvPr/>
        </p:nvSpPr>
        <p:spPr>
          <a:xfrm>
            <a:off x="6839972" y="6522694"/>
            <a:ext cx="536701" cy="125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2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현재 실행 중</a:t>
            </a:r>
            <a:endParaRPr lang="en-US" sz="702" dirty="0">
              <a:latin typeface="+mn-ea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8403547" y="6155267"/>
            <a:ext cx="133975" cy="13397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1"/>
          <p:cNvSpPr txBox="1"/>
          <p:nvPr/>
        </p:nvSpPr>
        <p:spPr>
          <a:xfrm>
            <a:off x="8344182" y="6355827"/>
            <a:ext cx="259124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대기</a:t>
            </a:r>
            <a:endParaRPr lang="en-US" sz="790" dirty="0">
              <a:latin typeface="+mn-ea"/>
            </a:endParaRPr>
          </a:p>
        </p:txBody>
      </p:sp>
      <p:sp>
        <p:nvSpPr>
          <p:cNvPr id="42" name="Text 32"/>
          <p:cNvSpPr txBox="1"/>
          <p:nvPr/>
        </p:nvSpPr>
        <p:spPr>
          <a:xfrm>
            <a:off x="8309686" y="6522694"/>
            <a:ext cx="326513" cy="125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2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실행 전</a:t>
            </a:r>
            <a:endParaRPr lang="en-US" sz="702" dirty="0">
              <a:latin typeface="+mn-ea"/>
            </a:endParaRPr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66558" y="6155267"/>
            <a:ext cx="133975" cy="13397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707995" y="6355827"/>
            <a:ext cx="259124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오류</a:t>
            </a:r>
            <a:endParaRPr lang="en-US" sz="790" dirty="0">
              <a:latin typeface="+mn-ea"/>
            </a:endParaRPr>
          </a:p>
        </p:txBody>
      </p:sp>
      <p:sp>
        <p:nvSpPr>
          <p:cNvPr id="45" name="Text 34"/>
          <p:cNvSpPr txBox="1"/>
          <p:nvPr/>
        </p:nvSpPr>
        <p:spPr>
          <a:xfrm>
            <a:off x="9634990" y="6522694"/>
            <a:ext cx="401122" cy="125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2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실행 실패</a:t>
            </a:r>
            <a:endParaRPr lang="en-US" sz="702" dirty="0">
              <a:latin typeface="+mn-ea"/>
            </a:endParaRPr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2676" y="2904571"/>
            <a:ext cx="267147" cy="267147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87805" y="2904570"/>
            <a:ext cx="317688" cy="26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78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1</a:t>
            </a:r>
            <a:endParaRPr lang="en-US" sz="878" dirty="0">
              <a:latin typeface="+mn-ea"/>
            </a:endParaRPr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2676" y="3840907"/>
            <a:ext cx="267147" cy="267147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787805" y="3840905"/>
            <a:ext cx="317688" cy="26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78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2</a:t>
            </a:r>
            <a:endParaRPr lang="en-US" sz="878" dirty="0">
              <a:latin typeface="+mn-ea"/>
            </a:endParaRPr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9098" y="4777244"/>
            <a:ext cx="267147" cy="267147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87807" y="4777243"/>
            <a:ext cx="317688" cy="26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78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3</a:t>
            </a:r>
            <a:endParaRPr lang="en-US" sz="878" dirty="0">
              <a:latin typeface="+mn-ea"/>
            </a:endParaRPr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28904" y="5720452"/>
            <a:ext cx="267147" cy="267147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797613" y="5720450"/>
            <a:ext cx="317688" cy="26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78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4</a:t>
            </a:r>
            <a:endParaRPr lang="en-US" sz="878" dirty="0">
              <a:latin typeface="+mn-ea"/>
            </a:endParaRPr>
          </a:p>
        </p:txBody>
      </p:sp>
      <p:sp>
        <p:nvSpPr>
          <p:cNvPr id="59" name="Text 41">
            <a:extLst>
              <a:ext uri="{FF2B5EF4-FFF2-40B4-BE49-F238E27FC236}">
                <a16:creationId xmlns:a16="http://schemas.microsoft.com/office/drawing/2014/main" id="{E9893F88-551D-9480-E816-5BE6C8E3D510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400" dirty="0" smtClean="0">
                <a:solidFill>
                  <a:srgbClr val="64748B"/>
                </a:solidFill>
                <a:latin typeface="+mn-ea"/>
                <a:cs typeface="Noto Sans KR" pitchFamily="34" charset="-120"/>
              </a:rPr>
              <a:t>&gt; </a:t>
            </a:r>
            <a:r>
              <a:rPr lang="ko-KR" altLang="en-US" sz="1400" dirty="0" smtClean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 </a:t>
            </a:r>
            <a:r>
              <a:rPr lang="ko-KR" altLang="en-US" sz="14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빌더</a:t>
            </a:r>
            <a:endParaRPr lang="en-US" altLang="ko-KR" sz="1400" dirty="0">
              <a:latin typeface="+mn-ea"/>
            </a:endParaRPr>
          </a:p>
        </p:txBody>
      </p:sp>
      <p:sp>
        <p:nvSpPr>
          <p:cNvPr id="60" name="Shape 0">
            <a:extLst>
              <a:ext uri="{FF2B5EF4-FFF2-40B4-BE49-F238E27FC236}">
                <a16:creationId xmlns:a16="http://schemas.microsoft.com/office/drawing/2014/main" id="{280D5005-6638-6968-4435-FC81F11A48FB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F7003A-07ED-2737-60D1-BAF07A75C9ED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pic>
        <p:nvPicPr>
          <p:cNvPr id="62" name="Image 2" descr="preencoded.png">
            <a:extLst>
              <a:ext uri="{FF2B5EF4-FFF2-40B4-BE49-F238E27FC236}">
                <a16:creationId xmlns:a16="http://schemas.microsoft.com/office/drawing/2014/main" id="{BA5BBE97-43C4-956E-E0DC-9458FE9F641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-97" b="-97"/>
          <a:stretch/>
        </p:blipFill>
        <p:spPr>
          <a:xfrm>
            <a:off x="576196" y="1737292"/>
            <a:ext cx="571500" cy="48463"/>
          </a:xfrm>
          <a:prstGeom prst="rect">
            <a:avLst/>
          </a:prstGeom>
        </p:spPr>
      </p:pic>
      <p:pic>
        <p:nvPicPr>
          <p:cNvPr id="63" name="그림 62"/>
          <p:cNvPicPr preferRelativeResize="0"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4919406" y="2076108"/>
            <a:ext cx="2376000" cy="3158125"/>
          </a:xfrm>
          <a:prstGeom prst="rect">
            <a:avLst/>
          </a:prstGeom>
        </p:spPr>
      </p:pic>
      <p:pic>
        <p:nvPicPr>
          <p:cNvPr id="72" name="그림 71"/>
          <p:cNvPicPr preferRelativeResize="0"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7825519" y="2096364"/>
            <a:ext cx="2356913" cy="3132000"/>
          </a:xfrm>
          <a:prstGeom prst="rect">
            <a:avLst/>
          </a:prstGeom>
        </p:spPr>
      </p:pic>
      <p:sp>
        <p:nvSpPr>
          <p:cNvPr id="55" name="Shape 58">
            <a:extLst>
              <a:ext uri="{FF2B5EF4-FFF2-40B4-BE49-F238E27FC236}">
                <a16:creationId xmlns:a16="http://schemas.microsoft.com/office/drawing/2014/main" id="{9BDB5409-666A-A91A-836C-D29BAF9FD682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56" name="Text 59">
            <a:extLst>
              <a:ext uri="{FF2B5EF4-FFF2-40B4-BE49-F238E27FC236}">
                <a16:creationId xmlns:a16="http://schemas.microsoft.com/office/drawing/2014/main" id="{57218126-1D78-26B6-A74B-F6E6EF4DA2DB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40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11071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00E84-79A7-7689-CA0E-9061B2CC8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>
            <a:extLst>
              <a:ext uri="{FF2B5EF4-FFF2-40B4-BE49-F238E27FC236}">
                <a16:creationId xmlns:a16="http://schemas.microsoft.com/office/drawing/2014/main" id="{E9893F88-551D-9480-E816-5BE6C8E3D510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4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&gt; </a:t>
            </a:r>
            <a:r>
              <a:rPr lang="ko-KR" altLang="en-US" sz="14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 </a:t>
            </a:r>
            <a:r>
              <a:rPr lang="ko-KR" altLang="en-US" sz="14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빌더</a:t>
            </a:r>
            <a:endParaRPr lang="en-US" altLang="ko-KR" sz="1400" dirty="0">
              <a:latin typeface="+mn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280D5005-6638-6968-4435-FC81F11A48FB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7003A-07ED-2737-60D1-BAF07A75C9ED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j-ea"/>
                <a:ea typeface="+mj-ea"/>
              </a:rPr>
              <a:t>GrowFit</a:t>
            </a:r>
            <a:endParaRPr lang="ko-KR" altLang="en-US" sz="1517" dirty="0">
              <a:latin typeface="+mj-ea"/>
              <a:ea typeface="+mj-ea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6A3EEC34-9E4F-7DB2-A345-CC5C31B0734A}"/>
              </a:ext>
            </a:extLst>
          </p:cNvPr>
          <p:cNvSpPr txBox="1"/>
          <p:nvPr/>
        </p:nvSpPr>
        <p:spPr>
          <a:xfrm>
            <a:off x="631107" y="1294685"/>
            <a:ext cx="560957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000" b="1" dirty="0">
                <a:latin typeface="+mj-ea"/>
                <a:ea typeface="+mj-ea"/>
              </a:rPr>
              <a:t>워크플로우 설계 핵심 단계</a:t>
            </a:r>
            <a:r>
              <a:rPr lang="en-US" altLang="ko-KR" sz="2000" b="1" dirty="0">
                <a:latin typeface="+mj-ea"/>
                <a:ea typeface="+mj-ea"/>
              </a:rPr>
              <a:t>(1/2)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36EB33D1-7F91-06E2-1720-2D68BC2F6C94}"/>
              </a:ext>
            </a:extLst>
          </p:cNvPr>
          <p:cNvSpPr/>
          <p:nvPr/>
        </p:nvSpPr>
        <p:spPr>
          <a:xfrm>
            <a:off x="7888886" y="2211014"/>
            <a:ext cx="2364535" cy="323698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6F024593-C078-0ECC-A96F-CB8227837A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8050735" y="2296053"/>
            <a:ext cx="95098" cy="152705"/>
          </a:xfrm>
          <a:prstGeom prst="rect">
            <a:avLst/>
          </a:prstGeom>
        </p:spPr>
      </p:pic>
      <p:sp>
        <p:nvSpPr>
          <p:cNvPr id="10" name="Text 13">
            <a:extLst>
              <a:ext uri="{FF2B5EF4-FFF2-40B4-BE49-F238E27FC236}">
                <a16:creationId xmlns:a16="http://schemas.microsoft.com/office/drawing/2014/main" id="{6D8160F5-F26A-599F-DE26-E8C36A10CEC9}"/>
              </a:ext>
            </a:extLst>
          </p:cNvPr>
          <p:cNvSpPr txBox="1"/>
          <p:nvPr/>
        </p:nvSpPr>
        <p:spPr>
          <a:xfrm>
            <a:off x="8221727" y="2286909"/>
            <a:ext cx="20107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붉은색 커서는 클릭 위치를 나타냅니다.</a:t>
            </a:r>
            <a:endParaRPr lang="en-US" sz="900" dirty="0">
              <a:latin typeface="+mn-ea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593DE81-67F9-7EEB-81DD-F5767456F438}"/>
              </a:ext>
            </a:extLst>
          </p:cNvPr>
          <p:cNvSpPr/>
          <p:nvPr/>
        </p:nvSpPr>
        <p:spPr>
          <a:xfrm>
            <a:off x="471632" y="2830417"/>
            <a:ext cx="3200299" cy="3761461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387C633-C9A2-72F6-D3CD-0A415CF25D67}"/>
              </a:ext>
            </a:extLst>
          </p:cNvPr>
          <p:cNvSpPr/>
          <p:nvPr/>
        </p:nvSpPr>
        <p:spPr>
          <a:xfrm>
            <a:off x="524965" y="2894021"/>
            <a:ext cx="3087257" cy="9486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B9CE8322-4092-7C0A-8EB9-C0266F5E2C23}"/>
              </a:ext>
            </a:extLst>
          </p:cNvPr>
          <p:cNvSpPr/>
          <p:nvPr/>
        </p:nvSpPr>
        <p:spPr>
          <a:xfrm>
            <a:off x="479063" y="3784433"/>
            <a:ext cx="3188940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D6767013-3138-92E3-3E44-FFF262BB4187}"/>
              </a:ext>
            </a:extLst>
          </p:cNvPr>
          <p:cNvSpPr/>
          <p:nvPr/>
        </p:nvSpPr>
        <p:spPr>
          <a:xfrm>
            <a:off x="664799" y="2964218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E5B5B95-AAFD-CBE9-4A66-5132D7C72901}"/>
              </a:ext>
            </a:extLst>
          </p:cNvPr>
          <p:cNvSpPr txBox="1"/>
          <p:nvPr/>
        </p:nvSpPr>
        <p:spPr>
          <a:xfrm>
            <a:off x="750982" y="2994678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</a:t>
            </a:r>
            <a:endParaRPr lang="en-US" sz="1000" dirty="0">
              <a:latin typeface="+mn-ea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44A192C-279E-E7EE-9813-9822D9484A67}"/>
              </a:ext>
            </a:extLst>
          </p:cNvPr>
          <p:cNvSpPr txBox="1"/>
          <p:nvPr/>
        </p:nvSpPr>
        <p:spPr>
          <a:xfrm>
            <a:off x="1017701" y="2991962"/>
            <a:ext cx="2414984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+mn-ea"/>
              </a:rPr>
              <a:t>노드 추가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9515B92C-6F0C-CB1F-8F6C-0DBAAADB4830}"/>
              </a:ext>
            </a:extLst>
          </p:cNvPr>
          <p:cNvSpPr/>
          <p:nvPr/>
        </p:nvSpPr>
        <p:spPr>
          <a:xfrm>
            <a:off x="479063" y="3791866"/>
            <a:ext cx="3188940" cy="28129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6CF53D8-7E86-8006-63AE-5E139542D3BD}"/>
              </a:ext>
            </a:extLst>
          </p:cNvPr>
          <p:cNvSpPr/>
          <p:nvPr/>
        </p:nvSpPr>
        <p:spPr>
          <a:xfrm>
            <a:off x="567808" y="3915938"/>
            <a:ext cx="30088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D9470F09-A5B4-2397-1E55-D2E4FD240D2A}"/>
              </a:ext>
            </a:extLst>
          </p:cNvPr>
          <p:cNvSpPr txBox="1"/>
          <p:nvPr/>
        </p:nvSpPr>
        <p:spPr>
          <a:xfrm>
            <a:off x="598636" y="3336195"/>
            <a:ext cx="2978003" cy="32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좌측 팔레트에서 원하는 </a:t>
            </a:r>
            <a:r>
              <a:rPr lang="en-US" altLang="ko-KR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ko-KR" altLang="en-US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노드</a:t>
            </a:r>
            <a:r>
              <a:rPr lang="en-US" altLang="ko-KR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</a:t>
            </a:r>
            <a:r>
              <a:rPr lang="ko-KR" altLang="en-US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를</a:t>
            </a:r>
          </a:p>
          <a:p>
            <a:r>
              <a:rPr lang="ko-KR" altLang="en-US" sz="1050" dirty="0" err="1">
                <a:solidFill>
                  <a:srgbClr val="4B5563"/>
                </a:solidFill>
                <a:latin typeface="+mn-ea"/>
                <a:cs typeface="Noto Sans KR" pitchFamily="34" charset="-120"/>
              </a:rPr>
              <a:t>드래그하여</a:t>
            </a:r>
            <a:r>
              <a:rPr lang="ko-KR" altLang="en-US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 캔버스에 배치합니다.</a:t>
            </a:r>
          </a:p>
          <a:p>
            <a:endParaRPr lang="en-US" altLang="ko-KR" sz="1000" dirty="0">
              <a:latin typeface="+mn-ea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085C5C10-1040-06D7-A019-3A4DE4746702}"/>
              </a:ext>
            </a:extLst>
          </p:cNvPr>
          <p:cNvSpPr/>
          <p:nvPr/>
        </p:nvSpPr>
        <p:spPr>
          <a:xfrm>
            <a:off x="3892373" y="2829297"/>
            <a:ext cx="3088085" cy="3790368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A4A69A7-74B9-CB45-D416-D172452E1C5D}"/>
              </a:ext>
            </a:extLst>
          </p:cNvPr>
          <p:cNvSpPr/>
          <p:nvPr/>
        </p:nvSpPr>
        <p:spPr>
          <a:xfrm>
            <a:off x="3905760" y="2857450"/>
            <a:ext cx="3077124" cy="97011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D3EF67DD-A2C8-E82B-980B-792D55717015}"/>
              </a:ext>
            </a:extLst>
          </p:cNvPr>
          <p:cNvSpPr/>
          <p:nvPr/>
        </p:nvSpPr>
        <p:spPr>
          <a:xfrm>
            <a:off x="3899805" y="3812219"/>
            <a:ext cx="3077124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4F2729B3-BDC6-4BA1-8109-775D6A1CED24}"/>
              </a:ext>
            </a:extLst>
          </p:cNvPr>
          <p:cNvSpPr txBox="1"/>
          <p:nvPr/>
        </p:nvSpPr>
        <p:spPr>
          <a:xfrm>
            <a:off x="4171724" y="3022464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8189AD1F-74E8-C8F5-9A8A-0C20BD3764EE}"/>
              </a:ext>
            </a:extLst>
          </p:cNvPr>
          <p:cNvSpPr txBox="1"/>
          <p:nvPr/>
        </p:nvSpPr>
        <p:spPr>
          <a:xfrm>
            <a:off x="4434739" y="3050455"/>
            <a:ext cx="1648326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+mn-ea"/>
              </a:rPr>
              <a:t>노드 연결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CB951B48-DB68-00C0-B830-E9F049E7512E}"/>
              </a:ext>
            </a:extLst>
          </p:cNvPr>
          <p:cNvSpPr/>
          <p:nvPr/>
        </p:nvSpPr>
        <p:spPr>
          <a:xfrm>
            <a:off x="3905760" y="3840374"/>
            <a:ext cx="3077124" cy="28129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8AFA20B1-8BB9-BAD7-23FC-D493BFC1AAF5}"/>
              </a:ext>
            </a:extLst>
          </p:cNvPr>
          <p:cNvSpPr/>
          <p:nvPr/>
        </p:nvSpPr>
        <p:spPr>
          <a:xfrm>
            <a:off x="3984721" y="3983318"/>
            <a:ext cx="29033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DE13061F-0CE6-6DC1-9DDF-FD368D3F884E}"/>
              </a:ext>
            </a:extLst>
          </p:cNvPr>
          <p:cNvSpPr txBox="1"/>
          <p:nvPr/>
        </p:nvSpPr>
        <p:spPr>
          <a:xfrm>
            <a:off x="4093652" y="3339131"/>
            <a:ext cx="3024845" cy="32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각 노드의 포트를 </a:t>
            </a:r>
            <a:r>
              <a:rPr lang="en-US" altLang="ko-KR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ko-KR" altLang="en-US" sz="1050" b="1" dirty="0" smtClean="0">
                <a:solidFill>
                  <a:srgbClr val="2563EB"/>
                </a:solidFill>
                <a:latin typeface="+mn-ea"/>
                <a:cs typeface="Noto Sans KR" pitchFamily="34" charset="-120"/>
              </a:rPr>
              <a:t>화살표로 </a:t>
            </a:r>
            <a:r>
              <a:rPr lang="ko-KR" altLang="en-US" sz="1050" b="1" dirty="0" smtClean="0">
                <a:solidFill>
                  <a:srgbClr val="3A72ED"/>
                </a:solidFill>
                <a:latin typeface="+mn-ea"/>
                <a:cs typeface="Noto Sans KR" pitchFamily="34" charset="-120"/>
              </a:rPr>
              <a:t>연결</a:t>
            </a:r>
            <a:r>
              <a:rPr lang="en-US" altLang="ko-KR" sz="1050" b="1" dirty="0">
                <a:solidFill>
                  <a:srgbClr val="3A72ED"/>
                </a:solidFill>
                <a:latin typeface="+mn-ea"/>
                <a:cs typeface="Noto Sans KR" pitchFamily="34" charset="-120"/>
              </a:rPr>
              <a:t>]</a:t>
            </a:r>
            <a:r>
              <a:rPr lang="ko-KR" altLang="en-US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하여 흐름을 구성합니다.</a:t>
            </a:r>
            <a:endParaRPr lang="en-US" altLang="ko-KR" sz="1050" dirty="0">
              <a:solidFill>
                <a:srgbClr val="4B5563"/>
              </a:solidFill>
              <a:latin typeface="+mn-ea"/>
              <a:cs typeface="Noto Sans KR" pitchFamily="34" charset="-120"/>
            </a:endParaRPr>
          </a:p>
          <a:p>
            <a:r>
              <a:rPr lang="en-US" altLang="ko-KR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*</a:t>
            </a:r>
            <a:r>
              <a:rPr lang="ko-KR" alt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노드 하단의 출력 포트를 클릭 후</a:t>
            </a:r>
            <a:r>
              <a:rPr lang="en-US" altLang="ko-KR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다른 노드 상단의 </a:t>
            </a:r>
            <a:endParaRPr lang="en-US" altLang="ko-KR" sz="900" dirty="0">
              <a:solidFill>
                <a:srgbClr val="4B5563"/>
              </a:solidFill>
              <a:latin typeface="+mn-ea"/>
              <a:cs typeface="Noto Sans KR" pitchFamily="34" charset="-120"/>
            </a:endParaRPr>
          </a:p>
          <a:p>
            <a:r>
              <a:rPr lang="ko-KR" alt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입력 포트를 클릭하면 연결됩니다</a:t>
            </a:r>
            <a:r>
              <a:rPr lang="en-US" altLang="ko-KR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.</a:t>
            </a:r>
            <a:endParaRPr lang="ko-KR" altLang="en-US" sz="900" dirty="0">
              <a:solidFill>
                <a:srgbClr val="4B5563"/>
              </a:solidFill>
              <a:latin typeface="+mn-ea"/>
              <a:cs typeface="Noto Sans KR" pitchFamily="34" charset="-120"/>
            </a:endParaRPr>
          </a:p>
          <a:p>
            <a:endParaRPr lang="en-US" altLang="ko-KR" sz="1000" dirty="0">
              <a:latin typeface="+mn-ea"/>
            </a:endParaRPr>
          </a:p>
          <a:p>
            <a:endParaRPr lang="en-US" sz="1000" dirty="0">
              <a:latin typeface="+mn-ea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75667584-8388-3175-8B06-77E9AC5FB1D2}"/>
              </a:ext>
            </a:extLst>
          </p:cNvPr>
          <p:cNvSpPr/>
          <p:nvPr/>
        </p:nvSpPr>
        <p:spPr>
          <a:xfrm>
            <a:off x="4064399" y="3009988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0890B26B-8A6C-D306-0CCC-BA39C050E891}"/>
              </a:ext>
            </a:extLst>
          </p:cNvPr>
          <p:cNvSpPr txBox="1"/>
          <p:nvPr/>
        </p:nvSpPr>
        <p:spPr>
          <a:xfrm>
            <a:off x="4150582" y="3040448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1000" dirty="0">
              <a:latin typeface="+mn-ea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21FEED13-9143-D531-D743-2A0AA44ACB20}"/>
              </a:ext>
            </a:extLst>
          </p:cNvPr>
          <p:cNvSpPr txBox="1"/>
          <p:nvPr/>
        </p:nvSpPr>
        <p:spPr>
          <a:xfrm>
            <a:off x="7176297" y="3036712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51" name="Shape 58">
            <a:extLst>
              <a:ext uri="{FF2B5EF4-FFF2-40B4-BE49-F238E27FC236}">
                <a16:creationId xmlns:a16="http://schemas.microsoft.com/office/drawing/2014/main" id="{5EBEFC5F-D12E-AEF7-52A2-27CFFFFF89C8}"/>
              </a:ext>
            </a:extLst>
          </p:cNvPr>
          <p:cNvSpPr/>
          <p:nvPr/>
        </p:nvSpPr>
        <p:spPr>
          <a:xfrm>
            <a:off x="304360" y="704428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52" name="Text 59">
            <a:extLst>
              <a:ext uri="{FF2B5EF4-FFF2-40B4-BE49-F238E27FC236}">
                <a16:creationId xmlns:a16="http://schemas.microsoft.com/office/drawing/2014/main" id="{B7DC1EFE-2D17-3185-2454-6643955406B1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41</a:t>
            </a:r>
            <a:endParaRPr lang="en-US" sz="1000" dirty="0">
              <a:latin typeface="+mn-ea"/>
            </a:endParaRPr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BA5BBE97-43C4-956E-E0DC-9458FE9F6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97" b="-97"/>
          <a:stretch/>
        </p:blipFill>
        <p:spPr>
          <a:xfrm>
            <a:off x="576196" y="1737292"/>
            <a:ext cx="571500" cy="48463"/>
          </a:xfrm>
          <a:prstGeom prst="rect">
            <a:avLst/>
          </a:prstGeom>
        </p:spPr>
      </p:pic>
      <p:sp>
        <p:nvSpPr>
          <p:cNvPr id="45" name="Shape 7">
            <a:extLst>
              <a:ext uri="{FF2B5EF4-FFF2-40B4-BE49-F238E27FC236}">
                <a16:creationId xmlns:a16="http://schemas.microsoft.com/office/drawing/2014/main" id="{6678508D-C70C-0E1F-E8A5-D9AA84660DE6}"/>
              </a:ext>
            </a:extLst>
          </p:cNvPr>
          <p:cNvSpPr/>
          <p:nvPr/>
        </p:nvSpPr>
        <p:spPr>
          <a:xfrm>
            <a:off x="7168865" y="2826518"/>
            <a:ext cx="3088085" cy="3790368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8822532A-6D8D-39A7-F86A-1C389F817ACF}"/>
              </a:ext>
            </a:extLst>
          </p:cNvPr>
          <p:cNvSpPr/>
          <p:nvPr/>
        </p:nvSpPr>
        <p:spPr>
          <a:xfrm>
            <a:off x="7176297" y="2833949"/>
            <a:ext cx="3077124" cy="97011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C5C287B5-3CF6-5759-5565-A07708A5FF4A}"/>
              </a:ext>
            </a:extLst>
          </p:cNvPr>
          <p:cNvSpPr/>
          <p:nvPr/>
        </p:nvSpPr>
        <p:spPr>
          <a:xfrm>
            <a:off x="7176297" y="3809440"/>
            <a:ext cx="3077124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BE539ABC-8315-F270-3296-B33E7A4B8304}"/>
              </a:ext>
            </a:extLst>
          </p:cNvPr>
          <p:cNvSpPr txBox="1"/>
          <p:nvPr/>
        </p:nvSpPr>
        <p:spPr>
          <a:xfrm>
            <a:off x="7448216" y="3019685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C7CF568D-F3B2-2166-6D58-AA5E2FB67364}"/>
              </a:ext>
            </a:extLst>
          </p:cNvPr>
          <p:cNvSpPr txBox="1"/>
          <p:nvPr/>
        </p:nvSpPr>
        <p:spPr>
          <a:xfrm>
            <a:off x="7705276" y="3026954"/>
            <a:ext cx="1648326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b="1" dirty="0"/>
              <a:t>속성 설정</a:t>
            </a:r>
            <a:endParaRPr lang="en-US" altLang="ko-KR" sz="1050" b="1" dirty="0"/>
          </a:p>
        </p:txBody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3723F6AF-7AD3-8CF3-9691-9AF8755610F5}"/>
              </a:ext>
            </a:extLst>
          </p:cNvPr>
          <p:cNvSpPr/>
          <p:nvPr/>
        </p:nvSpPr>
        <p:spPr>
          <a:xfrm>
            <a:off x="7176297" y="3816873"/>
            <a:ext cx="3077124" cy="28129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7" name="Shape 15">
            <a:extLst>
              <a:ext uri="{FF2B5EF4-FFF2-40B4-BE49-F238E27FC236}">
                <a16:creationId xmlns:a16="http://schemas.microsoft.com/office/drawing/2014/main" id="{8F27EBE1-C09A-7455-F3EC-C746098D3084}"/>
              </a:ext>
            </a:extLst>
          </p:cNvPr>
          <p:cNvSpPr/>
          <p:nvPr/>
        </p:nvSpPr>
        <p:spPr>
          <a:xfrm>
            <a:off x="7255258" y="3959817"/>
            <a:ext cx="29033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33089332-0776-39F1-DBF3-E8F30455711B}"/>
              </a:ext>
            </a:extLst>
          </p:cNvPr>
          <p:cNvSpPr/>
          <p:nvPr/>
        </p:nvSpPr>
        <p:spPr>
          <a:xfrm>
            <a:off x="7334936" y="2986487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07A4D508-74C7-D098-B36A-96261B43731B}"/>
              </a:ext>
            </a:extLst>
          </p:cNvPr>
          <p:cNvSpPr txBox="1"/>
          <p:nvPr/>
        </p:nvSpPr>
        <p:spPr>
          <a:xfrm>
            <a:off x="7421119" y="3016947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3</a:t>
            </a:r>
            <a:endParaRPr lang="en-US" sz="1000" dirty="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9A2F91-7E6F-2386-A2AA-466DA58EE059}"/>
              </a:ext>
            </a:extLst>
          </p:cNvPr>
          <p:cNvSpPr txBox="1"/>
          <p:nvPr/>
        </p:nvSpPr>
        <p:spPr>
          <a:xfrm>
            <a:off x="7176297" y="3303440"/>
            <a:ext cx="307712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우측 속성 패널에서 각 노드에 맞게 </a:t>
            </a:r>
            <a:r>
              <a:rPr lang="en-US" altLang="ko-KR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ko-KR" altLang="en-US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설정</a:t>
            </a:r>
            <a:r>
              <a:rPr lang="en-US" altLang="ko-KR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</a:t>
            </a:r>
            <a:r>
              <a:rPr lang="ko-KR" altLang="en-US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합니다.</a:t>
            </a:r>
          </a:p>
          <a:p>
            <a:endParaRPr lang="en-US" altLang="ko-KR" sz="1000" dirty="0">
              <a:latin typeface="+mj-ea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FA05FDFF-1320-B1CF-0B74-261723E37C7F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41452" y="3983318"/>
            <a:ext cx="2520000" cy="2340000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8FB97CA3-65D0-F7D3-C9E0-083CEA5DEA10}"/>
              </a:ext>
            </a:extLst>
          </p:cNvPr>
          <p:cNvSpPr/>
          <p:nvPr/>
        </p:nvSpPr>
        <p:spPr>
          <a:xfrm>
            <a:off x="729769" y="4178020"/>
            <a:ext cx="106635" cy="111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1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CC9485E-C611-01DB-126E-EDF2232C0AAE}"/>
              </a:ext>
            </a:extLst>
          </p:cNvPr>
          <p:cNvSpPr/>
          <p:nvPr/>
        </p:nvSpPr>
        <p:spPr>
          <a:xfrm>
            <a:off x="841453" y="4178019"/>
            <a:ext cx="2519999" cy="21452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D73765F2-C7E7-E707-D34A-7E03A99E2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1131612" y="4694462"/>
            <a:ext cx="95098" cy="152705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88F53B87-0C07-29B4-BF66-E00C3A66BDF2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244543" y="4043107"/>
            <a:ext cx="2520000" cy="2340000"/>
          </a:xfrm>
          <a:prstGeom prst="rect">
            <a:avLst/>
          </a:prstGeom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8D1CC89F-AD82-E9B6-DF7F-3F660C340A8A}"/>
              </a:ext>
            </a:extLst>
          </p:cNvPr>
          <p:cNvSpPr/>
          <p:nvPr/>
        </p:nvSpPr>
        <p:spPr>
          <a:xfrm>
            <a:off x="4612463" y="4729899"/>
            <a:ext cx="106635" cy="111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2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6E96C84C-5B35-AF2B-5462-B40AD403AEBE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53" y="4028326"/>
            <a:ext cx="2520000" cy="2340000"/>
          </a:xfrm>
          <a:prstGeom prst="rect">
            <a:avLst/>
          </a:prstGeom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D9BDB9A0-02E3-C6B1-AEBF-669350CBE511}"/>
              </a:ext>
            </a:extLst>
          </p:cNvPr>
          <p:cNvSpPr/>
          <p:nvPr/>
        </p:nvSpPr>
        <p:spPr>
          <a:xfrm>
            <a:off x="4724148" y="4729898"/>
            <a:ext cx="1128272" cy="91186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B477723-2736-F58D-81A0-0B597077F2AF}"/>
              </a:ext>
            </a:extLst>
          </p:cNvPr>
          <p:cNvSpPr/>
          <p:nvPr/>
        </p:nvSpPr>
        <p:spPr>
          <a:xfrm>
            <a:off x="7367801" y="4041973"/>
            <a:ext cx="106635" cy="111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3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BD7F335-AD01-D353-773E-156B73C04F6B}"/>
              </a:ext>
            </a:extLst>
          </p:cNvPr>
          <p:cNvSpPr/>
          <p:nvPr/>
        </p:nvSpPr>
        <p:spPr>
          <a:xfrm>
            <a:off x="7487777" y="4041973"/>
            <a:ext cx="2519999" cy="22813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1120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A7405-3747-A9CB-C408-EAFF7A50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1">
            <a:extLst>
              <a:ext uri="{FF2B5EF4-FFF2-40B4-BE49-F238E27FC236}">
                <a16:creationId xmlns:a16="http://schemas.microsoft.com/office/drawing/2014/main" id="{D68856B3-F8AA-C652-6F4E-2566BEED2F02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6.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학습 자료 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&amp; </a:t>
            </a:r>
            <a:r>
              <a:rPr lang="ko-KR" altLang="en-US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교육 콘텐츠</a:t>
            </a:r>
            <a:r>
              <a:rPr lang="en-US" altLang="ko-KR" sz="140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</a:t>
            </a:r>
            <a:r>
              <a:rPr lang="en-US" altLang="ko-KR" sz="14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&gt; </a:t>
            </a:r>
            <a:r>
              <a:rPr lang="ko-KR" altLang="en-US" sz="14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 </a:t>
            </a:r>
            <a:r>
              <a:rPr lang="ko-KR" altLang="en-US" sz="14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빌더</a:t>
            </a:r>
            <a:endParaRPr lang="en-US" altLang="ko-KR" sz="1400" dirty="0">
              <a:latin typeface="+mn-ea"/>
            </a:endParaRP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187EBBB-58EB-26A0-B894-7EFC817DD7EF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CA334-A6ED-8CF1-98E2-6104E0E42820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j-ea"/>
                <a:ea typeface="+mj-ea"/>
              </a:rPr>
              <a:t>GrowFit</a:t>
            </a:r>
            <a:endParaRPr lang="ko-KR" altLang="en-US" sz="1517" dirty="0">
              <a:latin typeface="+mj-ea"/>
              <a:ea typeface="+mj-ea"/>
            </a:endParaRPr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79D9D9AB-3CBF-C892-B93C-02DA4E0065C2}"/>
              </a:ext>
            </a:extLst>
          </p:cNvPr>
          <p:cNvSpPr/>
          <p:nvPr/>
        </p:nvSpPr>
        <p:spPr>
          <a:xfrm>
            <a:off x="7888886" y="2211014"/>
            <a:ext cx="2343607" cy="323698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A9DE4F9B-DAD9-E5AD-3329-7300B526F7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8050735" y="2296053"/>
            <a:ext cx="95098" cy="152705"/>
          </a:xfrm>
          <a:prstGeom prst="rect">
            <a:avLst/>
          </a:prstGeom>
        </p:spPr>
      </p:pic>
      <p:sp>
        <p:nvSpPr>
          <p:cNvPr id="10" name="Text 13">
            <a:extLst>
              <a:ext uri="{FF2B5EF4-FFF2-40B4-BE49-F238E27FC236}">
                <a16:creationId xmlns:a16="http://schemas.microsoft.com/office/drawing/2014/main" id="{DA6F76E9-F32F-E086-B602-040B800C946F}"/>
              </a:ext>
            </a:extLst>
          </p:cNvPr>
          <p:cNvSpPr txBox="1"/>
          <p:nvPr/>
        </p:nvSpPr>
        <p:spPr>
          <a:xfrm>
            <a:off x="8221727" y="2286909"/>
            <a:ext cx="20107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붉은색 커서는 클릭 위치를 나타냅니다.</a:t>
            </a:r>
            <a:endParaRPr lang="en-US" sz="900" dirty="0">
              <a:latin typeface="+mn-ea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8925BC6-A7DE-00A7-2641-FC276D0C0E3B}"/>
              </a:ext>
            </a:extLst>
          </p:cNvPr>
          <p:cNvSpPr/>
          <p:nvPr/>
        </p:nvSpPr>
        <p:spPr>
          <a:xfrm>
            <a:off x="601297" y="2884781"/>
            <a:ext cx="3200299" cy="3761461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45BF45B-303C-AB6F-4C4C-854D22BA3D1F}"/>
              </a:ext>
            </a:extLst>
          </p:cNvPr>
          <p:cNvSpPr/>
          <p:nvPr/>
        </p:nvSpPr>
        <p:spPr>
          <a:xfrm>
            <a:off x="654630" y="2948385"/>
            <a:ext cx="3087257" cy="9486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953F9A8-B990-C434-C0DC-1C64FF1A4F0B}"/>
              </a:ext>
            </a:extLst>
          </p:cNvPr>
          <p:cNvSpPr/>
          <p:nvPr/>
        </p:nvSpPr>
        <p:spPr>
          <a:xfrm>
            <a:off x="608728" y="3838797"/>
            <a:ext cx="3188940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987B8A7-5DF3-CD39-3C76-95CBEADDAA60}"/>
              </a:ext>
            </a:extLst>
          </p:cNvPr>
          <p:cNvSpPr/>
          <p:nvPr/>
        </p:nvSpPr>
        <p:spPr>
          <a:xfrm>
            <a:off x="794464" y="3018582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2B34CE8-A7EF-3810-91F1-2549456065E9}"/>
              </a:ext>
            </a:extLst>
          </p:cNvPr>
          <p:cNvSpPr txBox="1"/>
          <p:nvPr/>
        </p:nvSpPr>
        <p:spPr>
          <a:xfrm>
            <a:off x="880647" y="3049042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4</a:t>
            </a:r>
            <a:endParaRPr lang="en-US" sz="1000" dirty="0">
              <a:latin typeface="+mn-ea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F9E27AA-3E99-4941-3632-5F87E3047960}"/>
              </a:ext>
            </a:extLst>
          </p:cNvPr>
          <p:cNvSpPr txBox="1"/>
          <p:nvPr/>
        </p:nvSpPr>
        <p:spPr>
          <a:xfrm>
            <a:off x="1147366" y="3046326"/>
            <a:ext cx="1549422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+mn-ea"/>
              </a:rPr>
              <a:t>워크플로우 검증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531AC88-64C4-1810-59EB-B6DA049AB4E7}"/>
              </a:ext>
            </a:extLst>
          </p:cNvPr>
          <p:cNvSpPr/>
          <p:nvPr/>
        </p:nvSpPr>
        <p:spPr>
          <a:xfrm>
            <a:off x="608728" y="3846230"/>
            <a:ext cx="3188940" cy="28129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FE4A22E9-5559-D593-5A53-832B012E6D8E}"/>
              </a:ext>
            </a:extLst>
          </p:cNvPr>
          <p:cNvSpPr/>
          <p:nvPr/>
        </p:nvSpPr>
        <p:spPr>
          <a:xfrm>
            <a:off x="666915" y="3983577"/>
            <a:ext cx="30088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ADC438F-EB97-F8FA-3D97-4E195C7DDE7F}"/>
              </a:ext>
            </a:extLst>
          </p:cNvPr>
          <p:cNvSpPr txBox="1"/>
          <p:nvPr/>
        </p:nvSpPr>
        <p:spPr>
          <a:xfrm>
            <a:off x="682520" y="3366512"/>
            <a:ext cx="3087257" cy="32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우측 미리보기 패널에서 실행 결과를 즉시 확인합니다.</a:t>
            </a:r>
          </a:p>
          <a:p>
            <a:r>
              <a:rPr lang="ko-KR" alt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실행 경로와 노드별 소요시간을 확인할 수 있습니다.</a:t>
            </a:r>
            <a:endParaRPr lang="en-US" altLang="ko-KR" sz="1000" dirty="0">
              <a:solidFill>
                <a:srgbClr val="4B5563"/>
              </a:solidFill>
              <a:latin typeface="+mn-ea"/>
              <a:cs typeface="Noto Sans KR" pitchFamily="34" charset="-120"/>
            </a:endParaRPr>
          </a:p>
          <a:p>
            <a:r>
              <a:rPr lang="en-US" altLang="ko-KR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*</a:t>
            </a:r>
            <a:r>
              <a:rPr lang="ko-KR" alt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검증에 실패하는 경우 에이전트는 </a:t>
            </a:r>
            <a:r>
              <a:rPr lang="ko-KR" altLang="en-US" sz="1000" dirty="0" smtClean="0">
                <a:solidFill>
                  <a:srgbClr val="4B5563"/>
                </a:solidFill>
                <a:latin typeface="+mn-ea"/>
                <a:cs typeface="Noto Sans KR" pitchFamily="34" charset="-120"/>
              </a:rPr>
              <a:t>저장되지 </a:t>
            </a:r>
            <a:r>
              <a:rPr lang="ko-KR" altLang="en-US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않습니다</a:t>
            </a:r>
            <a:r>
              <a:rPr lang="en-US" altLang="ko-KR" sz="10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.</a:t>
            </a:r>
            <a:endParaRPr lang="ko-KR" altLang="en-US" sz="1000" dirty="0">
              <a:solidFill>
                <a:srgbClr val="4B5563"/>
              </a:solidFill>
              <a:latin typeface="+mn-ea"/>
              <a:cs typeface="Noto Sans KR" pitchFamily="34" charset="-120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3173121D-4EDE-3979-216B-D9831F42D3DA}"/>
              </a:ext>
            </a:extLst>
          </p:cNvPr>
          <p:cNvSpPr/>
          <p:nvPr/>
        </p:nvSpPr>
        <p:spPr>
          <a:xfrm>
            <a:off x="3956889" y="2877351"/>
            <a:ext cx="3088085" cy="3790368"/>
          </a:xfrm>
          <a:prstGeom prst="roundRect">
            <a:avLst>
              <a:gd name="adj" fmla="val 8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E677DF85-8940-51BD-7799-EA9271813158}"/>
              </a:ext>
            </a:extLst>
          </p:cNvPr>
          <p:cNvSpPr/>
          <p:nvPr/>
        </p:nvSpPr>
        <p:spPr>
          <a:xfrm>
            <a:off x="3964321" y="2930500"/>
            <a:ext cx="3077124" cy="9243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A6D4D3AA-9FDE-68FD-74A7-EADF4BF2FCC1}"/>
              </a:ext>
            </a:extLst>
          </p:cNvPr>
          <p:cNvSpPr/>
          <p:nvPr/>
        </p:nvSpPr>
        <p:spPr>
          <a:xfrm>
            <a:off x="3964321" y="3860273"/>
            <a:ext cx="3077124" cy="4571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CD5F1D3B-30C9-ACD5-2E60-3EE60AF10454}"/>
              </a:ext>
            </a:extLst>
          </p:cNvPr>
          <p:cNvSpPr txBox="1"/>
          <p:nvPr/>
        </p:nvSpPr>
        <p:spPr>
          <a:xfrm>
            <a:off x="4236240" y="3070518"/>
            <a:ext cx="120037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b="1" dirty="0">
                <a:solidFill>
                  <a:srgbClr val="FFFFFF"/>
                </a:solidFill>
                <a:latin typeface="+mn-ea"/>
              </a:rPr>
              <a:t>2</a:t>
            </a:r>
            <a:endParaRPr lang="en-US" sz="975" dirty="0">
              <a:latin typeface="+mn-ea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792CF809-9B8C-2C2F-E617-36842BB3E1E6}"/>
              </a:ext>
            </a:extLst>
          </p:cNvPr>
          <p:cNvSpPr txBox="1"/>
          <p:nvPr/>
        </p:nvSpPr>
        <p:spPr>
          <a:xfrm>
            <a:off x="4419726" y="3067780"/>
            <a:ext cx="1648326" cy="2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+mn-ea"/>
              </a:rPr>
              <a:t>저장</a:t>
            </a:r>
            <a:r>
              <a:rPr lang="en-US" altLang="ko-KR" sz="1200" b="1" dirty="0">
                <a:latin typeface="+mn-ea"/>
              </a:rPr>
              <a:t>/</a:t>
            </a:r>
            <a:r>
              <a:rPr lang="ko-KR" altLang="en-US" sz="1200" b="1" dirty="0">
                <a:latin typeface="+mn-ea"/>
              </a:rPr>
              <a:t>게시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D3AFF683-F9C8-A194-1B65-9ACFDC4BBA77}"/>
              </a:ext>
            </a:extLst>
          </p:cNvPr>
          <p:cNvSpPr/>
          <p:nvPr/>
        </p:nvSpPr>
        <p:spPr>
          <a:xfrm>
            <a:off x="3964321" y="3867706"/>
            <a:ext cx="3077124" cy="28129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729CEAE0-1645-DFFA-4037-59A4C41FE9C8}"/>
              </a:ext>
            </a:extLst>
          </p:cNvPr>
          <p:cNvSpPr/>
          <p:nvPr/>
        </p:nvSpPr>
        <p:spPr>
          <a:xfrm>
            <a:off x="4043282" y="4010650"/>
            <a:ext cx="2903331" cy="250736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352ED14F-2EF7-50EA-27D8-7BBB85879C87}"/>
              </a:ext>
            </a:extLst>
          </p:cNvPr>
          <p:cNvSpPr txBox="1"/>
          <p:nvPr/>
        </p:nvSpPr>
        <p:spPr>
          <a:xfrm>
            <a:off x="4216574" y="3395559"/>
            <a:ext cx="3024845" cy="32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최종 동작 확인 후 버전을 </a:t>
            </a:r>
            <a:r>
              <a:rPr lang="en-US" altLang="ko-KR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ko-KR" altLang="en-US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저장</a:t>
            </a:r>
            <a:r>
              <a:rPr lang="en-US" altLang="ko-KR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]</a:t>
            </a:r>
            <a:r>
              <a:rPr lang="ko-KR" altLang="en-US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하고 </a:t>
            </a:r>
            <a:endParaRPr lang="en-US" altLang="ko-KR" sz="1050" dirty="0">
              <a:solidFill>
                <a:srgbClr val="4B5563"/>
              </a:solidFill>
              <a:latin typeface="+mn-ea"/>
              <a:cs typeface="Noto Sans KR" pitchFamily="34" charset="-120"/>
            </a:endParaRPr>
          </a:p>
          <a:p>
            <a:r>
              <a:rPr lang="ko-KR" altLang="en-US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에이전트를 </a:t>
            </a:r>
            <a:r>
              <a:rPr lang="en-US" altLang="ko-KR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[</a:t>
            </a:r>
            <a:r>
              <a:rPr lang="ko-KR" altLang="en-US" sz="1050" b="1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게시</a:t>
            </a:r>
            <a:r>
              <a:rPr lang="en-US" altLang="ko-KR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]</a:t>
            </a:r>
            <a:r>
              <a:rPr lang="ko-KR" altLang="en-US" sz="105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합니다.</a:t>
            </a:r>
          </a:p>
          <a:p>
            <a:r>
              <a:rPr lang="en-US" altLang="ko-KR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*</a:t>
            </a:r>
            <a:r>
              <a:rPr lang="ko-KR" altLang="en-US" sz="900" dirty="0">
                <a:solidFill>
                  <a:srgbClr val="4B5563"/>
                </a:solidFill>
                <a:latin typeface="+mn-ea"/>
                <a:cs typeface="Noto Sans KR" pitchFamily="34" charset="-120"/>
              </a:rPr>
              <a:t>에이전트 게시 범위는 나만 사용, 수업에 공유 중 선택 가능합니다.</a:t>
            </a:r>
          </a:p>
          <a:p>
            <a:endParaRPr lang="en-US" altLang="ko-KR" sz="1000" dirty="0">
              <a:latin typeface="+mn-ea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778CE676-248D-2A82-BBD4-8BE232EF718E}"/>
              </a:ext>
            </a:extLst>
          </p:cNvPr>
          <p:cNvSpPr/>
          <p:nvPr/>
        </p:nvSpPr>
        <p:spPr>
          <a:xfrm>
            <a:off x="4122960" y="3037320"/>
            <a:ext cx="225014" cy="244177"/>
          </a:xfrm>
          <a:prstGeom prst="roundRect">
            <a:avLst>
              <a:gd name="adj" fmla="val 75075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6B6D4">
                <a:alpha val="30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BF89FB14-F260-3BE7-F001-216A9E6ACEDA}"/>
              </a:ext>
            </a:extLst>
          </p:cNvPr>
          <p:cNvSpPr txBox="1"/>
          <p:nvPr/>
        </p:nvSpPr>
        <p:spPr>
          <a:xfrm>
            <a:off x="4209143" y="3067780"/>
            <a:ext cx="124400" cy="18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FFFFFF"/>
                </a:solidFill>
                <a:latin typeface="+mn-ea"/>
              </a:rPr>
              <a:t>5</a:t>
            </a:r>
            <a:endParaRPr lang="en-US" sz="1000" dirty="0">
              <a:latin typeface="+mn-ea"/>
            </a:endParaRPr>
          </a:p>
        </p:txBody>
      </p:sp>
      <p:sp>
        <p:nvSpPr>
          <p:cNvPr id="36" name="Shape 58">
            <a:extLst>
              <a:ext uri="{FF2B5EF4-FFF2-40B4-BE49-F238E27FC236}">
                <a16:creationId xmlns:a16="http://schemas.microsoft.com/office/drawing/2014/main" id="{48F3BF3D-8929-7E9A-B75C-FEF71D2B4ABF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37" name="Text 59">
            <a:extLst>
              <a:ext uri="{FF2B5EF4-FFF2-40B4-BE49-F238E27FC236}">
                <a16:creationId xmlns:a16="http://schemas.microsoft.com/office/drawing/2014/main" id="{622E220B-265B-C1AB-9B5C-0FC277F9C1D9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42</a:t>
            </a:r>
            <a:endParaRPr lang="en-US" sz="1000" dirty="0">
              <a:latin typeface="+mn-ea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80EB2E7-2F96-EA57-E9F0-D1071547063A}"/>
              </a:ext>
            </a:extLst>
          </p:cNvPr>
          <p:cNvSpPr txBox="1"/>
          <p:nvPr/>
        </p:nvSpPr>
        <p:spPr>
          <a:xfrm>
            <a:off x="631107" y="1294685"/>
            <a:ext cx="560957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000" b="1" dirty="0">
                <a:latin typeface="+mj-ea"/>
                <a:ea typeface="+mj-ea"/>
              </a:rPr>
              <a:t>워크플로우 설계 핵심 단계</a:t>
            </a:r>
            <a:r>
              <a:rPr lang="en-US" altLang="ko-KR" sz="2000" b="1" dirty="0">
                <a:latin typeface="+mj-ea"/>
                <a:ea typeface="+mj-ea"/>
              </a:rPr>
              <a:t>(2/2)</a:t>
            </a:r>
            <a:endParaRPr lang="en-US" sz="2000" b="1" dirty="0">
              <a:latin typeface="+mj-ea"/>
              <a:ea typeface="+mj-ea"/>
            </a:endParaRPr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6A2817C3-045E-0502-54F2-8B3F23E504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97" b="-97"/>
          <a:stretch/>
        </p:blipFill>
        <p:spPr>
          <a:xfrm>
            <a:off x="576196" y="1737292"/>
            <a:ext cx="571500" cy="4846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2E63FBED-15B9-2F57-006A-0FFA3277A3AF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87282" y="4095379"/>
            <a:ext cx="2520000" cy="2340000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71953715-CC97-86DD-FE55-FDFACB788A77}"/>
              </a:ext>
            </a:extLst>
          </p:cNvPr>
          <p:cNvSpPr/>
          <p:nvPr/>
        </p:nvSpPr>
        <p:spPr>
          <a:xfrm>
            <a:off x="880647" y="4095379"/>
            <a:ext cx="106635" cy="111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4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387506D-94C8-6783-5AC2-76CF673DCB2A}"/>
              </a:ext>
            </a:extLst>
          </p:cNvPr>
          <p:cNvSpPr/>
          <p:nvPr/>
        </p:nvSpPr>
        <p:spPr>
          <a:xfrm>
            <a:off x="1005047" y="4105809"/>
            <a:ext cx="2520000" cy="234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2E688BFC-DF7F-70AD-7F2F-6A8B7ADC68ED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234947" y="4087331"/>
            <a:ext cx="2520000" cy="2340000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2DDC0958-6618-C5AD-D750-62C24DBE20B6}"/>
              </a:ext>
            </a:extLst>
          </p:cNvPr>
          <p:cNvSpPr/>
          <p:nvPr/>
        </p:nvSpPr>
        <p:spPr>
          <a:xfrm>
            <a:off x="4117979" y="4888140"/>
            <a:ext cx="106635" cy="1102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5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68BA49D-258A-9F96-5B1F-0589917BEC2B}"/>
              </a:ext>
            </a:extLst>
          </p:cNvPr>
          <p:cNvSpPr/>
          <p:nvPr/>
        </p:nvSpPr>
        <p:spPr>
          <a:xfrm>
            <a:off x="4242379" y="4898570"/>
            <a:ext cx="2520000" cy="15472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0138E915-60B6-00E9-0C72-4D240D0288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0" b="-180"/>
          <a:stretch/>
        </p:blipFill>
        <p:spPr>
          <a:xfrm>
            <a:off x="6641210" y="6223206"/>
            <a:ext cx="95098" cy="15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274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"/>
          <p:cNvSpPr/>
          <p:nvPr/>
        </p:nvSpPr>
        <p:spPr>
          <a:xfrm>
            <a:off x="6136498" y="4158373"/>
            <a:ext cx="3632976" cy="1062507"/>
          </a:xfrm>
          <a:prstGeom prst="roundRect">
            <a:avLst>
              <a:gd name="adj" fmla="val 578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46" name="Shape 4"/>
          <p:cNvSpPr/>
          <p:nvPr/>
        </p:nvSpPr>
        <p:spPr>
          <a:xfrm>
            <a:off x="6147586" y="2688018"/>
            <a:ext cx="3632976" cy="1308694"/>
          </a:xfrm>
          <a:prstGeom prst="roundRect">
            <a:avLst>
              <a:gd name="adj" fmla="val 578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1462" dirty="0">
              <a:latin typeface="+mn-ea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18530" y="1275402"/>
            <a:ext cx="10295989" cy="334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내 에이전트 관리</a:t>
            </a:r>
            <a:endParaRPr lang="en-US" sz="2000" dirty="0">
              <a:latin typeface="+mn-ea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691568" y="1936033"/>
            <a:ext cx="10195708" cy="23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생성한 에이전트의 목록을 확인하고, 수정, 공유, 삭제 등 전반적인 </a:t>
            </a:r>
            <a:r>
              <a:rPr lang="en-US" sz="1100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관리 작업</a:t>
            </a:r>
            <a:r>
              <a:rPr lang="en-US" sz="1100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을 수행합니다.</a:t>
            </a:r>
            <a:endParaRPr lang="en-US" sz="1100" dirty="0">
              <a:latin typeface="+mn-ea"/>
            </a:endParaRPr>
          </a:p>
        </p:txBody>
      </p:sp>
      <p:sp>
        <p:nvSpPr>
          <p:cNvPr id="52" name="Text 31"/>
          <p:cNvSpPr txBox="1"/>
          <p:nvPr/>
        </p:nvSpPr>
        <p:spPr>
          <a:xfrm>
            <a:off x="312476" y="6134006"/>
            <a:ext cx="5649396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90" i="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▲ 나의 에이전트 목록 화면 예시</a:t>
            </a:r>
            <a:endParaRPr lang="en-US" sz="790" dirty="0">
              <a:latin typeface="+mn-ea"/>
            </a:endParaRPr>
          </a:p>
        </p:txBody>
      </p:sp>
      <p:sp>
        <p:nvSpPr>
          <p:cNvPr id="53" name="Shape 32"/>
          <p:cNvSpPr/>
          <p:nvPr/>
        </p:nvSpPr>
        <p:spPr>
          <a:xfrm>
            <a:off x="6147589" y="2777013"/>
            <a:ext cx="3456451" cy="1187325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33"/>
          <p:cNvSpPr/>
          <p:nvPr/>
        </p:nvSpPr>
        <p:spPr>
          <a:xfrm>
            <a:off x="6147586" y="2744123"/>
            <a:ext cx="33694" cy="1286798"/>
          </a:xfrm>
          <a:prstGeom prst="roundRect">
            <a:avLst>
              <a:gd name="adj" fmla="val 24737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34"/>
          <p:cNvSpPr txBox="1"/>
          <p:nvPr/>
        </p:nvSpPr>
        <p:spPr>
          <a:xfrm>
            <a:off x="6515013" y="2777014"/>
            <a:ext cx="4020040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3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화면 구성 요소 </a:t>
            </a:r>
            <a:endParaRPr lang="en-US" sz="1053" dirty="0">
              <a:latin typeface="+mn-ea"/>
            </a:endParaRPr>
          </a:p>
        </p:txBody>
      </p:sp>
      <p:pic>
        <p:nvPicPr>
          <p:cNvPr id="56" name="Image 19" descr="preencoded.png"/>
          <p:cNvPicPr>
            <a:picLocks noChangeAspect="1"/>
          </p:cNvPicPr>
          <p:nvPr/>
        </p:nvPicPr>
        <p:blipFill>
          <a:blip r:embed="rId3"/>
          <a:srcRect t="-20060" b="-20060"/>
          <a:stretch/>
        </p:blipFill>
        <p:spPr>
          <a:xfrm>
            <a:off x="6314456" y="2793866"/>
            <a:ext cx="133975" cy="166866"/>
          </a:xfrm>
          <a:prstGeom prst="rect">
            <a:avLst/>
          </a:prstGeom>
        </p:spPr>
      </p:pic>
      <p:sp>
        <p:nvSpPr>
          <p:cNvPr id="57" name="Text 35"/>
          <p:cNvSpPr txBox="1"/>
          <p:nvPr/>
        </p:nvSpPr>
        <p:spPr>
          <a:xfrm>
            <a:off x="6465274" y="3044967"/>
            <a:ext cx="2567178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내 에이전트 탭:</a:t>
            </a:r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생성한 에이전트 전체 목록</a:t>
            </a:r>
            <a:endParaRPr lang="en-US" sz="878" dirty="0">
              <a:latin typeface="+mn-ea"/>
            </a:endParaRPr>
          </a:p>
        </p:txBody>
      </p:sp>
      <p:sp>
        <p:nvSpPr>
          <p:cNvPr id="58" name="Text 36"/>
          <p:cNvSpPr txBox="1"/>
          <p:nvPr/>
        </p:nvSpPr>
        <p:spPr>
          <a:xfrm>
            <a:off x="6465276" y="3295268"/>
            <a:ext cx="2373035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수업 공유 탭:</a:t>
            </a:r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훈련생과 공유된 에이전트</a:t>
            </a:r>
            <a:endParaRPr lang="en-US" sz="878" dirty="0">
              <a:latin typeface="+mn-ea"/>
            </a:endParaRPr>
          </a:p>
        </p:txBody>
      </p:sp>
      <p:sp>
        <p:nvSpPr>
          <p:cNvPr id="59" name="Text 37"/>
          <p:cNvSpPr txBox="1"/>
          <p:nvPr/>
        </p:nvSpPr>
        <p:spPr>
          <a:xfrm>
            <a:off x="6465275" y="3546369"/>
            <a:ext cx="2353782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검색 &amp; 필터:</a:t>
            </a:r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이름 검색, 상태별 필터링</a:t>
            </a:r>
            <a:endParaRPr lang="en-US" sz="878" dirty="0">
              <a:latin typeface="+mn-ea"/>
            </a:endParaRPr>
          </a:p>
        </p:txBody>
      </p:sp>
      <p:sp>
        <p:nvSpPr>
          <p:cNvPr id="60" name="Text 38"/>
          <p:cNvSpPr txBox="1"/>
          <p:nvPr/>
        </p:nvSpPr>
        <p:spPr>
          <a:xfrm>
            <a:off x="6465278" y="3796669"/>
            <a:ext cx="2206970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+ 새 에이전트:</a:t>
            </a:r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생성 마법사 바로가기</a:t>
            </a:r>
            <a:endParaRPr lang="en-US" sz="878" dirty="0">
              <a:latin typeface="+mn-ea"/>
            </a:endParaRPr>
          </a:p>
        </p:txBody>
      </p:sp>
      <p:sp>
        <p:nvSpPr>
          <p:cNvPr id="61" name="Shape 39"/>
          <p:cNvSpPr/>
          <p:nvPr/>
        </p:nvSpPr>
        <p:spPr>
          <a:xfrm>
            <a:off x="6147592" y="4173720"/>
            <a:ext cx="3513243" cy="992608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40"/>
          <p:cNvSpPr/>
          <p:nvPr/>
        </p:nvSpPr>
        <p:spPr>
          <a:xfrm>
            <a:off x="6147589" y="4157677"/>
            <a:ext cx="33694" cy="1036499"/>
          </a:xfrm>
          <a:prstGeom prst="roundRect">
            <a:avLst>
              <a:gd name="adj" fmla="val 307218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41"/>
          <p:cNvSpPr txBox="1"/>
          <p:nvPr/>
        </p:nvSpPr>
        <p:spPr>
          <a:xfrm>
            <a:off x="6515016" y="4190568"/>
            <a:ext cx="4020040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3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에이전트 카드 정보 </a:t>
            </a:r>
            <a:endParaRPr lang="en-US" sz="1053" dirty="0">
              <a:latin typeface="+mn-ea"/>
            </a:endParaRPr>
          </a:p>
        </p:txBody>
      </p:sp>
      <p:pic>
        <p:nvPicPr>
          <p:cNvPr id="64" name="Image 20" descr="preencoded.png"/>
          <p:cNvPicPr>
            <a:picLocks noChangeAspect="1"/>
          </p:cNvPicPr>
          <p:nvPr/>
        </p:nvPicPr>
        <p:blipFill>
          <a:blip r:embed="rId4"/>
          <a:srcRect t="-20060" b="-20060"/>
          <a:stretch/>
        </p:blipFill>
        <p:spPr>
          <a:xfrm>
            <a:off x="6314459" y="4207419"/>
            <a:ext cx="133975" cy="166866"/>
          </a:xfrm>
          <a:prstGeom prst="rect">
            <a:avLst/>
          </a:prstGeom>
        </p:spPr>
      </p:pic>
      <p:sp>
        <p:nvSpPr>
          <p:cNvPr id="65" name="Text 42"/>
          <p:cNvSpPr txBox="1"/>
          <p:nvPr/>
        </p:nvSpPr>
        <p:spPr>
          <a:xfrm>
            <a:off x="6465280" y="4458521"/>
            <a:ext cx="2401916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이름 &amp; 설명:</a:t>
            </a:r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용도와 기능을 한눈에 파악</a:t>
            </a:r>
            <a:endParaRPr lang="en-US" sz="878" dirty="0">
              <a:latin typeface="+mn-ea"/>
            </a:endParaRPr>
          </a:p>
        </p:txBody>
      </p:sp>
      <p:sp>
        <p:nvSpPr>
          <p:cNvPr id="66" name="Text 43"/>
          <p:cNvSpPr txBox="1"/>
          <p:nvPr/>
        </p:nvSpPr>
        <p:spPr>
          <a:xfrm>
            <a:off x="6465281" y="4708820"/>
            <a:ext cx="2605685" cy="16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상태 표시:</a:t>
            </a:r>
            <a:r>
              <a:rPr lang="en-US" sz="790" b="1" dirty="0">
                <a:solidFill>
                  <a:srgbClr val="16A34A"/>
                </a:solidFill>
                <a:latin typeface="+mn-ea"/>
                <a:cs typeface="Noto Sans KR" pitchFamily="34" charset="-120"/>
              </a:rPr>
              <a:t>활성화</a:t>
            </a:r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(활성), </a:t>
            </a:r>
            <a:r>
              <a:rPr lang="en-US" sz="79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임시저장</a:t>
            </a:r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(초안)</a:t>
            </a:r>
            <a:endParaRPr lang="en-US" sz="878" dirty="0">
              <a:latin typeface="+mn-ea"/>
            </a:endParaRPr>
          </a:p>
        </p:txBody>
      </p:sp>
      <p:sp>
        <p:nvSpPr>
          <p:cNvPr id="67" name="Text 44"/>
          <p:cNvSpPr txBox="1"/>
          <p:nvPr/>
        </p:nvSpPr>
        <p:spPr>
          <a:xfrm>
            <a:off x="6465281" y="4959924"/>
            <a:ext cx="2401915" cy="1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8" b="1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수정일:</a:t>
            </a:r>
            <a:r>
              <a:rPr lang="en-US" sz="878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 마지막 수정 날짜, 노드 수, 스킬 태그 표시</a:t>
            </a:r>
            <a:endParaRPr lang="en-US" sz="878" dirty="0">
              <a:latin typeface="+mn-ea"/>
            </a:endParaRPr>
          </a:p>
        </p:txBody>
      </p:sp>
      <p:sp>
        <p:nvSpPr>
          <p:cNvPr id="68" name="Shape 45"/>
          <p:cNvSpPr/>
          <p:nvPr/>
        </p:nvSpPr>
        <p:spPr>
          <a:xfrm>
            <a:off x="6147586" y="5390954"/>
            <a:ext cx="3927966" cy="1320492"/>
          </a:xfrm>
          <a:prstGeom prst="roundRect">
            <a:avLst>
              <a:gd name="adj" fmla="val 92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46"/>
          <p:cNvSpPr txBox="1"/>
          <p:nvPr/>
        </p:nvSpPr>
        <p:spPr>
          <a:xfrm>
            <a:off x="6465281" y="5533752"/>
            <a:ext cx="3919760" cy="20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3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 관리 기능 </a:t>
            </a:r>
            <a:endParaRPr lang="en-US" sz="1053" dirty="0">
              <a:latin typeface="+mn-ea"/>
            </a:endParaRPr>
          </a:p>
        </p:txBody>
      </p:sp>
      <p:pic>
        <p:nvPicPr>
          <p:cNvPr id="70" name="Image 21" descr="preencoded.png"/>
          <p:cNvPicPr>
            <a:picLocks noChangeAspect="1"/>
          </p:cNvPicPr>
          <p:nvPr/>
        </p:nvPicPr>
        <p:blipFill>
          <a:blip r:embed="rId5"/>
          <a:srcRect t="-21233" b="-21233"/>
          <a:stretch/>
        </p:blipFill>
        <p:spPr>
          <a:xfrm>
            <a:off x="6289580" y="5549800"/>
            <a:ext cx="117127" cy="166866"/>
          </a:xfrm>
          <a:prstGeom prst="rect">
            <a:avLst/>
          </a:prstGeom>
        </p:spPr>
      </p:pic>
      <p:sp>
        <p:nvSpPr>
          <p:cNvPr id="71" name="Shape 47"/>
          <p:cNvSpPr/>
          <p:nvPr/>
        </p:nvSpPr>
        <p:spPr>
          <a:xfrm>
            <a:off x="6289579" y="5834592"/>
            <a:ext cx="200562" cy="200562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40123" y="5884334"/>
            <a:ext cx="100280" cy="100280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6557531" y="5867489"/>
            <a:ext cx="44364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대화</a:t>
            </a:r>
            <a:endParaRPr lang="en-US" sz="790" dirty="0">
              <a:latin typeface="+mn-ea"/>
            </a:endParaRPr>
          </a:p>
        </p:txBody>
      </p:sp>
      <p:sp>
        <p:nvSpPr>
          <p:cNvPr id="74" name="Shape 49"/>
          <p:cNvSpPr/>
          <p:nvPr/>
        </p:nvSpPr>
        <p:spPr>
          <a:xfrm>
            <a:off x="8271921" y="5834592"/>
            <a:ext cx="200562" cy="200562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23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8325674" y="5884334"/>
            <a:ext cx="92258" cy="100280"/>
          </a:xfrm>
          <a:prstGeom prst="rect">
            <a:avLst/>
          </a:prstGeom>
        </p:spPr>
      </p:pic>
      <p:sp>
        <p:nvSpPr>
          <p:cNvPr id="76" name="Text 50"/>
          <p:cNvSpPr txBox="1"/>
          <p:nvPr/>
        </p:nvSpPr>
        <p:spPr>
          <a:xfrm>
            <a:off x="8539074" y="5867489"/>
            <a:ext cx="44364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노드편집</a:t>
            </a:r>
            <a:endParaRPr lang="en-US" sz="790" dirty="0">
              <a:latin typeface="+mn-ea"/>
            </a:endParaRPr>
          </a:p>
        </p:txBody>
      </p:sp>
      <p:sp>
        <p:nvSpPr>
          <p:cNvPr id="77" name="Shape 51"/>
          <p:cNvSpPr/>
          <p:nvPr/>
        </p:nvSpPr>
        <p:spPr>
          <a:xfrm>
            <a:off x="6289579" y="6101739"/>
            <a:ext cx="200562" cy="200562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8" name="Image 2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340123" y="6151481"/>
            <a:ext cx="100280" cy="100280"/>
          </a:xfrm>
          <a:prstGeom prst="rect">
            <a:avLst/>
          </a:prstGeom>
        </p:spPr>
      </p:pic>
      <p:sp>
        <p:nvSpPr>
          <p:cNvPr id="79" name="Text 52"/>
          <p:cNvSpPr txBox="1"/>
          <p:nvPr/>
        </p:nvSpPr>
        <p:spPr>
          <a:xfrm>
            <a:off x="6557532" y="6135437"/>
            <a:ext cx="437033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공유하기</a:t>
            </a:r>
            <a:endParaRPr lang="en-US" sz="790" dirty="0">
              <a:latin typeface="+mn-ea"/>
            </a:endParaRPr>
          </a:p>
        </p:txBody>
      </p:sp>
      <p:sp>
        <p:nvSpPr>
          <p:cNvPr id="80" name="Shape 53"/>
          <p:cNvSpPr/>
          <p:nvPr/>
        </p:nvSpPr>
        <p:spPr>
          <a:xfrm>
            <a:off x="8271921" y="6101739"/>
            <a:ext cx="200562" cy="200562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9"/>
          <a:srcRect l="-1911" r="-1911"/>
          <a:stretch/>
        </p:blipFill>
        <p:spPr>
          <a:xfrm>
            <a:off x="8313638" y="6151481"/>
            <a:ext cx="117127" cy="100280"/>
          </a:xfrm>
          <a:prstGeom prst="rect">
            <a:avLst/>
          </a:prstGeom>
        </p:spPr>
      </p:pic>
      <p:sp>
        <p:nvSpPr>
          <p:cNvPr id="82" name="Text 54"/>
          <p:cNvSpPr txBox="1"/>
          <p:nvPr/>
        </p:nvSpPr>
        <p:spPr>
          <a:xfrm>
            <a:off x="8539072" y="6135437"/>
            <a:ext cx="493379" cy="13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공유 중지</a:t>
            </a:r>
            <a:endParaRPr lang="en-US" sz="790" dirty="0">
              <a:latin typeface="+mn-ea"/>
            </a:endParaRPr>
          </a:p>
        </p:txBody>
      </p:sp>
      <p:sp>
        <p:nvSpPr>
          <p:cNvPr id="83" name="Shape 55"/>
          <p:cNvSpPr/>
          <p:nvPr/>
        </p:nvSpPr>
        <p:spPr>
          <a:xfrm>
            <a:off x="6289579" y="6368887"/>
            <a:ext cx="200562" cy="200562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4" name="Image 26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6344134" y="6419431"/>
            <a:ext cx="92258" cy="100280"/>
          </a:xfrm>
          <a:prstGeom prst="rect">
            <a:avLst/>
          </a:prstGeom>
        </p:spPr>
      </p:pic>
      <p:sp>
        <p:nvSpPr>
          <p:cNvPr id="85" name="Text 56"/>
          <p:cNvSpPr txBox="1"/>
          <p:nvPr/>
        </p:nvSpPr>
        <p:spPr>
          <a:xfrm>
            <a:off x="6557531" y="6398573"/>
            <a:ext cx="893699" cy="1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0" b="1" dirty="0">
                <a:solidFill>
                  <a:srgbClr val="334155"/>
                </a:solidFill>
                <a:latin typeface="+mn-ea"/>
                <a:cs typeface="Noto Sans KR" pitchFamily="34" charset="-120"/>
              </a:rPr>
              <a:t>비활성화</a:t>
            </a:r>
            <a:r>
              <a:rPr lang="en-US" sz="702" b="1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삭제</a:t>
            </a:r>
            <a:endParaRPr lang="en-US" sz="790" dirty="0">
              <a:latin typeface="+mn-ea"/>
            </a:endParaRPr>
          </a:p>
        </p:txBody>
      </p:sp>
      <p:sp>
        <p:nvSpPr>
          <p:cNvPr id="86" name="Text 57"/>
          <p:cNvSpPr txBox="1"/>
          <p:nvPr/>
        </p:nvSpPr>
        <p:spPr>
          <a:xfrm>
            <a:off x="6770125" y="6406595"/>
            <a:ext cx="503007" cy="125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02" dirty="0">
              <a:latin typeface="+mn-ea"/>
            </a:endParaRPr>
          </a:p>
        </p:txBody>
      </p:sp>
      <p:sp>
        <p:nvSpPr>
          <p:cNvPr id="88" name="Text 41">
            <a:extLst>
              <a:ext uri="{FF2B5EF4-FFF2-40B4-BE49-F238E27FC236}">
                <a16:creationId xmlns:a16="http://schemas.microsoft.com/office/drawing/2014/main" id="{E9893F88-551D-9480-E816-5BE6C8E3D510}"/>
              </a:ext>
            </a:extLst>
          </p:cNvPr>
          <p:cNvSpPr txBox="1"/>
          <p:nvPr/>
        </p:nvSpPr>
        <p:spPr>
          <a:xfrm>
            <a:off x="5508838" y="523311"/>
            <a:ext cx="4628603" cy="29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Part 3. </a:t>
            </a:r>
            <a:r>
              <a:rPr lang="ko-KR" altLang="en-US" sz="14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단계별 AI 학습</a:t>
            </a:r>
            <a:r>
              <a:rPr lang="en-US" altLang="ko-KR" sz="14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 &gt; Step 6. </a:t>
            </a:r>
            <a:r>
              <a:rPr lang="ko-KR" altLang="en-US" sz="14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에이전트 </a:t>
            </a:r>
            <a:r>
              <a:rPr lang="ko-KR" altLang="en-US" sz="14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빌더</a:t>
            </a:r>
            <a:endParaRPr lang="en-US" altLang="ko-KR" sz="1400" dirty="0">
              <a:latin typeface="+mn-ea"/>
            </a:endParaRPr>
          </a:p>
        </p:txBody>
      </p:sp>
      <p:sp>
        <p:nvSpPr>
          <p:cNvPr id="89" name="Shape 0">
            <a:extLst>
              <a:ext uri="{FF2B5EF4-FFF2-40B4-BE49-F238E27FC236}">
                <a16:creationId xmlns:a16="http://schemas.microsoft.com/office/drawing/2014/main" id="{280D5005-6638-6968-4435-FC81F11A48FB}"/>
              </a:ext>
            </a:extLst>
          </p:cNvPr>
          <p:cNvSpPr/>
          <p:nvPr/>
        </p:nvSpPr>
        <p:spPr>
          <a:xfrm>
            <a:off x="362694" y="1060449"/>
            <a:ext cx="990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288" dirty="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8F7003A-07ED-2737-60D1-BAF07A75C9ED}"/>
              </a:ext>
            </a:extLst>
          </p:cNvPr>
          <p:cNvSpPr txBox="1"/>
          <p:nvPr/>
        </p:nvSpPr>
        <p:spPr>
          <a:xfrm>
            <a:off x="552224" y="386027"/>
            <a:ext cx="495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F172A"/>
                </a:solidFill>
                <a:latin typeface="+mn-ea"/>
              </a:rPr>
              <a:t>GrowFit</a:t>
            </a:r>
            <a:endParaRPr lang="ko-KR" altLang="en-US" sz="1517" dirty="0">
              <a:latin typeface="+mn-ea"/>
            </a:endParaRPr>
          </a:p>
        </p:txBody>
      </p:sp>
      <p:pic>
        <p:nvPicPr>
          <p:cNvPr id="91" name="Image 2" descr="preencoded.png">
            <a:extLst>
              <a:ext uri="{FF2B5EF4-FFF2-40B4-BE49-F238E27FC236}">
                <a16:creationId xmlns:a16="http://schemas.microsoft.com/office/drawing/2014/main" id="{BA5BBE97-43C4-956E-E0DC-9458FE9F641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97" b="-97"/>
          <a:stretch/>
        </p:blipFill>
        <p:spPr>
          <a:xfrm>
            <a:off x="576196" y="1737292"/>
            <a:ext cx="571500" cy="48463"/>
          </a:xfrm>
          <a:prstGeom prst="rect">
            <a:avLst/>
          </a:prstGeom>
        </p:spPr>
      </p:pic>
      <p:pic>
        <p:nvPicPr>
          <p:cNvPr id="93" name="그림 92"/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622784" y="2753761"/>
            <a:ext cx="5328000" cy="3348000"/>
          </a:xfrm>
          <a:prstGeom prst="rect">
            <a:avLst/>
          </a:prstGeom>
        </p:spPr>
      </p:pic>
      <p:sp>
        <p:nvSpPr>
          <p:cNvPr id="44" name="Shape 58">
            <a:extLst>
              <a:ext uri="{FF2B5EF4-FFF2-40B4-BE49-F238E27FC236}">
                <a16:creationId xmlns:a16="http://schemas.microsoft.com/office/drawing/2014/main" id="{9BDB5409-666A-A91A-836C-D29BAF9FD682}"/>
              </a:ext>
            </a:extLst>
          </p:cNvPr>
          <p:cNvSpPr/>
          <p:nvPr/>
        </p:nvSpPr>
        <p:spPr>
          <a:xfrm>
            <a:off x="304360" y="7016095"/>
            <a:ext cx="10082255" cy="91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45" name="Text 59">
            <a:extLst>
              <a:ext uri="{FF2B5EF4-FFF2-40B4-BE49-F238E27FC236}">
                <a16:creationId xmlns:a16="http://schemas.microsoft.com/office/drawing/2014/main" id="{57218126-1D78-26B6-A74B-F6E6EF4DA2DB}"/>
              </a:ext>
            </a:extLst>
          </p:cNvPr>
          <p:cNvSpPr txBox="1"/>
          <p:nvPr/>
        </p:nvSpPr>
        <p:spPr>
          <a:xfrm>
            <a:off x="10256829" y="7102012"/>
            <a:ext cx="210218" cy="15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9CA3AF"/>
                </a:solidFill>
                <a:latin typeface="+mn-ea"/>
              </a:rPr>
              <a:t>43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707310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" y="1"/>
            <a:ext cx="10696412" cy="756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215486" y="7058690"/>
            <a:ext cx="2406753" cy="189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9" dirty="0">
                <a:solidFill>
                  <a:srgbClr val="475569"/>
                </a:solidFill>
                <a:latin typeface="+mn-ea"/>
                <a:cs typeface="Noto Sans KR" pitchFamily="34" charset="-120"/>
              </a:rPr>
              <a:t>© 2026 BCT ONE Inc. All Rights Reserved.</a:t>
            </a:r>
            <a:endParaRPr lang="en-US" sz="900" dirty="0">
              <a:latin typeface="+mn-e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4832133" y="1779513"/>
            <a:ext cx="1200000" cy="37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kern="0" spc="-19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GrowFit</a:t>
            </a:r>
            <a:endParaRPr lang="en-US" dirty="0">
              <a:latin typeface="+mn-e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078653" y="2413067"/>
            <a:ext cx="2548752" cy="610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599" b="1" kern="0" spc="-72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감사합니다</a:t>
            </a:r>
            <a:endParaRPr lang="en-US" sz="3599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088277" y="3185487"/>
            <a:ext cx="2521475" cy="25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+mn-ea"/>
                <a:cs typeface="Noto Sans KR" pitchFamily="34" charset="-120"/>
              </a:rPr>
              <a:t>성공적인 AI 교육 운영을 응원합니다.</a:t>
            </a:r>
            <a:endParaRPr lang="en-US" sz="1200" dirty="0">
              <a:latin typeface="+mn-e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841579" y="4067823"/>
            <a:ext cx="5014070" cy="100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4000024" y="4498404"/>
            <a:ext cx="2699575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kern="0" spc="52" dirty="0">
                <a:solidFill>
                  <a:srgbClr val="818CF8"/>
                </a:solidFill>
                <a:latin typeface="+mn-ea"/>
                <a:cs typeface="Noto Sans KR" pitchFamily="34" charset="-120"/>
              </a:rPr>
              <a:t>문의처 : BCT ONE Inc. GrowFit 운영팀</a:t>
            </a:r>
            <a:endParaRPr lang="en-US" sz="1000" dirty="0">
              <a:latin typeface="+mn-ea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02998" y="5013695"/>
            <a:ext cx="166868" cy="209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03517" y="5349479"/>
            <a:ext cx="368234" cy="189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E-mail</a:t>
            </a:r>
            <a:endParaRPr lang="en-US" sz="900" dirty="0">
              <a:latin typeface="+mn-ea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3400000" y="5622752"/>
            <a:ext cx="1800000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E2E8F0"/>
                </a:solidFill>
                <a:latin typeface="+mn-ea"/>
                <a:cs typeface="Noto Sans KR" pitchFamily="34" charset="-120"/>
              </a:rPr>
              <a:t>ehdgml53@bctone.kr</a:t>
            </a:r>
            <a:endParaRPr lang="en-US" sz="1000" dirty="0">
              <a:latin typeface="+mn-ea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2127" b="-2127"/>
          <a:stretch/>
        </p:blipFill>
        <p:spPr>
          <a:xfrm>
            <a:off x="5393533" y="5013688"/>
            <a:ext cx="8023" cy="420499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75494" y="5013695"/>
            <a:ext cx="166868" cy="209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032133" y="5349479"/>
            <a:ext cx="856002" cy="189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Platform Portal</a:t>
            </a:r>
            <a:endParaRPr lang="en-US" sz="900" dirty="0">
              <a:latin typeface="+mn-ea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5584264" y="5622752"/>
            <a:ext cx="1800000" cy="22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 smtClean="0">
                <a:solidFill>
                  <a:srgbClr val="E2E8F0"/>
                </a:solidFill>
                <a:latin typeface="+mn-ea"/>
                <a:cs typeface="Noto Sans KR" pitchFamily="34" charset="-120"/>
              </a:rPr>
              <a:t>growfit.kr</a:t>
            </a:r>
            <a:endParaRPr lang="en-US" sz="1000" dirty="0">
              <a:latin typeface="+mn-ea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25406" y="1809065"/>
            <a:ext cx="304495" cy="304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802</TotalTime>
  <Words>4795</Words>
  <Application>Microsoft Office PowerPoint</Application>
  <PresentationFormat>사용자 지정</PresentationFormat>
  <Paragraphs>1067</Paragraphs>
  <Slides>44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2" baseType="lpstr">
      <vt:lpstr>Noto Sans KR</vt:lpstr>
      <vt:lpstr>ui-monospace</vt:lpstr>
      <vt:lpstr>ui-sans-serif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김동희</cp:lastModifiedBy>
  <cp:revision>24</cp:revision>
  <dcterms:created xsi:type="dcterms:W3CDTF">2026-03-09T06:33:23Z</dcterms:created>
  <dcterms:modified xsi:type="dcterms:W3CDTF">2026-03-11T14:30:30Z</dcterms:modified>
</cp:coreProperties>
</file>